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56" r:id="rId2"/>
    <p:sldId id="426" r:id="rId3"/>
    <p:sldId id="435" r:id="rId4"/>
    <p:sldId id="436" r:id="rId5"/>
    <p:sldId id="437" r:id="rId6"/>
    <p:sldId id="438" r:id="rId7"/>
    <p:sldId id="4675" r:id="rId8"/>
    <p:sldId id="4683" r:id="rId9"/>
    <p:sldId id="4684" r:id="rId10"/>
    <p:sldId id="4685" r:id="rId11"/>
    <p:sldId id="4686" r:id="rId12"/>
    <p:sldId id="4687" r:id="rId13"/>
    <p:sldId id="4688" r:id="rId14"/>
    <p:sldId id="4689" r:id="rId15"/>
    <p:sldId id="439" r:id="rId16"/>
    <p:sldId id="407" r:id="rId17"/>
    <p:sldId id="440" r:id="rId18"/>
    <p:sldId id="441" r:id="rId19"/>
    <p:sldId id="415" r:id="rId20"/>
    <p:sldId id="427" r:id="rId21"/>
  </p:sldIdLst>
  <p:sldSz cx="18288000" cy="10287000"/>
  <p:notesSz cx="6858000" cy="9144000"/>
  <p:embeddedFontLst>
    <p:embeddedFont>
      <p:font typeface="Avenir Next LT Pro" panose="020B0504020202020204" pitchFamily="34" charset="0"/>
      <p:regular r:id="rId23"/>
      <p:bold r:id="rId24"/>
      <p:italic r:id="rId25"/>
      <p:boldItalic r:id="rId26"/>
    </p:embeddedFont>
    <p:embeddedFont>
      <p:font typeface="Century Gothic" panose="020B0502020202020204" pitchFamily="34" charset="0"/>
      <p:regular r:id="rId27"/>
      <p:bold r:id="rId28"/>
      <p:italic r:id="rId29"/>
      <p:boldItalic r:id="rId30"/>
    </p:embeddedFont>
    <p:embeddedFont>
      <p:font typeface="Sabon Next LT" panose="02000500000000000000" pitchFamily="2" charset="0"/>
      <p:regular r:id="rId31"/>
      <p:bold r:id="rId32"/>
      <p:italic r:id="rId33"/>
      <p:bold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7684158-E8C8-9BE0-21EB-718D906F94A5}" name="George Mount" initials="GM" userId="S::george@stringfestanalytics.com::22d0b802-afc6-4b8f-ba57-7a855d9692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eorge Mount" initials="GM" lastIdx="9" clrIdx="0">
    <p:extLst>
      <p:ext uri="{19B8F6BF-5375-455C-9EA6-DF929625EA0E}">
        <p15:presenceInfo xmlns:p15="http://schemas.microsoft.com/office/powerpoint/2012/main" userId="57d2ab2a84d54c8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F3338"/>
    <a:srgbClr val="3D39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B3175A-E732-443C-B9E3-868C12CA9A19}" v="40" dt="2025-12-23T18:08:28.2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2" autoAdjust="0"/>
    <p:restoredTop sz="78463" autoAdjust="0"/>
  </p:normalViewPr>
  <p:slideViewPr>
    <p:cSldViewPr>
      <p:cViewPr varScale="1">
        <p:scale>
          <a:sx n="38" d="100"/>
          <a:sy n="38" d="100"/>
        </p:scale>
        <p:origin x="485" y="35"/>
      </p:cViewPr>
      <p:guideLst>
        <p:guide orient="horz" pos="2160"/>
        <p:guide pos="2880"/>
      </p:guideLst>
    </p:cSldViewPr>
  </p:slideViewPr>
  <p:outlineViewPr>
    <p:cViewPr>
      <p:scale>
        <a:sx n="33" d="100"/>
        <a:sy n="33" d="100"/>
      </p:scale>
      <p:origin x="0" y="0"/>
    </p:cViewPr>
  </p:outlin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12.fntdata"/><Relationship Id="rId42"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e Mount" userId="22d0b802-afc6-4b8f-ba57-7a855d96927f" providerId="ADAL" clId="{F0CB5FCE-7CF8-4FA6-9065-772A4CECA37B}"/>
    <pc:docChg chg="custSel addSld delSld modSld">
      <pc:chgData name="George Mount" userId="22d0b802-afc6-4b8f-ba57-7a855d96927f" providerId="ADAL" clId="{F0CB5FCE-7CF8-4FA6-9065-772A4CECA37B}" dt="2025-12-23T18:08:37.892" v="441" actId="404"/>
      <pc:docMkLst>
        <pc:docMk/>
      </pc:docMkLst>
      <pc:sldChg chg="modSp mod">
        <pc:chgData name="George Mount" userId="22d0b802-afc6-4b8f-ba57-7a855d96927f" providerId="ADAL" clId="{F0CB5FCE-7CF8-4FA6-9065-772A4CECA37B}" dt="2025-12-23T17:46:47.815" v="41" actId="20577"/>
        <pc:sldMkLst>
          <pc:docMk/>
          <pc:sldMk cId="355659117" sldId="256"/>
        </pc:sldMkLst>
        <pc:spChg chg="mod">
          <ac:chgData name="George Mount" userId="22d0b802-afc6-4b8f-ba57-7a855d96927f" providerId="ADAL" clId="{F0CB5FCE-7CF8-4FA6-9065-772A4CECA37B}" dt="2025-12-23T17:46:47.815" v="41" actId="20577"/>
          <ac:spMkLst>
            <pc:docMk/>
            <pc:sldMk cId="355659117" sldId="256"/>
            <ac:spMk id="11" creationId="{00000000-0000-0000-0000-000000000000}"/>
          </ac:spMkLst>
        </pc:spChg>
      </pc:sldChg>
      <pc:sldChg chg="modSp mod">
        <pc:chgData name="George Mount" userId="22d0b802-afc6-4b8f-ba57-7a855d96927f" providerId="ADAL" clId="{F0CB5FCE-7CF8-4FA6-9065-772A4CECA37B}" dt="2025-12-23T18:07:16.553" v="357" actId="207"/>
        <pc:sldMkLst>
          <pc:docMk/>
          <pc:sldMk cId="3871531779" sldId="407"/>
        </pc:sldMkLst>
        <pc:spChg chg="mod">
          <ac:chgData name="George Mount" userId="22d0b802-afc6-4b8f-ba57-7a855d96927f" providerId="ADAL" clId="{F0CB5FCE-7CF8-4FA6-9065-772A4CECA37B}" dt="2025-12-23T18:07:16.553" v="357" actId="207"/>
          <ac:spMkLst>
            <pc:docMk/>
            <pc:sldMk cId="3871531779" sldId="407"/>
            <ac:spMk id="3" creationId="{00000000-0000-0000-0000-000000000000}"/>
          </ac:spMkLst>
        </pc:spChg>
      </pc:sldChg>
      <pc:sldChg chg="del">
        <pc:chgData name="George Mount" userId="22d0b802-afc6-4b8f-ba57-7a855d96927f" providerId="ADAL" clId="{F0CB5FCE-7CF8-4FA6-9065-772A4CECA37B}" dt="2025-12-23T17:46:57.461" v="42" actId="47"/>
        <pc:sldMkLst>
          <pc:docMk/>
          <pc:sldMk cId="1872901171" sldId="425"/>
        </pc:sldMkLst>
      </pc:sldChg>
      <pc:sldChg chg="modSp mod">
        <pc:chgData name="George Mount" userId="22d0b802-afc6-4b8f-ba57-7a855d96927f" providerId="ADAL" clId="{F0CB5FCE-7CF8-4FA6-9065-772A4CECA37B}" dt="2025-12-23T17:47:11.753" v="49" actId="20577"/>
        <pc:sldMkLst>
          <pc:docMk/>
          <pc:sldMk cId="787076388" sldId="426"/>
        </pc:sldMkLst>
        <pc:spChg chg="mod">
          <ac:chgData name="George Mount" userId="22d0b802-afc6-4b8f-ba57-7a855d96927f" providerId="ADAL" clId="{F0CB5FCE-7CF8-4FA6-9065-772A4CECA37B}" dt="2025-12-23T17:47:08.694" v="43"/>
          <ac:spMkLst>
            <pc:docMk/>
            <pc:sldMk cId="787076388" sldId="426"/>
            <ac:spMk id="3" creationId="{00000000-0000-0000-0000-000000000000}"/>
          </ac:spMkLst>
        </pc:spChg>
        <pc:spChg chg="mod">
          <ac:chgData name="George Mount" userId="22d0b802-afc6-4b8f-ba57-7a855d96927f" providerId="ADAL" clId="{F0CB5FCE-7CF8-4FA6-9065-772A4CECA37B}" dt="2025-12-23T17:47:11.753" v="49" actId="20577"/>
          <ac:spMkLst>
            <pc:docMk/>
            <pc:sldMk cId="787076388" sldId="426"/>
            <ac:spMk id="11" creationId="{00000000-0000-0000-0000-000000000000}"/>
          </ac:spMkLst>
        </pc:spChg>
      </pc:sldChg>
      <pc:sldChg chg="del">
        <pc:chgData name="George Mount" userId="22d0b802-afc6-4b8f-ba57-7a855d96927f" providerId="ADAL" clId="{F0CB5FCE-7CF8-4FA6-9065-772A4CECA37B}" dt="2025-12-23T18:07:33.728" v="358" actId="47"/>
        <pc:sldMkLst>
          <pc:docMk/>
          <pc:sldMk cId="1679221718" sldId="428"/>
        </pc:sldMkLst>
      </pc:sldChg>
      <pc:sldChg chg="del">
        <pc:chgData name="George Mount" userId="22d0b802-afc6-4b8f-ba57-7a855d96927f" providerId="ADAL" clId="{F0CB5FCE-7CF8-4FA6-9065-772A4CECA37B}" dt="2025-12-23T18:07:34.689" v="359" actId="47"/>
        <pc:sldMkLst>
          <pc:docMk/>
          <pc:sldMk cId="445953425" sldId="434"/>
        </pc:sldMkLst>
      </pc:sldChg>
      <pc:sldChg chg="addSp modSp add mod">
        <pc:chgData name="George Mount" userId="22d0b802-afc6-4b8f-ba57-7a855d96927f" providerId="ADAL" clId="{F0CB5FCE-7CF8-4FA6-9065-772A4CECA37B}" dt="2025-12-23T18:01:30.354" v="118" actId="1076"/>
        <pc:sldMkLst>
          <pc:docMk/>
          <pc:sldMk cId="1666574771" sldId="435"/>
        </pc:sldMkLst>
        <pc:spChg chg="mod">
          <ac:chgData name="George Mount" userId="22d0b802-afc6-4b8f-ba57-7a855d96927f" providerId="ADAL" clId="{F0CB5FCE-7CF8-4FA6-9065-772A4CECA37B}" dt="2025-12-23T17:57:22.219" v="109" actId="404"/>
          <ac:spMkLst>
            <pc:docMk/>
            <pc:sldMk cId="1666574771" sldId="435"/>
            <ac:spMk id="11" creationId="{97EB3963-7B31-1FA9-D509-4E12DFCB794D}"/>
          </ac:spMkLst>
        </pc:spChg>
        <pc:picChg chg="add mod">
          <ac:chgData name="George Mount" userId="22d0b802-afc6-4b8f-ba57-7a855d96927f" providerId="ADAL" clId="{F0CB5FCE-7CF8-4FA6-9065-772A4CECA37B}" dt="2025-12-23T17:57:28.142" v="112" actId="1076"/>
          <ac:picMkLst>
            <pc:docMk/>
            <pc:sldMk cId="1666574771" sldId="435"/>
            <ac:picMk id="2" creationId="{3A5ADEDE-F420-CC09-AAFF-3E0788B7CB36}"/>
          </ac:picMkLst>
        </pc:picChg>
        <pc:picChg chg="add mod">
          <ac:chgData name="George Mount" userId="22d0b802-afc6-4b8f-ba57-7a855d96927f" providerId="ADAL" clId="{F0CB5FCE-7CF8-4FA6-9065-772A4CECA37B}" dt="2025-12-23T18:01:30.354" v="118" actId="1076"/>
          <ac:picMkLst>
            <pc:docMk/>
            <pc:sldMk cId="1666574771" sldId="435"/>
            <ac:picMk id="4" creationId="{1CD830A2-777E-652C-E424-F0929EDD375F}"/>
          </ac:picMkLst>
        </pc:picChg>
      </pc:sldChg>
      <pc:sldChg chg="addSp delSp modSp add mod">
        <pc:chgData name="George Mount" userId="22d0b802-afc6-4b8f-ba57-7a855d96927f" providerId="ADAL" clId="{F0CB5FCE-7CF8-4FA6-9065-772A4CECA37B}" dt="2025-12-23T18:02:22.542" v="156" actId="1076"/>
        <pc:sldMkLst>
          <pc:docMk/>
          <pc:sldMk cId="809145610" sldId="436"/>
        </pc:sldMkLst>
        <pc:spChg chg="del">
          <ac:chgData name="George Mount" userId="22d0b802-afc6-4b8f-ba57-7a855d96927f" providerId="ADAL" clId="{F0CB5FCE-7CF8-4FA6-9065-772A4CECA37B}" dt="2025-12-23T18:02:18.128" v="152" actId="478"/>
          <ac:spMkLst>
            <pc:docMk/>
            <pc:sldMk cId="809145610" sldId="436"/>
            <ac:spMk id="3" creationId="{4A5099CB-C7E9-3B39-C340-F541298B52BD}"/>
          </ac:spMkLst>
        </pc:spChg>
        <pc:spChg chg="mod">
          <ac:chgData name="George Mount" userId="22d0b802-afc6-4b8f-ba57-7a855d96927f" providerId="ADAL" clId="{F0CB5FCE-7CF8-4FA6-9065-772A4CECA37B}" dt="2025-12-23T18:01:42.816" v="149" actId="20577"/>
          <ac:spMkLst>
            <pc:docMk/>
            <pc:sldMk cId="809145610" sldId="436"/>
            <ac:spMk id="11" creationId="{668E35D0-020D-7C4C-6111-D28C836DA3D5}"/>
          </ac:spMkLst>
        </pc:spChg>
        <pc:picChg chg="del">
          <ac:chgData name="George Mount" userId="22d0b802-afc6-4b8f-ba57-7a855d96927f" providerId="ADAL" clId="{F0CB5FCE-7CF8-4FA6-9065-772A4CECA37B}" dt="2025-12-23T18:01:45.689" v="151" actId="478"/>
          <ac:picMkLst>
            <pc:docMk/>
            <pc:sldMk cId="809145610" sldId="436"/>
            <ac:picMk id="2" creationId="{8D8D780A-7D6A-EAA6-8B16-85234B5F3B80}"/>
          </ac:picMkLst>
        </pc:picChg>
        <pc:picChg chg="del">
          <ac:chgData name="George Mount" userId="22d0b802-afc6-4b8f-ba57-7a855d96927f" providerId="ADAL" clId="{F0CB5FCE-7CF8-4FA6-9065-772A4CECA37B}" dt="2025-12-23T18:01:44.837" v="150" actId="478"/>
          <ac:picMkLst>
            <pc:docMk/>
            <pc:sldMk cId="809145610" sldId="436"/>
            <ac:picMk id="4" creationId="{FB3393BA-FC37-73B7-E864-3F76544C20A8}"/>
          </ac:picMkLst>
        </pc:picChg>
        <pc:picChg chg="add mod">
          <ac:chgData name="George Mount" userId="22d0b802-afc6-4b8f-ba57-7a855d96927f" providerId="ADAL" clId="{F0CB5FCE-7CF8-4FA6-9065-772A4CECA37B}" dt="2025-12-23T18:02:22.542" v="156" actId="1076"/>
          <ac:picMkLst>
            <pc:docMk/>
            <pc:sldMk cId="809145610" sldId="436"/>
            <ac:picMk id="5" creationId="{4613A412-C0BF-36B9-0B84-8CA1FD793894}"/>
          </ac:picMkLst>
        </pc:picChg>
      </pc:sldChg>
      <pc:sldChg chg="add del">
        <pc:chgData name="George Mount" userId="22d0b802-afc6-4b8f-ba57-7a855d96927f" providerId="ADAL" clId="{F0CB5FCE-7CF8-4FA6-9065-772A4CECA37B}" dt="2025-12-23T17:56:39.553" v="52" actId="47"/>
        <pc:sldMkLst>
          <pc:docMk/>
          <pc:sldMk cId="2030039483" sldId="436"/>
        </pc:sldMkLst>
      </pc:sldChg>
      <pc:sldChg chg="add del">
        <pc:chgData name="George Mount" userId="22d0b802-afc6-4b8f-ba57-7a855d96927f" providerId="ADAL" clId="{F0CB5FCE-7CF8-4FA6-9065-772A4CECA37B}" dt="2025-12-23T18:02:30.225" v="158" actId="47"/>
        <pc:sldMkLst>
          <pc:docMk/>
          <pc:sldMk cId="3306760755" sldId="437"/>
        </pc:sldMkLst>
      </pc:sldChg>
      <pc:sldChg chg="modSp add mod">
        <pc:chgData name="George Mount" userId="22d0b802-afc6-4b8f-ba57-7a855d96927f" providerId="ADAL" clId="{F0CB5FCE-7CF8-4FA6-9065-772A4CECA37B}" dt="2025-12-23T18:03:29.765" v="230" actId="403"/>
        <pc:sldMkLst>
          <pc:docMk/>
          <pc:sldMk cId="3810609810" sldId="437"/>
        </pc:sldMkLst>
        <pc:spChg chg="mod">
          <ac:chgData name="George Mount" userId="22d0b802-afc6-4b8f-ba57-7a855d96927f" providerId="ADAL" clId="{F0CB5FCE-7CF8-4FA6-9065-772A4CECA37B}" dt="2025-12-23T18:03:29.765" v="230" actId="403"/>
          <ac:spMkLst>
            <pc:docMk/>
            <pc:sldMk cId="3810609810" sldId="437"/>
            <ac:spMk id="3" creationId="{AF4EAA44-47AD-6B16-F0FC-1A4118C515A0}"/>
          </ac:spMkLst>
        </pc:spChg>
        <pc:spChg chg="mod">
          <ac:chgData name="George Mount" userId="22d0b802-afc6-4b8f-ba57-7a855d96927f" providerId="ADAL" clId="{F0CB5FCE-7CF8-4FA6-9065-772A4CECA37B}" dt="2025-12-23T18:02:48.666" v="208" actId="14100"/>
          <ac:spMkLst>
            <pc:docMk/>
            <pc:sldMk cId="3810609810" sldId="437"/>
            <ac:spMk id="11" creationId="{DCCC9DDB-8619-8424-D922-E6CF43B58635}"/>
          </ac:spMkLst>
        </pc:spChg>
      </pc:sldChg>
      <pc:sldChg chg="addSp delSp modSp add mod">
        <pc:chgData name="George Mount" userId="22d0b802-afc6-4b8f-ba57-7a855d96927f" providerId="ADAL" clId="{F0CB5FCE-7CF8-4FA6-9065-772A4CECA37B}" dt="2025-12-23T18:05:03.410" v="288" actId="14100"/>
        <pc:sldMkLst>
          <pc:docMk/>
          <pc:sldMk cId="2080782528" sldId="438"/>
        </pc:sldMkLst>
        <pc:spChg chg="del">
          <ac:chgData name="George Mount" userId="22d0b802-afc6-4b8f-ba57-7a855d96927f" providerId="ADAL" clId="{F0CB5FCE-7CF8-4FA6-9065-772A4CECA37B}" dt="2025-12-23T18:04:25.130" v="277" actId="478"/>
          <ac:spMkLst>
            <pc:docMk/>
            <pc:sldMk cId="2080782528" sldId="438"/>
            <ac:spMk id="3" creationId="{E6A1C45E-0782-CB4D-F73E-553168C8E24A}"/>
          </ac:spMkLst>
        </pc:spChg>
        <pc:spChg chg="mod">
          <ac:chgData name="George Mount" userId="22d0b802-afc6-4b8f-ba57-7a855d96927f" providerId="ADAL" clId="{F0CB5FCE-7CF8-4FA6-9065-772A4CECA37B}" dt="2025-12-23T18:04:15.598" v="274" actId="20577"/>
          <ac:spMkLst>
            <pc:docMk/>
            <pc:sldMk cId="2080782528" sldId="438"/>
            <ac:spMk id="11" creationId="{16F328D8-003D-E872-C041-75D1DDB8E5A9}"/>
          </ac:spMkLst>
        </pc:spChg>
        <pc:graphicFrameChg chg="add mod">
          <ac:chgData name="George Mount" userId="22d0b802-afc6-4b8f-ba57-7a855d96927f" providerId="ADAL" clId="{F0CB5FCE-7CF8-4FA6-9065-772A4CECA37B}" dt="2025-12-23T18:05:03.410" v="288" actId="14100"/>
          <ac:graphicFrameMkLst>
            <pc:docMk/>
            <pc:sldMk cId="2080782528" sldId="438"/>
            <ac:graphicFrameMk id="5" creationId="{092E9CA5-1C06-3CCA-B46E-D4BEE7105B2E}"/>
          </ac:graphicFrameMkLst>
        </pc:graphicFrameChg>
        <pc:picChg chg="del">
          <ac:chgData name="George Mount" userId="22d0b802-afc6-4b8f-ba57-7a855d96927f" providerId="ADAL" clId="{F0CB5FCE-7CF8-4FA6-9065-772A4CECA37B}" dt="2025-12-23T18:04:22.898" v="276" actId="478"/>
          <ac:picMkLst>
            <pc:docMk/>
            <pc:sldMk cId="2080782528" sldId="438"/>
            <ac:picMk id="2" creationId="{93789D90-27E6-BB03-2A5D-CF0C1B3721CE}"/>
          </ac:picMkLst>
        </pc:picChg>
        <pc:picChg chg="del">
          <ac:chgData name="George Mount" userId="22d0b802-afc6-4b8f-ba57-7a855d96927f" providerId="ADAL" clId="{F0CB5FCE-7CF8-4FA6-9065-772A4CECA37B}" dt="2025-12-23T18:04:21.561" v="275" actId="478"/>
          <ac:picMkLst>
            <pc:docMk/>
            <pc:sldMk cId="2080782528" sldId="438"/>
            <ac:picMk id="4" creationId="{F4475AF5-D810-B45A-8852-AA0E2C8663B9}"/>
          </ac:picMkLst>
        </pc:picChg>
      </pc:sldChg>
      <pc:sldChg chg="modSp add mod">
        <pc:chgData name="George Mount" userId="22d0b802-afc6-4b8f-ba57-7a855d96927f" providerId="ADAL" clId="{F0CB5FCE-7CF8-4FA6-9065-772A4CECA37B}" dt="2025-12-23T18:05:42.155" v="322" actId="1076"/>
        <pc:sldMkLst>
          <pc:docMk/>
          <pc:sldMk cId="287064224" sldId="439"/>
        </pc:sldMkLst>
        <pc:spChg chg="mod">
          <ac:chgData name="George Mount" userId="22d0b802-afc6-4b8f-ba57-7a855d96927f" providerId="ADAL" clId="{F0CB5FCE-7CF8-4FA6-9065-772A4CECA37B}" dt="2025-12-23T18:05:42.155" v="322" actId="1076"/>
          <ac:spMkLst>
            <pc:docMk/>
            <pc:sldMk cId="287064224" sldId="439"/>
            <ac:spMk id="3" creationId="{026D6505-3055-1BDA-D17C-F3E9A26B84D7}"/>
          </ac:spMkLst>
        </pc:spChg>
        <pc:spChg chg="mod">
          <ac:chgData name="George Mount" userId="22d0b802-afc6-4b8f-ba57-7a855d96927f" providerId="ADAL" clId="{F0CB5FCE-7CF8-4FA6-9065-772A4CECA37B}" dt="2025-12-23T18:05:19.762" v="316" actId="20577"/>
          <ac:spMkLst>
            <pc:docMk/>
            <pc:sldMk cId="287064224" sldId="439"/>
            <ac:spMk id="11" creationId="{5BD1FE43-F84A-91B2-5168-01404951430D}"/>
          </ac:spMkLst>
        </pc:spChg>
      </pc:sldChg>
      <pc:sldChg chg="modSp add mod">
        <pc:chgData name="George Mount" userId="22d0b802-afc6-4b8f-ba57-7a855d96927f" providerId="ADAL" clId="{F0CB5FCE-7CF8-4FA6-9065-772A4CECA37B}" dt="2025-12-23T18:08:00.904" v="388" actId="12"/>
        <pc:sldMkLst>
          <pc:docMk/>
          <pc:sldMk cId="2527174841" sldId="440"/>
        </pc:sldMkLst>
        <pc:spChg chg="mod">
          <ac:chgData name="George Mount" userId="22d0b802-afc6-4b8f-ba57-7a855d96927f" providerId="ADAL" clId="{F0CB5FCE-7CF8-4FA6-9065-772A4CECA37B}" dt="2025-12-23T18:08:00.904" v="388" actId="12"/>
          <ac:spMkLst>
            <pc:docMk/>
            <pc:sldMk cId="2527174841" sldId="440"/>
            <ac:spMk id="3" creationId="{9712491D-60F5-6831-44A7-9D86FC282C0C}"/>
          </ac:spMkLst>
        </pc:spChg>
      </pc:sldChg>
      <pc:sldChg chg="modSp add mod">
        <pc:chgData name="George Mount" userId="22d0b802-afc6-4b8f-ba57-7a855d96927f" providerId="ADAL" clId="{F0CB5FCE-7CF8-4FA6-9065-772A4CECA37B}" dt="2025-12-23T18:08:37.892" v="441" actId="404"/>
        <pc:sldMkLst>
          <pc:docMk/>
          <pc:sldMk cId="2024063702" sldId="441"/>
        </pc:sldMkLst>
        <pc:spChg chg="mod">
          <ac:chgData name="George Mount" userId="22d0b802-afc6-4b8f-ba57-7a855d96927f" providerId="ADAL" clId="{F0CB5FCE-7CF8-4FA6-9065-772A4CECA37B}" dt="2025-12-23T18:08:22.746" v="391" actId="12"/>
          <ac:spMkLst>
            <pc:docMk/>
            <pc:sldMk cId="2024063702" sldId="441"/>
            <ac:spMk id="3" creationId="{1544D881-799F-2398-E268-C00B992D571F}"/>
          </ac:spMkLst>
        </pc:spChg>
        <pc:spChg chg="mod">
          <ac:chgData name="George Mount" userId="22d0b802-afc6-4b8f-ba57-7a855d96927f" providerId="ADAL" clId="{F0CB5FCE-7CF8-4FA6-9065-772A4CECA37B}" dt="2025-12-23T18:08:37.892" v="441" actId="404"/>
          <ac:spMkLst>
            <pc:docMk/>
            <pc:sldMk cId="2024063702" sldId="441"/>
            <ac:spMk id="11" creationId="{DB22CC31-F017-7D94-3505-D0C3CB89C9C2}"/>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F5ABB2-8E49-4018-A847-30F24C0E05D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9F87F5A4-A480-46D4-B670-AE6ABF101EAF}">
      <dgm:prSet phldrT="[Text]"/>
      <dgm:spPr>
        <a:solidFill>
          <a:schemeClr val="bg1">
            <a:lumMod val="50000"/>
          </a:schemeClr>
        </a:solidFill>
      </dgm:spPr>
      <dgm:t>
        <a:bodyPr/>
        <a:lstStyle/>
        <a:p>
          <a:pPr>
            <a:buNone/>
          </a:pPr>
          <a:r>
            <a:rPr lang="en-US" b="1" dirty="0"/>
            <a:t>Goal</a:t>
          </a:r>
          <a:endParaRPr lang="en-US" dirty="0"/>
        </a:p>
      </dgm:t>
    </dgm:pt>
    <dgm:pt modelId="{F5F217E3-0567-4851-B847-759B189BBD81}" type="parTrans" cxnId="{58017E80-EE26-415D-9D6E-C92687DD12C5}">
      <dgm:prSet/>
      <dgm:spPr/>
      <dgm:t>
        <a:bodyPr/>
        <a:lstStyle/>
        <a:p>
          <a:endParaRPr lang="en-US"/>
        </a:p>
      </dgm:t>
    </dgm:pt>
    <dgm:pt modelId="{BF60E87F-309A-43E4-843A-33950BB5B014}" type="sibTrans" cxnId="{58017E80-EE26-415D-9D6E-C92687DD12C5}">
      <dgm:prSet/>
      <dgm:spPr/>
      <dgm:t>
        <a:bodyPr/>
        <a:lstStyle/>
        <a:p>
          <a:endParaRPr lang="en-US"/>
        </a:p>
      </dgm:t>
    </dgm:pt>
    <dgm:pt modelId="{492E2906-74B4-4BCB-8DB1-62F69A368761}">
      <dgm:prSet phldrT="[Text]"/>
      <dgm:spPr>
        <a:solidFill>
          <a:schemeClr val="bg1">
            <a:lumMod val="50000"/>
          </a:schemeClr>
        </a:solidFill>
      </dgm:spPr>
      <dgm:t>
        <a:bodyPr/>
        <a:lstStyle/>
        <a:p>
          <a:pPr>
            <a:buNone/>
          </a:pPr>
          <a:r>
            <a:rPr lang="en-US" b="1" dirty="0"/>
            <a:t>Context</a:t>
          </a:r>
          <a:endParaRPr lang="en-US" dirty="0"/>
        </a:p>
      </dgm:t>
    </dgm:pt>
    <dgm:pt modelId="{79AB910B-246C-4830-9149-8616E615CD79}" type="parTrans" cxnId="{EAE3DD6B-E80F-48DF-B073-CAF8393B275E}">
      <dgm:prSet/>
      <dgm:spPr/>
      <dgm:t>
        <a:bodyPr/>
        <a:lstStyle/>
        <a:p>
          <a:endParaRPr lang="en-US"/>
        </a:p>
      </dgm:t>
    </dgm:pt>
    <dgm:pt modelId="{EEB1B1FC-8096-4B01-A58A-D2B8C343BA78}" type="sibTrans" cxnId="{EAE3DD6B-E80F-48DF-B073-CAF8393B275E}">
      <dgm:prSet/>
      <dgm:spPr/>
      <dgm:t>
        <a:bodyPr/>
        <a:lstStyle/>
        <a:p>
          <a:endParaRPr lang="en-US"/>
        </a:p>
      </dgm:t>
    </dgm:pt>
    <dgm:pt modelId="{0C09951A-4D71-4694-8D71-4A5773D5F8D3}">
      <dgm:prSet/>
      <dgm:spPr>
        <a:solidFill>
          <a:schemeClr val="bg1">
            <a:lumMod val="50000"/>
          </a:schemeClr>
        </a:solidFill>
      </dgm:spPr>
      <dgm:t>
        <a:bodyPr/>
        <a:lstStyle/>
        <a:p>
          <a:pPr>
            <a:buNone/>
          </a:pPr>
          <a:r>
            <a:rPr lang="en-US" dirty="0"/>
            <a:t>What do you want Copilot to do </a:t>
          </a:r>
          <a:r>
            <a:rPr lang="en-US" i="1" dirty="0"/>
            <a:t>in Excel</a:t>
          </a:r>
          <a:r>
            <a:rPr lang="en-US" dirty="0"/>
            <a:t>?</a:t>
          </a:r>
        </a:p>
      </dgm:t>
    </dgm:pt>
    <dgm:pt modelId="{07FBEBF1-8FD3-45E3-A9CC-C478580A5102}" type="parTrans" cxnId="{202E797B-8B98-454C-90B3-B552488466C3}">
      <dgm:prSet/>
      <dgm:spPr/>
      <dgm:t>
        <a:bodyPr/>
        <a:lstStyle/>
        <a:p>
          <a:endParaRPr lang="en-US"/>
        </a:p>
      </dgm:t>
    </dgm:pt>
    <dgm:pt modelId="{278DD9EE-3BB6-4633-9908-D649EE9F1C6A}" type="sibTrans" cxnId="{202E797B-8B98-454C-90B3-B552488466C3}">
      <dgm:prSet/>
      <dgm:spPr/>
      <dgm:t>
        <a:bodyPr/>
        <a:lstStyle/>
        <a:p>
          <a:endParaRPr lang="en-US"/>
        </a:p>
      </dgm:t>
    </dgm:pt>
    <dgm:pt modelId="{6A446B3A-021A-4CD6-AFFD-B41DBE0AC5D6}">
      <dgm:prSet/>
      <dgm:spPr>
        <a:solidFill>
          <a:schemeClr val="bg1">
            <a:lumMod val="50000"/>
          </a:schemeClr>
        </a:solidFill>
      </dgm:spPr>
      <dgm:t>
        <a:bodyPr/>
        <a:lstStyle/>
        <a:p>
          <a:pPr>
            <a:buNone/>
          </a:pPr>
          <a:r>
            <a:rPr lang="en-US" dirty="0"/>
            <a:t>“Check the formulas in the Profit column and tell me whether the logic is consistent.”</a:t>
          </a:r>
        </a:p>
      </dgm:t>
    </dgm:pt>
    <dgm:pt modelId="{251286B3-0407-4278-83BC-147843222ED0}" type="parTrans" cxnId="{1F13E092-8DCC-437A-80FC-27D5AD8E59A7}">
      <dgm:prSet/>
      <dgm:spPr/>
      <dgm:t>
        <a:bodyPr/>
        <a:lstStyle/>
        <a:p>
          <a:endParaRPr lang="en-US"/>
        </a:p>
      </dgm:t>
    </dgm:pt>
    <dgm:pt modelId="{41D28A70-4245-4192-9DE2-A3B6A6B05D84}" type="sibTrans" cxnId="{1F13E092-8DCC-437A-80FC-27D5AD8E59A7}">
      <dgm:prSet/>
      <dgm:spPr/>
      <dgm:t>
        <a:bodyPr/>
        <a:lstStyle/>
        <a:p>
          <a:endParaRPr lang="en-US"/>
        </a:p>
      </dgm:t>
    </dgm:pt>
    <dgm:pt modelId="{9B0944D4-52AF-4006-AEDB-07BD42E835D7}">
      <dgm:prSet/>
      <dgm:spPr>
        <a:solidFill>
          <a:schemeClr val="bg1">
            <a:lumMod val="50000"/>
          </a:schemeClr>
        </a:solidFill>
      </dgm:spPr>
      <dgm:t>
        <a:bodyPr/>
        <a:lstStyle/>
        <a:p>
          <a:pPr>
            <a:buNone/>
          </a:pPr>
          <a:r>
            <a:rPr lang="en-US" dirty="0"/>
            <a:t>What data, sheet, range, or calculation does this relate to?</a:t>
          </a:r>
        </a:p>
      </dgm:t>
    </dgm:pt>
    <dgm:pt modelId="{FC8B0C6C-8DF6-434E-BBEA-1B1E359A87C4}" type="parTrans" cxnId="{58D45157-403D-4EA8-953C-3D51F0999875}">
      <dgm:prSet/>
      <dgm:spPr/>
      <dgm:t>
        <a:bodyPr/>
        <a:lstStyle/>
        <a:p>
          <a:endParaRPr lang="en-US"/>
        </a:p>
      </dgm:t>
    </dgm:pt>
    <dgm:pt modelId="{1A370047-1862-45AA-A05A-D20D2A065B7A}" type="sibTrans" cxnId="{58D45157-403D-4EA8-953C-3D51F0999875}">
      <dgm:prSet/>
      <dgm:spPr/>
      <dgm:t>
        <a:bodyPr/>
        <a:lstStyle/>
        <a:p>
          <a:endParaRPr lang="en-US"/>
        </a:p>
      </dgm:t>
    </dgm:pt>
    <dgm:pt modelId="{F2EB1D20-381B-44B1-B6C0-0A816202FF99}">
      <dgm:prSet/>
      <dgm:spPr>
        <a:solidFill>
          <a:schemeClr val="bg1">
            <a:lumMod val="50000"/>
          </a:schemeClr>
        </a:solidFill>
      </dgm:spPr>
      <dgm:t>
        <a:bodyPr/>
        <a:lstStyle/>
        <a:p>
          <a:pPr>
            <a:buNone/>
          </a:pPr>
          <a:r>
            <a:rPr lang="en-US" dirty="0"/>
            <a:t>“The data is in Table </a:t>
          </a:r>
          <a:r>
            <a:rPr lang="en-US" dirty="0" err="1"/>
            <a:t>SalesData</a:t>
          </a:r>
          <a:r>
            <a:rPr lang="en-US" dirty="0"/>
            <a:t> on the sheet ‘Q2’. The Profit column uses a formula =Revenue–Cost.”</a:t>
          </a:r>
        </a:p>
      </dgm:t>
    </dgm:pt>
    <dgm:pt modelId="{18E5F0E2-B9CD-497F-B7E1-FB0ECEE4259D}" type="parTrans" cxnId="{29E031A3-3817-4D79-B5D4-832D05DB911B}">
      <dgm:prSet/>
      <dgm:spPr/>
      <dgm:t>
        <a:bodyPr/>
        <a:lstStyle/>
        <a:p>
          <a:endParaRPr lang="en-US"/>
        </a:p>
      </dgm:t>
    </dgm:pt>
    <dgm:pt modelId="{132109CD-56C5-40CF-BB8B-3E5D80A816FF}" type="sibTrans" cxnId="{29E031A3-3817-4D79-B5D4-832D05DB911B}">
      <dgm:prSet/>
      <dgm:spPr/>
      <dgm:t>
        <a:bodyPr/>
        <a:lstStyle/>
        <a:p>
          <a:endParaRPr lang="en-US"/>
        </a:p>
      </dgm:t>
    </dgm:pt>
    <dgm:pt modelId="{952F0C88-0795-4F8A-85F0-473D61B13FD7}">
      <dgm:prSet/>
      <dgm:spPr>
        <a:solidFill>
          <a:schemeClr val="bg1">
            <a:lumMod val="50000"/>
          </a:schemeClr>
        </a:solidFill>
      </dgm:spPr>
      <dgm:t>
        <a:bodyPr/>
        <a:lstStyle/>
        <a:p>
          <a:pPr>
            <a:buNone/>
          </a:pPr>
          <a:r>
            <a:rPr lang="en-US" b="1" dirty="0"/>
            <a:t>Expectations</a:t>
          </a:r>
        </a:p>
      </dgm:t>
    </dgm:pt>
    <dgm:pt modelId="{E1F22574-1647-44DF-9A18-03FC07463BBC}" type="parTrans" cxnId="{342F4B2C-23AB-4125-9486-830986ADF24D}">
      <dgm:prSet/>
      <dgm:spPr/>
      <dgm:t>
        <a:bodyPr/>
        <a:lstStyle/>
        <a:p>
          <a:endParaRPr lang="en-US"/>
        </a:p>
      </dgm:t>
    </dgm:pt>
    <dgm:pt modelId="{61274A37-A934-48B2-9927-C8D544152AFB}" type="sibTrans" cxnId="{342F4B2C-23AB-4125-9486-830986ADF24D}">
      <dgm:prSet/>
      <dgm:spPr/>
      <dgm:t>
        <a:bodyPr/>
        <a:lstStyle/>
        <a:p>
          <a:endParaRPr lang="en-US"/>
        </a:p>
      </dgm:t>
    </dgm:pt>
    <dgm:pt modelId="{851D5FE7-7D84-4E70-AC7B-26E647860055}">
      <dgm:prSet/>
      <dgm:spPr>
        <a:solidFill>
          <a:schemeClr val="bg1">
            <a:lumMod val="50000"/>
          </a:schemeClr>
        </a:solidFill>
      </dgm:spPr>
      <dgm:t>
        <a:bodyPr/>
        <a:lstStyle/>
        <a:p>
          <a:pPr>
            <a:buNone/>
          </a:pPr>
          <a:r>
            <a:rPr lang="en-US" dirty="0"/>
            <a:t>What format or audience should Copilot aim for?</a:t>
          </a:r>
        </a:p>
      </dgm:t>
    </dgm:pt>
    <dgm:pt modelId="{CE0DED91-28D3-4CDC-A7E7-E8804C0515EF}" type="parTrans" cxnId="{B451B403-FD31-4EA8-B9AB-97E5E5726A38}">
      <dgm:prSet/>
      <dgm:spPr/>
      <dgm:t>
        <a:bodyPr/>
        <a:lstStyle/>
        <a:p>
          <a:endParaRPr lang="en-US"/>
        </a:p>
      </dgm:t>
    </dgm:pt>
    <dgm:pt modelId="{6012E8C9-487F-44E1-9BAB-02E4FB018997}" type="sibTrans" cxnId="{B451B403-FD31-4EA8-B9AB-97E5E5726A38}">
      <dgm:prSet/>
      <dgm:spPr/>
      <dgm:t>
        <a:bodyPr/>
        <a:lstStyle/>
        <a:p>
          <a:endParaRPr lang="en-US"/>
        </a:p>
      </dgm:t>
    </dgm:pt>
    <dgm:pt modelId="{379BD61E-A81C-4311-81DC-43B79184EEF5}">
      <dgm:prSet/>
      <dgm:spPr>
        <a:solidFill>
          <a:schemeClr val="bg1">
            <a:lumMod val="50000"/>
          </a:schemeClr>
        </a:solidFill>
      </dgm:spPr>
      <dgm:t>
        <a:bodyPr/>
        <a:lstStyle/>
        <a:p>
          <a:pPr>
            <a:buNone/>
          </a:pPr>
          <a:r>
            <a:rPr lang="en-US" dirty="0"/>
            <a:t>“Give the results as a bullet list with specific row numbers and suggestions.”</a:t>
          </a:r>
        </a:p>
      </dgm:t>
    </dgm:pt>
    <dgm:pt modelId="{B25A07BD-7192-48B8-B3BE-0FFE5933A55F}" type="parTrans" cxnId="{E8C78F70-027A-4D00-9CB8-51ED2C31B2AF}">
      <dgm:prSet/>
      <dgm:spPr/>
      <dgm:t>
        <a:bodyPr/>
        <a:lstStyle/>
        <a:p>
          <a:endParaRPr lang="en-US"/>
        </a:p>
      </dgm:t>
    </dgm:pt>
    <dgm:pt modelId="{1DD8B528-BA0D-4DCF-AB8D-A0AF682FFF83}" type="sibTrans" cxnId="{E8C78F70-027A-4D00-9CB8-51ED2C31B2AF}">
      <dgm:prSet/>
      <dgm:spPr/>
      <dgm:t>
        <a:bodyPr/>
        <a:lstStyle/>
        <a:p>
          <a:endParaRPr lang="en-US"/>
        </a:p>
      </dgm:t>
    </dgm:pt>
    <dgm:pt modelId="{8276F24A-2D10-4201-BCAD-59B00F7EC34B}">
      <dgm:prSet/>
      <dgm:spPr>
        <a:solidFill>
          <a:schemeClr val="bg1">
            <a:lumMod val="50000"/>
          </a:schemeClr>
        </a:solidFill>
      </dgm:spPr>
      <dgm:t>
        <a:bodyPr/>
        <a:lstStyle/>
        <a:p>
          <a:pPr>
            <a:buNone/>
          </a:pPr>
          <a:r>
            <a:rPr lang="en-US" b="1" dirty="0"/>
            <a:t>Source</a:t>
          </a:r>
        </a:p>
      </dgm:t>
    </dgm:pt>
    <dgm:pt modelId="{A562C011-A2C5-425F-8968-2B0007CCF029}" type="parTrans" cxnId="{BC4978F9-7645-4A34-B91B-5B5CCA983302}">
      <dgm:prSet/>
      <dgm:spPr/>
      <dgm:t>
        <a:bodyPr/>
        <a:lstStyle/>
        <a:p>
          <a:endParaRPr lang="en-US"/>
        </a:p>
      </dgm:t>
    </dgm:pt>
    <dgm:pt modelId="{A941C574-C16A-483C-8AB2-FD63ADEA0654}" type="sibTrans" cxnId="{BC4978F9-7645-4A34-B91B-5B5CCA983302}">
      <dgm:prSet/>
      <dgm:spPr/>
      <dgm:t>
        <a:bodyPr/>
        <a:lstStyle/>
        <a:p>
          <a:endParaRPr lang="en-US"/>
        </a:p>
      </dgm:t>
    </dgm:pt>
    <dgm:pt modelId="{9A0B8F2E-3289-4991-9BF1-4493C09165EB}">
      <dgm:prSet/>
      <dgm:spPr>
        <a:solidFill>
          <a:schemeClr val="bg1">
            <a:lumMod val="50000"/>
          </a:schemeClr>
        </a:solidFill>
      </dgm:spPr>
      <dgm:t>
        <a:bodyPr/>
        <a:lstStyle/>
        <a:p>
          <a:pPr>
            <a:buNone/>
          </a:pPr>
          <a:r>
            <a:rPr lang="en-US" dirty="0"/>
            <a:t>Which data should Copilot look at?</a:t>
          </a:r>
        </a:p>
      </dgm:t>
    </dgm:pt>
    <dgm:pt modelId="{EEC51A56-7F62-431A-A621-2B3A1E198294}" type="parTrans" cxnId="{3C7C3FCF-118B-4CE6-91C4-FCA865D9D03F}">
      <dgm:prSet/>
      <dgm:spPr/>
      <dgm:t>
        <a:bodyPr/>
        <a:lstStyle/>
        <a:p>
          <a:endParaRPr lang="en-US"/>
        </a:p>
      </dgm:t>
    </dgm:pt>
    <dgm:pt modelId="{5770870A-69E1-46CE-B606-BD7649A627C9}" type="sibTrans" cxnId="{3C7C3FCF-118B-4CE6-91C4-FCA865D9D03F}">
      <dgm:prSet/>
      <dgm:spPr/>
      <dgm:t>
        <a:bodyPr/>
        <a:lstStyle/>
        <a:p>
          <a:endParaRPr lang="en-US"/>
        </a:p>
      </dgm:t>
    </dgm:pt>
    <dgm:pt modelId="{41BBBC3F-3746-46A2-BFA0-0313F5A504E6}">
      <dgm:prSet/>
      <dgm:spPr>
        <a:solidFill>
          <a:schemeClr val="bg1">
            <a:lumMod val="50000"/>
          </a:schemeClr>
        </a:solidFill>
      </dgm:spPr>
      <dgm:t>
        <a:bodyPr/>
        <a:lstStyle/>
        <a:p>
          <a:pPr>
            <a:buNone/>
          </a:pPr>
          <a:r>
            <a:rPr lang="en-US" dirty="0"/>
            <a:t>“Use only the </a:t>
          </a:r>
          <a:r>
            <a:rPr lang="en-US" dirty="0" err="1"/>
            <a:t>SalesData</a:t>
          </a:r>
          <a:r>
            <a:rPr lang="en-US" dirty="0"/>
            <a:t> table and ignore the Summary sheet.”</a:t>
          </a:r>
        </a:p>
      </dgm:t>
    </dgm:pt>
    <dgm:pt modelId="{020F0A82-451D-469D-A012-42DBDBC50C22}" type="parTrans" cxnId="{50F7C29E-45F8-4C78-B9E9-85C1A335E7CC}">
      <dgm:prSet/>
      <dgm:spPr/>
      <dgm:t>
        <a:bodyPr/>
        <a:lstStyle/>
        <a:p>
          <a:endParaRPr lang="en-US"/>
        </a:p>
      </dgm:t>
    </dgm:pt>
    <dgm:pt modelId="{058122C7-43A9-426A-B923-93F4398D5247}" type="sibTrans" cxnId="{50F7C29E-45F8-4C78-B9E9-85C1A335E7CC}">
      <dgm:prSet/>
      <dgm:spPr/>
      <dgm:t>
        <a:bodyPr/>
        <a:lstStyle/>
        <a:p>
          <a:endParaRPr lang="en-US"/>
        </a:p>
      </dgm:t>
    </dgm:pt>
    <dgm:pt modelId="{8A1F0280-71B7-4893-8E26-3B4BB98EEFAE}" type="pres">
      <dgm:prSet presAssocID="{8CF5ABB2-8E49-4018-A847-30F24C0E05D1}" presName="diagram" presStyleCnt="0">
        <dgm:presLayoutVars>
          <dgm:dir/>
          <dgm:resizeHandles val="exact"/>
        </dgm:presLayoutVars>
      </dgm:prSet>
      <dgm:spPr/>
    </dgm:pt>
    <dgm:pt modelId="{820BA5C1-DC11-4E55-BC65-640496F8AE55}" type="pres">
      <dgm:prSet presAssocID="{9F87F5A4-A480-46D4-B670-AE6ABF101EAF}" presName="node" presStyleLbl="node1" presStyleIdx="0" presStyleCnt="4">
        <dgm:presLayoutVars>
          <dgm:bulletEnabled val="1"/>
        </dgm:presLayoutVars>
      </dgm:prSet>
      <dgm:spPr/>
    </dgm:pt>
    <dgm:pt modelId="{FF0AA103-E1C1-4960-9B79-7A6C3CFABF4C}" type="pres">
      <dgm:prSet presAssocID="{BF60E87F-309A-43E4-843A-33950BB5B014}" presName="sibTrans" presStyleCnt="0"/>
      <dgm:spPr/>
    </dgm:pt>
    <dgm:pt modelId="{E2FDB8A8-6FB9-4E8B-8288-30DA87C71564}" type="pres">
      <dgm:prSet presAssocID="{492E2906-74B4-4BCB-8DB1-62F69A368761}" presName="node" presStyleLbl="node1" presStyleIdx="1" presStyleCnt="4">
        <dgm:presLayoutVars>
          <dgm:bulletEnabled val="1"/>
        </dgm:presLayoutVars>
      </dgm:prSet>
      <dgm:spPr/>
    </dgm:pt>
    <dgm:pt modelId="{445CB63A-4007-49FB-8BD3-08D0DB382A80}" type="pres">
      <dgm:prSet presAssocID="{EEB1B1FC-8096-4B01-A58A-D2B8C343BA78}" presName="sibTrans" presStyleCnt="0"/>
      <dgm:spPr/>
    </dgm:pt>
    <dgm:pt modelId="{78871E67-5D24-4D08-83B2-6B084549D081}" type="pres">
      <dgm:prSet presAssocID="{952F0C88-0795-4F8A-85F0-473D61B13FD7}" presName="node" presStyleLbl="node1" presStyleIdx="2" presStyleCnt="4">
        <dgm:presLayoutVars>
          <dgm:bulletEnabled val="1"/>
        </dgm:presLayoutVars>
      </dgm:prSet>
      <dgm:spPr/>
    </dgm:pt>
    <dgm:pt modelId="{495FF50D-856C-40D3-B30E-2B055A7BC280}" type="pres">
      <dgm:prSet presAssocID="{61274A37-A934-48B2-9927-C8D544152AFB}" presName="sibTrans" presStyleCnt="0"/>
      <dgm:spPr/>
    </dgm:pt>
    <dgm:pt modelId="{DB0C4DC1-3540-44DF-85E3-33CB18221958}" type="pres">
      <dgm:prSet presAssocID="{8276F24A-2D10-4201-BCAD-59B00F7EC34B}" presName="node" presStyleLbl="node1" presStyleIdx="3" presStyleCnt="4">
        <dgm:presLayoutVars>
          <dgm:bulletEnabled val="1"/>
        </dgm:presLayoutVars>
      </dgm:prSet>
      <dgm:spPr/>
    </dgm:pt>
  </dgm:ptLst>
  <dgm:cxnLst>
    <dgm:cxn modelId="{54F13A02-80EF-497D-B610-138BB600669D}" type="presOf" srcId="{6A446B3A-021A-4CD6-AFFD-B41DBE0AC5D6}" destId="{820BA5C1-DC11-4E55-BC65-640496F8AE55}" srcOrd="0" destOrd="2" presId="urn:microsoft.com/office/officeart/2005/8/layout/default"/>
    <dgm:cxn modelId="{C32B6003-4BFD-4EF4-9F5E-70A7D52CFF7F}" type="presOf" srcId="{9F87F5A4-A480-46D4-B670-AE6ABF101EAF}" destId="{820BA5C1-DC11-4E55-BC65-640496F8AE55}" srcOrd="0" destOrd="0" presId="urn:microsoft.com/office/officeart/2005/8/layout/default"/>
    <dgm:cxn modelId="{B451B403-FD31-4EA8-B9AB-97E5E5726A38}" srcId="{952F0C88-0795-4F8A-85F0-473D61B13FD7}" destId="{851D5FE7-7D84-4E70-AC7B-26E647860055}" srcOrd="0" destOrd="0" parTransId="{CE0DED91-28D3-4CDC-A7E7-E8804C0515EF}" sibTransId="{6012E8C9-487F-44E1-9BAB-02E4FB018997}"/>
    <dgm:cxn modelId="{58973909-5790-4C7A-A987-9E8AA4E8E6FF}" type="presOf" srcId="{952F0C88-0795-4F8A-85F0-473D61B13FD7}" destId="{78871E67-5D24-4D08-83B2-6B084549D081}" srcOrd="0" destOrd="0" presId="urn:microsoft.com/office/officeart/2005/8/layout/default"/>
    <dgm:cxn modelId="{46490625-95A3-4A63-B000-4F1896206F03}" type="presOf" srcId="{8CF5ABB2-8E49-4018-A847-30F24C0E05D1}" destId="{8A1F0280-71B7-4893-8E26-3B4BB98EEFAE}" srcOrd="0" destOrd="0" presId="urn:microsoft.com/office/officeart/2005/8/layout/default"/>
    <dgm:cxn modelId="{342F4B2C-23AB-4125-9486-830986ADF24D}" srcId="{8CF5ABB2-8E49-4018-A847-30F24C0E05D1}" destId="{952F0C88-0795-4F8A-85F0-473D61B13FD7}" srcOrd="2" destOrd="0" parTransId="{E1F22574-1647-44DF-9A18-03FC07463BBC}" sibTransId="{61274A37-A934-48B2-9927-C8D544152AFB}"/>
    <dgm:cxn modelId="{EAE3DD6B-E80F-48DF-B073-CAF8393B275E}" srcId="{8CF5ABB2-8E49-4018-A847-30F24C0E05D1}" destId="{492E2906-74B4-4BCB-8DB1-62F69A368761}" srcOrd="1" destOrd="0" parTransId="{79AB910B-246C-4830-9149-8616E615CD79}" sibTransId="{EEB1B1FC-8096-4B01-A58A-D2B8C343BA78}"/>
    <dgm:cxn modelId="{E8C78F70-027A-4D00-9CB8-51ED2C31B2AF}" srcId="{851D5FE7-7D84-4E70-AC7B-26E647860055}" destId="{379BD61E-A81C-4311-81DC-43B79184EEF5}" srcOrd="0" destOrd="0" parTransId="{B25A07BD-7192-48B8-B3BE-0FFE5933A55F}" sibTransId="{1DD8B528-BA0D-4DCF-AB8D-A0AF682FFF83}"/>
    <dgm:cxn modelId="{C2750076-20DB-45D8-8972-5A11227A8823}" type="presOf" srcId="{851D5FE7-7D84-4E70-AC7B-26E647860055}" destId="{78871E67-5D24-4D08-83B2-6B084549D081}" srcOrd="0" destOrd="1" presId="urn:microsoft.com/office/officeart/2005/8/layout/default"/>
    <dgm:cxn modelId="{F5E13456-CBB7-4179-86DF-23FA6C769B8B}" type="presOf" srcId="{9A0B8F2E-3289-4991-9BF1-4493C09165EB}" destId="{DB0C4DC1-3540-44DF-85E3-33CB18221958}" srcOrd="0" destOrd="1" presId="urn:microsoft.com/office/officeart/2005/8/layout/default"/>
    <dgm:cxn modelId="{58D45157-403D-4EA8-953C-3D51F0999875}" srcId="{492E2906-74B4-4BCB-8DB1-62F69A368761}" destId="{9B0944D4-52AF-4006-AEDB-07BD42E835D7}" srcOrd="0" destOrd="0" parTransId="{FC8B0C6C-8DF6-434E-BBEA-1B1E359A87C4}" sibTransId="{1A370047-1862-45AA-A05A-D20D2A065B7A}"/>
    <dgm:cxn modelId="{202E797B-8B98-454C-90B3-B552488466C3}" srcId="{9F87F5A4-A480-46D4-B670-AE6ABF101EAF}" destId="{0C09951A-4D71-4694-8D71-4A5773D5F8D3}" srcOrd="0" destOrd="0" parTransId="{07FBEBF1-8FD3-45E3-A9CC-C478580A5102}" sibTransId="{278DD9EE-3BB6-4633-9908-D649EE9F1C6A}"/>
    <dgm:cxn modelId="{58017E80-EE26-415D-9D6E-C92687DD12C5}" srcId="{8CF5ABB2-8E49-4018-A847-30F24C0E05D1}" destId="{9F87F5A4-A480-46D4-B670-AE6ABF101EAF}" srcOrd="0" destOrd="0" parTransId="{F5F217E3-0567-4851-B847-759B189BBD81}" sibTransId="{BF60E87F-309A-43E4-843A-33950BB5B014}"/>
    <dgm:cxn modelId="{1F13E092-8DCC-437A-80FC-27D5AD8E59A7}" srcId="{0C09951A-4D71-4694-8D71-4A5773D5F8D3}" destId="{6A446B3A-021A-4CD6-AFFD-B41DBE0AC5D6}" srcOrd="0" destOrd="0" parTransId="{251286B3-0407-4278-83BC-147843222ED0}" sibTransId="{41D28A70-4245-4192-9DE2-A3B6A6B05D84}"/>
    <dgm:cxn modelId="{987AB99B-B127-4C08-99AD-ED1BAE563E85}" type="presOf" srcId="{41BBBC3F-3746-46A2-BFA0-0313F5A504E6}" destId="{DB0C4DC1-3540-44DF-85E3-33CB18221958}" srcOrd="0" destOrd="2" presId="urn:microsoft.com/office/officeart/2005/8/layout/default"/>
    <dgm:cxn modelId="{50F7C29E-45F8-4C78-B9E9-85C1A335E7CC}" srcId="{9A0B8F2E-3289-4991-9BF1-4493C09165EB}" destId="{41BBBC3F-3746-46A2-BFA0-0313F5A504E6}" srcOrd="0" destOrd="0" parTransId="{020F0A82-451D-469D-A012-42DBDBC50C22}" sibTransId="{058122C7-43A9-426A-B923-93F4398D5247}"/>
    <dgm:cxn modelId="{29E031A3-3817-4D79-B5D4-832D05DB911B}" srcId="{9B0944D4-52AF-4006-AEDB-07BD42E835D7}" destId="{F2EB1D20-381B-44B1-B6C0-0A816202FF99}" srcOrd="0" destOrd="0" parTransId="{18E5F0E2-B9CD-497F-B7E1-FB0ECEE4259D}" sibTransId="{132109CD-56C5-40CF-BB8B-3E5D80A816FF}"/>
    <dgm:cxn modelId="{A499A9A5-6B2E-425D-B72B-A8F20B5E2EE4}" type="presOf" srcId="{0C09951A-4D71-4694-8D71-4A5773D5F8D3}" destId="{820BA5C1-DC11-4E55-BC65-640496F8AE55}" srcOrd="0" destOrd="1" presId="urn:microsoft.com/office/officeart/2005/8/layout/default"/>
    <dgm:cxn modelId="{8CEE73AD-3C79-4342-BAE1-28B657E155D3}" type="presOf" srcId="{379BD61E-A81C-4311-81DC-43B79184EEF5}" destId="{78871E67-5D24-4D08-83B2-6B084549D081}" srcOrd="0" destOrd="2" presId="urn:microsoft.com/office/officeart/2005/8/layout/default"/>
    <dgm:cxn modelId="{2DD639BF-3488-495A-A548-16005AAC3553}" type="presOf" srcId="{9B0944D4-52AF-4006-AEDB-07BD42E835D7}" destId="{E2FDB8A8-6FB9-4E8B-8288-30DA87C71564}" srcOrd="0" destOrd="1" presId="urn:microsoft.com/office/officeart/2005/8/layout/default"/>
    <dgm:cxn modelId="{C88D9FC9-6947-4A99-9784-42280FF14801}" type="presOf" srcId="{8276F24A-2D10-4201-BCAD-59B00F7EC34B}" destId="{DB0C4DC1-3540-44DF-85E3-33CB18221958}" srcOrd="0" destOrd="0" presId="urn:microsoft.com/office/officeart/2005/8/layout/default"/>
    <dgm:cxn modelId="{7CC87FCB-CEA8-433D-93F9-D510F14AB97A}" type="presOf" srcId="{492E2906-74B4-4BCB-8DB1-62F69A368761}" destId="{E2FDB8A8-6FB9-4E8B-8288-30DA87C71564}" srcOrd="0" destOrd="0" presId="urn:microsoft.com/office/officeart/2005/8/layout/default"/>
    <dgm:cxn modelId="{3C7C3FCF-118B-4CE6-91C4-FCA865D9D03F}" srcId="{8276F24A-2D10-4201-BCAD-59B00F7EC34B}" destId="{9A0B8F2E-3289-4991-9BF1-4493C09165EB}" srcOrd="0" destOrd="0" parTransId="{EEC51A56-7F62-431A-A621-2B3A1E198294}" sibTransId="{5770870A-69E1-46CE-B606-BD7649A627C9}"/>
    <dgm:cxn modelId="{18BE96ED-936B-4571-A667-0038A23159C7}" type="presOf" srcId="{F2EB1D20-381B-44B1-B6C0-0A816202FF99}" destId="{E2FDB8A8-6FB9-4E8B-8288-30DA87C71564}" srcOrd="0" destOrd="2" presId="urn:microsoft.com/office/officeart/2005/8/layout/default"/>
    <dgm:cxn modelId="{BC4978F9-7645-4A34-B91B-5B5CCA983302}" srcId="{8CF5ABB2-8E49-4018-A847-30F24C0E05D1}" destId="{8276F24A-2D10-4201-BCAD-59B00F7EC34B}" srcOrd="3" destOrd="0" parTransId="{A562C011-A2C5-425F-8968-2B0007CCF029}" sibTransId="{A941C574-C16A-483C-8AB2-FD63ADEA0654}"/>
    <dgm:cxn modelId="{2A4CFCC4-AD1A-4639-868C-1463D690F60E}" type="presParOf" srcId="{8A1F0280-71B7-4893-8E26-3B4BB98EEFAE}" destId="{820BA5C1-DC11-4E55-BC65-640496F8AE55}" srcOrd="0" destOrd="0" presId="urn:microsoft.com/office/officeart/2005/8/layout/default"/>
    <dgm:cxn modelId="{C5FD2948-C809-4771-9BA5-2190C460EECE}" type="presParOf" srcId="{8A1F0280-71B7-4893-8E26-3B4BB98EEFAE}" destId="{FF0AA103-E1C1-4960-9B79-7A6C3CFABF4C}" srcOrd="1" destOrd="0" presId="urn:microsoft.com/office/officeart/2005/8/layout/default"/>
    <dgm:cxn modelId="{927E4A75-80D3-4C06-870E-3CFB12E0D0CA}" type="presParOf" srcId="{8A1F0280-71B7-4893-8E26-3B4BB98EEFAE}" destId="{E2FDB8A8-6FB9-4E8B-8288-30DA87C71564}" srcOrd="2" destOrd="0" presId="urn:microsoft.com/office/officeart/2005/8/layout/default"/>
    <dgm:cxn modelId="{97E19BEB-6E96-4FAC-B8EE-76AE5FAE8C3F}" type="presParOf" srcId="{8A1F0280-71B7-4893-8E26-3B4BB98EEFAE}" destId="{445CB63A-4007-49FB-8BD3-08D0DB382A80}" srcOrd="3" destOrd="0" presId="urn:microsoft.com/office/officeart/2005/8/layout/default"/>
    <dgm:cxn modelId="{54040982-63AE-40A9-8D0F-64F43269C913}" type="presParOf" srcId="{8A1F0280-71B7-4893-8E26-3B4BB98EEFAE}" destId="{78871E67-5D24-4D08-83B2-6B084549D081}" srcOrd="4" destOrd="0" presId="urn:microsoft.com/office/officeart/2005/8/layout/default"/>
    <dgm:cxn modelId="{ADC1498B-359B-4693-B516-234570A74345}" type="presParOf" srcId="{8A1F0280-71B7-4893-8E26-3B4BB98EEFAE}" destId="{495FF50D-856C-40D3-B30E-2B055A7BC280}" srcOrd="5" destOrd="0" presId="urn:microsoft.com/office/officeart/2005/8/layout/default"/>
    <dgm:cxn modelId="{F41CE63A-BDC8-437A-A645-D980DC0160B0}" type="presParOf" srcId="{8A1F0280-71B7-4893-8E26-3B4BB98EEFAE}" destId="{DB0C4DC1-3540-44DF-85E3-33CB18221958}" srcOrd="6"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CF5ABB2-8E49-4018-A847-30F24C0E05D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128AD7D5-A02E-4215-AA57-AFF2421A95F0}">
      <dgm:prSet/>
      <dgm:spPr>
        <a:solidFill>
          <a:schemeClr val="bg1">
            <a:lumMod val="50000"/>
          </a:schemeClr>
        </a:solidFill>
      </dgm:spPr>
      <dgm:t>
        <a:bodyPr/>
        <a:lstStyle/>
        <a:p>
          <a:pPr>
            <a:buNone/>
          </a:pPr>
          <a:r>
            <a:rPr lang="en-US" b="1" dirty="0"/>
            <a:t>Zero-Shot</a:t>
          </a:r>
        </a:p>
      </dgm:t>
    </dgm:pt>
    <dgm:pt modelId="{A19E7766-DF00-4927-98C5-5EF927F63251}" type="parTrans" cxnId="{71105064-F66E-4437-95D0-571A5EC2207F}">
      <dgm:prSet/>
      <dgm:spPr/>
      <dgm:t>
        <a:bodyPr/>
        <a:lstStyle/>
        <a:p>
          <a:endParaRPr lang="en-US"/>
        </a:p>
      </dgm:t>
    </dgm:pt>
    <dgm:pt modelId="{1234CC36-5D2B-45D1-8875-43E49814E170}" type="sibTrans" cxnId="{71105064-F66E-4437-95D0-571A5EC2207F}">
      <dgm:prSet/>
      <dgm:spPr/>
      <dgm:t>
        <a:bodyPr/>
        <a:lstStyle/>
        <a:p>
          <a:endParaRPr lang="en-US"/>
        </a:p>
      </dgm:t>
    </dgm:pt>
    <dgm:pt modelId="{045BA391-9A57-43C9-A72E-562BFC39ED60}">
      <dgm:prSet/>
      <dgm:spPr>
        <a:solidFill>
          <a:schemeClr val="bg1">
            <a:lumMod val="50000"/>
          </a:schemeClr>
        </a:solidFill>
      </dgm:spPr>
      <dgm:t>
        <a:bodyPr/>
        <a:lstStyle/>
        <a:p>
          <a:pPr>
            <a:buNone/>
          </a:pPr>
          <a:r>
            <a:rPr lang="en-US" dirty="0"/>
            <a:t>“Explain what this formula in cell D5 does.”</a:t>
          </a:r>
        </a:p>
      </dgm:t>
    </dgm:pt>
    <dgm:pt modelId="{4D903A7B-8CE1-45DE-9638-43F927AFB1EA}" type="parTrans" cxnId="{7505AA42-ABA1-48BC-A202-07BF798143E4}">
      <dgm:prSet/>
      <dgm:spPr/>
      <dgm:t>
        <a:bodyPr/>
        <a:lstStyle/>
        <a:p>
          <a:endParaRPr lang="en-US"/>
        </a:p>
      </dgm:t>
    </dgm:pt>
    <dgm:pt modelId="{DB76368F-988B-4B37-9207-034AD0490C81}" type="sibTrans" cxnId="{7505AA42-ABA1-48BC-A202-07BF798143E4}">
      <dgm:prSet/>
      <dgm:spPr/>
      <dgm:t>
        <a:bodyPr/>
        <a:lstStyle/>
        <a:p>
          <a:endParaRPr lang="en-US"/>
        </a:p>
      </dgm:t>
    </dgm:pt>
    <dgm:pt modelId="{0E169D5D-DD6B-4C34-AD49-C3DBB678312C}">
      <dgm:prSet/>
      <dgm:spPr>
        <a:solidFill>
          <a:schemeClr val="bg1">
            <a:lumMod val="50000"/>
          </a:schemeClr>
        </a:solidFill>
      </dgm:spPr>
      <dgm:t>
        <a:bodyPr/>
        <a:lstStyle/>
        <a:p>
          <a:pPr>
            <a:buNone/>
          </a:pPr>
          <a:r>
            <a:rPr lang="en-US" b="1" dirty="0"/>
            <a:t>One-Shot</a:t>
          </a:r>
        </a:p>
      </dgm:t>
    </dgm:pt>
    <dgm:pt modelId="{444691B4-7FA5-44F9-9A42-14D2C35B67E5}" type="parTrans" cxnId="{2EB5951A-E1EE-4991-9ABA-1D13208BF1B9}">
      <dgm:prSet/>
      <dgm:spPr/>
      <dgm:t>
        <a:bodyPr/>
        <a:lstStyle/>
        <a:p>
          <a:endParaRPr lang="en-US"/>
        </a:p>
      </dgm:t>
    </dgm:pt>
    <dgm:pt modelId="{0B113695-31A9-467E-B0A9-F3D12641D78D}" type="sibTrans" cxnId="{2EB5951A-E1EE-4991-9ABA-1D13208BF1B9}">
      <dgm:prSet/>
      <dgm:spPr/>
      <dgm:t>
        <a:bodyPr/>
        <a:lstStyle/>
        <a:p>
          <a:endParaRPr lang="en-US"/>
        </a:p>
      </dgm:t>
    </dgm:pt>
    <dgm:pt modelId="{4ABBCA1D-C147-4AEA-B387-5B270E1191A4}">
      <dgm:prSet/>
      <dgm:spPr>
        <a:solidFill>
          <a:schemeClr val="bg1">
            <a:lumMod val="50000"/>
          </a:schemeClr>
        </a:solidFill>
      </dgm:spPr>
      <dgm:t>
        <a:bodyPr/>
        <a:lstStyle/>
        <a:p>
          <a:pPr>
            <a:buNone/>
          </a:pPr>
          <a:r>
            <a:rPr lang="en-US" dirty="0"/>
            <a:t>“Here’s how I want summaries to look:</a:t>
          </a:r>
          <a:br>
            <a:rPr lang="en-US" dirty="0"/>
          </a:br>
          <a:r>
            <a:rPr lang="en-US" dirty="0"/>
            <a:t>‘Revenue grew 12% QoQ driven by…’</a:t>
          </a:r>
          <a:br>
            <a:rPr lang="en-US" dirty="0"/>
          </a:br>
          <a:r>
            <a:rPr lang="en-US" dirty="0"/>
            <a:t>Now summarize Table </a:t>
          </a:r>
          <a:r>
            <a:rPr lang="en-US" dirty="0" err="1"/>
            <a:t>SalesData</a:t>
          </a:r>
          <a:r>
            <a:rPr lang="en-US" dirty="0"/>
            <a:t> the same way.”</a:t>
          </a:r>
        </a:p>
      </dgm:t>
    </dgm:pt>
    <dgm:pt modelId="{5E1160DD-C090-4F30-841E-68BE315A3A73}" type="parTrans" cxnId="{CB417369-041C-48F7-98E0-0CC9627EC6A3}">
      <dgm:prSet/>
      <dgm:spPr/>
      <dgm:t>
        <a:bodyPr/>
        <a:lstStyle/>
        <a:p>
          <a:endParaRPr lang="en-US"/>
        </a:p>
      </dgm:t>
    </dgm:pt>
    <dgm:pt modelId="{E0B47D3C-D67C-4248-AD57-9951FB4C5885}" type="sibTrans" cxnId="{CB417369-041C-48F7-98E0-0CC9627EC6A3}">
      <dgm:prSet/>
      <dgm:spPr/>
      <dgm:t>
        <a:bodyPr/>
        <a:lstStyle/>
        <a:p>
          <a:endParaRPr lang="en-US"/>
        </a:p>
      </dgm:t>
    </dgm:pt>
    <dgm:pt modelId="{FE92F3E4-DEE3-4048-9C45-5076F7827227}">
      <dgm:prSet/>
      <dgm:spPr>
        <a:solidFill>
          <a:schemeClr val="bg1">
            <a:lumMod val="50000"/>
          </a:schemeClr>
        </a:solidFill>
      </dgm:spPr>
      <dgm:t>
        <a:bodyPr/>
        <a:lstStyle/>
        <a:p>
          <a:pPr>
            <a:buNone/>
          </a:pPr>
          <a:r>
            <a:rPr lang="en-US" b="1" dirty="0"/>
            <a:t>Few-Shot</a:t>
          </a:r>
        </a:p>
      </dgm:t>
    </dgm:pt>
    <dgm:pt modelId="{267006F2-37E3-4813-A39E-5B66D24A4E1A}" type="parTrans" cxnId="{9BDFFDBD-7B43-47F8-AE84-D13E5939FD3A}">
      <dgm:prSet/>
      <dgm:spPr/>
      <dgm:t>
        <a:bodyPr/>
        <a:lstStyle/>
        <a:p>
          <a:endParaRPr lang="en-US"/>
        </a:p>
      </dgm:t>
    </dgm:pt>
    <dgm:pt modelId="{3758BED5-93EE-401D-A13A-03190CE9EE06}" type="sibTrans" cxnId="{9BDFFDBD-7B43-47F8-AE84-D13E5939FD3A}">
      <dgm:prSet/>
      <dgm:spPr/>
      <dgm:t>
        <a:bodyPr/>
        <a:lstStyle/>
        <a:p>
          <a:endParaRPr lang="en-US"/>
        </a:p>
      </dgm:t>
    </dgm:pt>
    <dgm:pt modelId="{9F7D8B0D-6771-4E98-8E41-74FDBFE78128}">
      <dgm:prSet/>
      <dgm:spPr>
        <a:solidFill>
          <a:schemeClr val="bg1">
            <a:lumMod val="50000"/>
          </a:schemeClr>
        </a:solidFill>
      </dgm:spPr>
      <dgm:t>
        <a:bodyPr/>
        <a:lstStyle/>
        <a:p>
          <a:pPr>
            <a:buNone/>
          </a:pPr>
          <a:r>
            <a:rPr lang="en-US" dirty="0"/>
            <a:t>“Here are two examples of the style I want.</a:t>
          </a:r>
        </a:p>
      </dgm:t>
    </dgm:pt>
    <dgm:pt modelId="{B99A02E4-D63F-466E-987C-B85BB457976B}" type="parTrans" cxnId="{DB333627-790C-4157-9279-6272262491B5}">
      <dgm:prSet/>
      <dgm:spPr/>
      <dgm:t>
        <a:bodyPr/>
        <a:lstStyle/>
        <a:p>
          <a:endParaRPr lang="en-US"/>
        </a:p>
      </dgm:t>
    </dgm:pt>
    <dgm:pt modelId="{83BE7BC7-EBD3-44B1-8B76-AD4833243A5C}" type="sibTrans" cxnId="{DB333627-790C-4157-9279-6272262491B5}">
      <dgm:prSet/>
      <dgm:spPr/>
      <dgm:t>
        <a:bodyPr/>
        <a:lstStyle/>
        <a:p>
          <a:endParaRPr lang="en-US"/>
        </a:p>
      </dgm:t>
    </dgm:pt>
    <dgm:pt modelId="{0629FFC5-2408-435D-A579-9F75F8474EC2}">
      <dgm:prSet/>
      <dgm:spPr>
        <a:solidFill>
          <a:schemeClr val="bg1">
            <a:lumMod val="50000"/>
          </a:schemeClr>
        </a:solidFill>
      </dgm:spPr>
      <dgm:t>
        <a:bodyPr/>
        <a:lstStyle/>
        <a:p>
          <a:pPr>
            <a:buNone/>
          </a:pPr>
          <a:r>
            <a:rPr lang="en-US" b="1" dirty="0"/>
            <a:t>Reasoning</a:t>
          </a:r>
        </a:p>
      </dgm:t>
    </dgm:pt>
    <dgm:pt modelId="{61869354-8586-4F01-A3DC-48387A3107AE}" type="parTrans" cxnId="{3F65EB08-B53D-405B-820E-C6C7E75DBF8D}">
      <dgm:prSet/>
      <dgm:spPr/>
      <dgm:t>
        <a:bodyPr/>
        <a:lstStyle/>
        <a:p>
          <a:endParaRPr lang="en-US"/>
        </a:p>
      </dgm:t>
    </dgm:pt>
    <dgm:pt modelId="{1F9C0F63-C964-4185-99ED-BF811F8762E3}" type="sibTrans" cxnId="{3F65EB08-B53D-405B-820E-C6C7E75DBF8D}">
      <dgm:prSet/>
      <dgm:spPr/>
      <dgm:t>
        <a:bodyPr/>
        <a:lstStyle/>
        <a:p>
          <a:endParaRPr lang="en-US"/>
        </a:p>
      </dgm:t>
    </dgm:pt>
    <dgm:pt modelId="{06FFF57A-8E56-45BE-9461-1FF1BE2244F9}">
      <dgm:prSet/>
      <dgm:spPr>
        <a:solidFill>
          <a:schemeClr val="bg1">
            <a:lumMod val="50000"/>
          </a:schemeClr>
        </a:solidFill>
      </dgm:spPr>
      <dgm:t>
        <a:bodyPr/>
        <a:lstStyle/>
        <a:p>
          <a:pPr>
            <a:buNone/>
          </a:pPr>
          <a:r>
            <a:rPr lang="en-US" dirty="0"/>
            <a:t>“Break down the steps Excel follows when evaluating this nested IF.”</a:t>
          </a:r>
        </a:p>
      </dgm:t>
    </dgm:pt>
    <dgm:pt modelId="{02F02E03-436B-4D16-AA2D-DDC2A417C083}" type="parTrans" cxnId="{425876B9-21AA-47F2-BA94-AA9FA4B1AAFC}">
      <dgm:prSet/>
      <dgm:spPr/>
      <dgm:t>
        <a:bodyPr/>
        <a:lstStyle/>
        <a:p>
          <a:endParaRPr lang="en-US"/>
        </a:p>
      </dgm:t>
    </dgm:pt>
    <dgm:pt modelId="{BC8D7038-1BAA-4F3D-B681-DB11616C5EE6}" type="sibTrans" cxnId="{425876B9-21AA-47F2-BA94-AA9FA4B1AAFC}">
      <dgm:prSet/>
      <dgm:spPr/>
      <dgm:t>
        <a:bodyPr/>
        <a:lstStyle/>
        <a:p>
          <a:endParaRPr lang="en-US"/>
        </a:p>
      </dgm:t>
    </dgm:pt>
    <dgm:pt modelId="{C7FE8554-DE33-4C3B-978E-156E7E51F657}">
      <dgm:prSet/>
      <dgm:spPr>
        <a:solidFill>
          <a:schemeClr val="bg1">
            <a:lumMod val="50000"/>
          </a:schemeClr>
        </a:solidFill>
      </dgm:spPr>
      <dgm:t>
        <a:bodyPr/>
        <a:lstStyle/>
        <a:p>
          <a:pPr>
            <a:buNone/>
          </a:pPr>
          <a:r>
            <a:rPr lang="en-US" b="1" dirty="0"/>
            <a:t>Chained</a:t>
          </a:r>
        </a:p>
      </dgm:t>
    </dgm:pt>
    <dgm:pt modelId="{F131CBFC-D20C-45DD-B5C9-06F925793312}" type="parTrans" cxnId="{898668A7-81E7-4916-99AB-CFB74EA54E89}">
      <dgm:prSet/>
      <dgm:spPr/>
      <dgm:t>
        <a:bodyPr/>
        <a:lstStyle/>
        <a:p>
          <a:endParaRPr lang="en-US"/>
        </a:p>
      </dgm:t>
    </dgm:pt>
    <dgm:pt modelId="{3F223545-1661-4FFC-97FC-3A612DF467AF}" type="sibTrans" cxnId="{898668A7-81E7-4916-99AB-CFB74EA54E89}">
      <dgm:prSet/>
      <dgm:spPr/>
      <dgm:t>
        <a:bodyPr/>
        <a:lstStyle/>
        <a:p>
          <a:endParaRPr lang="en-US"/>
        </a:p>
      </dgm:t>
    </dgm:pt>
    <dgm:pt modelId="{6E88B103-B26F-411D-83DF-AB47E85D26FC}">
      <dgm:prSet/>
      <dgm:spPr>
        <a:solidFill>
          <a:schemeClr val="bg1">
            <a:lumMod val="50000"/>
          </a:schemeClr>
        </a:solidFill>
      </dgm:spPr>
      <dgm:t>
        <a:bodyPr/>
        <a:lstStyle/>
        <a:p>
          <a:pPr>
            <a:buNone/>
          </a:pPr>
          <a:r>
            <a:rPr lang="en-US" dirty="0"/>
            <a:t>“Find quality issues.”</a:t>
          </a:r>
          <a:br>
            <a:rPr lang="en-US" dirty="0"/>
          </a:br>
          <a:r>
            <a:rPr lang="en-US" dirty="0"/>
            <a:t>“Now propose fixes.”</a:t>
          </a:r>
          <a:br>
            <a:rPr lang="en-US" dirty="0"/>
          </a:br>
          <a:r>
            <a:rPr lang="en-US" dirty="0"/>
            <a:t>“Now rewrite formula logic cleanly.”</a:t>
          </a:r>
        </a:p>
      </dgm:t>
    </dgm:pt>
    <dgm:pt modelId="{10AE821B-C59D-4099-81F0-D911BDE5D6DC}" type="parTrans" cxnId="{840DC5DE-A9B0-4187-A82E-88E9D2EB781B}">
      <dgm:prSet/>
      <dgm:spPr/>
      <dgm:t>
        <a:bodyPr/>
        <a:lstStyle/>
        <a:p>
          <a:endParaRPr lang="en-US"/>
        </a:p>
      </dgm:t>
    </dgm:pt>
    <dgm:pt modelId="{77E4D19B-2113-4117-A62E-3B62C69E6949}" type="sibTrans" cxnId="{840DC5DE-A9B0-4187-A82E-88E9D2EB781B}">
      <dgm:prSet/>
      <dgm:spPr/>
      <dgm:t>
        <a:bodyPr/>
        <a:lstStyle/>
        <a:p>
          <a:endParaRPr lang="en-US"/>
        </a:p>
      </dgm:t>
    </dgm:pt>
    <dgm:pt modelId="{DE4687F2-A5B3-4DA1-9EBC-A2D1ADA76C68}">
      <dgm:prSet/>
      <dgm:spPr>
        <a:solidFill>
          <a:schemeClr val="bg1">
            <a:lumMod val="50000"/>
          </a:schemeClr>
        </a:solidFill>
      </dgm:spPr>
      <dgm:t>
        <a:bodyPr/>
        <a:lstStyle/>
        <a:p>
          <a:pPr>
            <a:buNone/>
          </a:pPr>
          <a:r>
            <a:rPr lang="en-US" b="1" dirty="0"/>
            <a:t>Negative Prompting</a:t>
          </a:r>
        </a:p>
      </dgm:t>
    </dgm:pt>
    <dgm:pt modelId="{6EA0EC2F-3D38-41C5-9D3B-BB5BEB17B069}" type="parTrans" cxnId="{4AF528A9-57B2-4382-8F6C-B308FC45A55A}">
      <dgm:prSet/>
      <dgm:spPr/>
      <dgm:t>
        <a:bodyPr/>
        <a:lstStyle/>
        <a:p>
          <a:endParaRPr lang="en-US"/>
        </a:p>
      </dgm:t>
    </dgm:pt>
    <dgm:pt modelId="{6FF4F97B-1B2B-415D-BB04-0E00B58A2723}" type="sibTrans" cxnId="{4AF528A9-57B2-4382-8F6C-B308FC45A55A}">
      <dgm:prSet/>
      <dgm:spPr/>
      <dgm:t>
        <a:bodyPr/>
        <a:lstStyle/>
        <a:p>
          <a:endParaRPr lang="en-US"/>
        </a:p>
      </dgm:t>
    </dgm:pt>
    <dgm:pt modelId="{3670A21C-3ADE-4AFA-9FAB-AAB7A8EF6C04}">
      <dgm:prSet/>
      <dgm:spPr>
        <a:solidFill>
          <a:schemeClr val="bg1">
            <a:lumMod val="50000"/>
          </a:schemeClr>
        </a:solidFill>
      </dgm:spPr>
      <dgm:t>
        <a:bodyPr/>
        <a:lstStyle/>
        <a:p>
          <a:pPr>
            <a:buNone/>
          </a:pPr>
          <a:r>
            <a:rPr lang="en-US" dirty="0"/>
            <a:t>“Summarize this table, but do not include suggestions or next steps.”</a:t>
          </a:r>
        </a:p>
      </dgm:t>
    </dgm:pt>
    <dgm:pt modelId="{6B80BBB1-AA10-4551-B1BC-2C71E6F2DA84}" type="parTrans" cxnId="{F2574BF5-A20E-48D7-BC9F-6C128E13F37A}">
      <dgm:prSet/>
      <dgm:spPr/>
      <dgm:t>
        <a:bodyPr/>
        <a:lstStyle/>
        <a:p>
          <a:endParaRPr lang="en-US"/>
        </a:p>
      </dgm:t>
    </dgm:pt>
    <dgm:pt modelId="{A0D9275C-FA65-438D-9C91-1F64FB44CE7D}" type="sibTrans" cxnId="{F2574BF5-A20E-48D7-BC9F-6C128E13F37A}">
      <dgm:prSet/>
      <dgm:spPr/>
      <dgm:t>
        <a:bodyPr/>
        <a:lstStyle/>
        <a:p>
          <a:endParaRPr lang="en-US"/>
        </a:p>
      </dgm:t>
    </dgm:pt>
    <dgm:pt modelId="{C697B86F-78B5-4FAB-A091-24E5708655D4}">
      <dgm:prSet/>
      <dgm:spPr>
        <a:solidFill>
          <a:schemeClr val="bg1">
            <a:lumMod val="50000"/>
          </a:schemeClr>
        </a:solidFill>
      </dgm:spPr>
      <dgm:t>
        <a:bodyPr/>
        <a:lstStyle/>
        <a:p>
          <a:pPr>
            <a:buNone/>
          </a:pPr>
          <a:r>
            <a:rPr lang="en-US" dirty="0"/>
            <a:t>“Now write a similar summary for the Technology sector in this table.”</a:t>
          </a:r>
        </a:p>
      </dgm:t>
    </dgm:pt>
    <dgm:pt modelId="{73A27280-046D-4F78-8380-7A070D898E65}" type="parTrans" cxnId="{60279826-25C5-4A2A-A800-58A13F74A6AC}">
      <dgm:prSet/>
      <dgm:spPr/>
      <dgm:t>
        <a:bodyPr/>
        <a:lstStyle/>
        <a:p>
          <a:endParaRPr lang="en-US"/>
        </a:p>
      </dgm:t>
    </dgm:pt>
    <dgm:pt modelId="{C88D3086-5164-4A3E-A16F-7670E4BB3224}" type="sibTrans" cxnId="{60279826-25C5-4A2A-A800-58A13F74A6AC}">
      <dgm:prSet/>
      <dgm:spPr/>
      <dgm:t>
        <a:bodyPr/>
        <a:lstStyle/>
        <a:p>
          <a:endParaRPr lang="en-US"/>
        </a:p>
      </dgm:t>
    </dgm:pt>
    <dgm:pt modelId="{8A1F0280-71B7-4893-8E26-3B4BB98EEFAE}" type="pres">
      <dgm:prSet presAssocID="{8CF5ABB2-8E49-4018-A847-30F24C0E05D1}" presName="diagram" presStyleCnt="0">
        <dgm:presLayoutVars>
          <dgm:dir/>
          <dgm:resizeHandles val="exact"/>
        </dgm:presLayoutVars>
      </dgm:prSet>
      <dgm:spPr/>
    </dgm:pt>
    <dgm:pt modelId="{7B9693D1-D350-40E2-8A6E-B439ADFDB333}" type="pres">
      <dgm:prSet presAssocID="{128AD7D5-A02E-4215-AA57-AFF2421A95F0}" presName="node" presStyleLbl="node1" presStyleIdx="0" presStyleCnt="6">
        <dgm:presLayoutVars>
          <dgm:bulletEnabled val="1"/>
        </dgm:presLayoutVars>
      </dgm:prSet>
      <dgm:spPr/>
    </dgm:pt>
    <dgm:pt modelId="{D7897CA7-D2D5-4A91-AC5A-6598B8ADD58E}" type="pres">
      <dgm:prSet presAssocID="{1234CC36-5D2B-45D1-8875-43E49814E170}" presName="sibTrans" presStyleCnt="0"/>
      <dgm:spPr/>
    </dgm:pt>
    <dgm:pt modelId="{F032B306-D424-4AA4-BD10-8C8AA5A948E2}" type="pres">
      <dgm:prSet presAssocID="{0E169D5D-DD6B-4C34-AD49-C3DBB678312C}" presName="node" presStyleLbl="node1" presStyleIdx="1" presStyleCnt="6">
        <dgm:presLayoutVars>
          <dgm:bulletEnabled val="1"/>
        </dgm:presLayoutVars>
      </dgm:prSet>
      <dgm:spPr/>
    </dgm:pt>
    <dgm:pt modelId="{D9FC87E5-E851-4B90-A631-B35942377687}" type="pres">
      <dgm:prSet presAssocID="{0B113695-31A9-467E-B0A9-F3D12641D78D}" presName="sibTrans" presStyleCnt="0"/>
      <dgm:spPr/>
    </dgm:pt>
    <dgm:pt modelId="{4FE40F8D-C1F4-42BD-A3EC-DBFF6570D23D}" type="pres">
      <dgm:prSet presAssocID="{FE92F3E4-DEE3-4048-9C45-5076F7827227}" presName="node" presStyleLbl="node1" presStyleIdx="2" presStyleCnt="6">
        <dgm:presLayoutVars>
          <dgm:bulletEnabled val="1"/>
        </dgm:presLayoutVars>
      </dgm:prSet>
      <dgm:spPr/>
    </dgm:pt>
    <dgm:pt modelId="{62323931-122A-4873-B488-BEFF7F863323}" type="pres">
      <dgm:prSet presAssocID="{3758BED5-93EE-401D-A13A-03190CE9EE06}" presName="sibTrans" presStyleCnt="0"/>
      <dgm:spPr/>
    </dgm:pt>
    <dgm:pt modelId="{C29AB75E-64A2-4A97-BD5C-236A63E558B6}" type="pres">
      <dgm:prSet presAssocID="{0629FFC5-2408-435D-A579-9F75F8474EC2}" presName="node" presStyleLbl="node1" presStyleIdx="3" presStyleCnt="6">
        <dgm:presLayoutVars>
          <dgm:bulletEnabled val="1"/>
        </dgm:presLayoutVars>
      </dgm:prSet>
      <dgm:spPr/>
    </dgm:pt>
    <dgm:pt modelId="{4851FE92-9993-46E1-84FF-2437E5DF2094}" type="pres">
      <dgm:prSet presAssocID="{1F9C0F63-C964-4185-99ED-BF811F8762E3}" presName="sibTrans" presStyleCnt="0"/>
      <dgm:spPr/>
    </dgm:pt>
    <dgm:pt modelId="{A76D4544-3BE6-40A4-9655-39B5D9BE3FE5}" type="pres">
      <dgm:prSet presAssocID="{C7FE8554-DE33-4C3B-978E-156E7E51F657}" presName="node" presStyleLbl="node1" presStyleIdx="4" presStyleCnt="6">
        <dgm:presLayoutVars>
          <dgm:bulletEnabled val="1"/>
        </dgm:presLayoutVars>
      </dgm:prSet>
      <dgm:spPr/>
    </dgm:pt>
    <dgm:pt modelId="{FF7B0B60-602E-46E6-8D46-83830DD3BDA4}" type="pres">
      <dgm:prSet presAssocID="{3F223545-1661-4FFC-97FC-3A612DF467AF}" presName="sibTrans" presStyleCnt="0"/>
      <dgm:spPr/>
    </dgm:pt>
    <dgm:pt modelId="{920F2B6D-6711-451D-BCBC-CC3AF1C749DA}" type="pres">
      <dgm:prSet presAssocID="{DE4687F2-A5B3-4DA1-9EBC-A2D1ADA76C68}" presName="node" presStyleLbl="node1" presStyleIdx="5" presStyleCnt="6">
        <dgm:presLayoutVars>
          <dgm:bulletEnabled val="1"/>
        </dgm:presLayoutVars>
      </dgm:prSet>
      <dgm:spPr/>
    </dgm:pt>
  </dgm:ptLst>
  <dgm:cxnLst>
    <dgm:cxn modelId="{3F65EB08-B53D-405B-820E-C6C7E75DBF8D}" srcId="{8CF5ABB2-8E49-4018-A847-30F24C0E05D1}" destId="{0629FFC5-2408-435D-A579-9F75F8474EC2}" srcOrd="3" destOrd="0" parTransId="{61869354-8586-4F01-A3DC-48387A3107AE}" sibTransId="{1F9C0F63-C964-4185-99ED-BF811F8762E3}"/>
    <dgm:cxn modelId="{2EB5951A-E1EE-4991-9ABA-1D13208BF1B9}" srcId="{8CF5ABB2-8E49-4018-A847-30F24C0E05D1}" destId="{0E169D5D-DD6B-4C34-AD49-C3DBB678312C}" srcOrd="1" destOrd="0" parTransId="{444691B4-7FA5-44F9-9A42-14D2C35B67E5}" sibTransId="{0B113695-31A9-467E-B0A9-F3D12641D78D}"/>
    <dgm:cxn modelId="{4C09D11A-CDA9-4B1D-8FFB-F39DC3C0FC7C}" type="presOf" srcId="{FE92F3E4-DEE3-4048-9C45-5076F7827227}" destId="{4FE40F8D-C1F4-42BD-A3EC-DBFF6570D23D}" srcOrd="0" destOrd="0" presId="urn:microsoft.com/office/officeart/2005/8/layout/default"/>
    <dgm:cxn modelId="{46490625-95A3-4A63-B000-4F1896206F03}" type="presOf" srcId="{8CF5ABB2-8E49-4018-A847-30F24C0E05D1}" destId="{8A1F0280-71B7-4893-8E26-3B4BB98EEFAE}" srcOrd="0" destOrd="0" presId="urn:microsoft.com/office/officeart/2005/8/layout/default"/>
    <dgm:cxn modelId="{60279826-25C5-4A2A-A800-58A13F74A6AC}" srcId="{FE92F3E4-DEE3-4048-9C45-5076F7827227}" destId="{C697B86F-78B5-4FAB-A091-24E5708655D4}" srcOrd="1" destOrd="0" parTransId="{73A27280-046D-4F78-8380-7A070D898E65}" sibTransId="{C88D3086-5164-4A3E-A16F-7670E4BB3224}"/>
    <dgm:cxn modelId="{DB333627-790C-4157-9279-6272262491B5}" srcId="{FE92F3E4-DEE3-4048-9C45-5076F7827227}" destId="{9F7D8B0D-6771-4E98-8E41-74FDBFE78128}" srcOrd="0" destOrd="0" parTransId="{B99A02E4-D63F-466E-987C-B85BB457976B}" sibTransId="{83BE7BC7-EBD3-44B1-8B76-AD4833243A5C}"/>
    <dgm:cxn modelId="{D16E102B-C6FD-45FA-B03C-E4D012E141B3}" type="presOf" srcId="{4ABBCA1D-C147-4AEA-B387-5B270E1191A4}" destId="{F032B306-D424-4AA4-BD10-8C8AA5A948E2}" srcOrd="0" destOrd="1" presId="urn:microsoft.com/office/officeart/2005/8/layout/default"/>
    <dgm:cxn modelId="{0AC59E39-0C8B-4E22-B8DA-E76B3FFA84B9}" type="presOf" srcId="{06FFF57A-8E56-45BE-9461-1FF1BE2244F9}" destId="{C29AB75E-64A2-4A97-BD5C-236A63E558B6}" srcOrd="0" destOrd="1" presId="urn:microsoft.com/office/officeart/2005/8/layout/default"/>
    <dgm:cxn modelId="{74A88261-2B81-4C3A-9300-0BC98E4179D5}" type="presOf" srcId="{128AD7D5-A02E-4215-AA57-AFF2421A95F0}" destId="{7B9693D1-D350-40E2-8A6E-B439ADFDB333}" srcOrd="0" destOrd="0" presId="urn:microsoft.com/office/officeart/2005/8/layout/default"/>
    <dgm:cxn modelId="{7505AA42-ABA1-48BC-A202-07BF798143E4}" srcId="{128AD7D5-A02E-4215-AA57-AFF2421A95F0}" destId="{045BA391-9A57-43C9-A72E-562BFC39ED60}" srcOrd="0" destOrd="0" parTransId="{4D903A7B-8CE1-45DE-9638-43F927AFB1EA}" sibTransId="{DB76368F-988B-4B37-9207-034AD0490C81}"/>
    <dgm:cxn modelId="{71105064-F66E-4437-95D0-571A5EC2207F}" srcId="{8CF5ABB2-8E49-4018-A847-30F24C0E05D1}" destId="{128AD7D5-A02E-4215-AA57-AFF2421A95F0}" srcOrd="0" destOrd="0" parTransId="{A19E7766-DF00-4927-98C5-5EF927F63251}" sibTransId="{1234CC36-5D2B-45D1-8875-43E49814E170}"/>
    <dgm:cxn modelId="{1BB6E145-B013-4DBE-92FA-5DC4F0DC687D}" type="presOf" srcId="{9F7D8B0D-6771-4E98-8E41-74FDBFE78128}" destId="{4FE40F8D-C1F4-42BD-A3EC-DBFF6570D23D}" srcOrd="0" destOrd="1" presId="urn:microsoft.com/office/officeart/2005/8/layout/default"/>
    <dgm:cxn modelId="{92C3DE47-46D9-450F-B264-7D00FCF4ABA2}" type="presOf" srcId="{3670A21C-3ADE-4AFA-9FAB-AAB7A8EF6C04}" destId="{920F2B6D-6711-451D-BCBC-CC3AF1C749DA}" srcOrd="0" destOrd="1" presId="urn:microsoft.com/office/officeart/2005/8/layout/default"/>
    <dgm:cxn modelId="{CB417369-041C-48F7-98E0-0CC9627EC6A3}" srcId="{0E169D5D-DD6B-4C34-AD49-C3DBB678312C}" destId="{4ABBCA1D-C147-4AEA-B387-5B270E1191A4}" srcOrd="0" destOrd="0" parTransId="{5E1160DD-C090-4F30-841E-68BE315A3A73}" sibTransId="{E0B47D3C-D67C-4248-AD57-9951FB4C5885}"/>
    <dgm:cxn modelId="{D4096B4C-34F1-4FFA-BEFC-5B4A26B269A2}" type="presOf" srcId="{045BA391-9A57-43C9-A72E-562BFC39ED60}" destId="{7B9693D1-D350-40E2-8A6E-B439ADFDB333}" srcOrd="0" destOrd="1" presId="urn:microsoft.com/office/officeart/2005/8/layout/default"/>
    <dgm:cxn modelId="{4F9F9C56-D96F-4763-8BB8-7E1FCEE27524}" type="presOf" srcId="{6E88B103-B26F-411D-83DF-AB47E85D26FC}" destId="{A76D4544-3BE6-40A4-9655-39B5D9BE3FE5}" srcOrd="0" destOrd="1" presId="urn:microsoft.com/office/officeart/2005/8/layout/default"/>
    <dgm:cxn modelId="{2AE29285-CC2E-44A4-B6FB-A7B008B80AA7}" type="presOf" srcId="{C7FE8554-DE33-4C3B-978E-156E7E51F657}" destId="{A76D4544-3BE6-40A4-9655-39B5D9BE3FE5}" srcOrd="0" destOrd="0" presId="urn:microsoft.com/office/officeart/2005/8/layout/default"/>
    <dgm:cxn modelId="{9D9EFE8F-36B6-4DC5-AE85-9FACFB76B0CC}" type="presOf" srcId="{DE4687F2-A5B3-4DA1-9EBC-A2D1ADA76C68}" destId="{920F2B6D-6711-451D-BCBC-CC3AF1C749DA}" srcOrd="0" destOrd="0" presId="urn:microsoft.com/office/officeart/2005/8/layout/default"/>
    <dgm:cxn modelId="{1552DDA3-298C-4C52-8FFB-1153058251DD}" type="presOf" srcId="{0629FFC5-2408-435D-A579-9F75F8474EC2}" destId="{C29AB75E-64A2-4A97-BD5C-236A63E558B6}" srcOrd="0" destOrd="0" presId="urn:microsoft.com/office/officeart/2005/8/layout/default"/>
    <dgm:cxn modelId="{898668A7-81E7-4916-99AB-CFB74EA54E89}" srcId="{8CF5ABB2-8E49-4018-A847-30F24C0E05D1}" destId="{C7FE8554-DE33-4C3B-978E-156E7E51F657}" srcOrd="4" destOrd="0" parTransId="{F131CBFC-D20C-45DD-B5C9-06F925793312}" sibTransId="{3F223545-1661-4FFC-97FC-3A612DF467AF}"/>
    <dgm:cxn modelId="{D33295A8-4D5C-4D1F-BCD9-6F44DB2AC003}" type="presOf" srcId="{C697B86F-78B5-4FAB-A091-24E5708655D4}" destId="{4FE40F8D-C1F4-42BD-A3EC-DBFF6570D23D}" srcOrd="0" destOrd="2" presId="urn:microsoft.com/office/officeart/2005/8/layout/default"/>
    <dgm:cxn modelId="{4AF528A9-57B2-4382-8F6C-B308FC45A55A}" srcId="{8CF5ABB2-8E49-4018-A847-30F24C0E05D1}" destId="{DE4687F2-A5B3-4DA1-9EBC-A2D1ADA76C68}" srcOrd="5" destOrd="0" parTransId="{6EA0EC2F-3D38-41C5-9D3B-BB5BEB17B069}" sibTransId="{6FF4F97B-1B2B-415D-BB04-0E00B58A2723}"/>
    <dgm:cxn modelId="{316145B1-A508-467E-9E83-BB0817FC89E7}" type="presOf" srcId="{0E169D5D-DD6B-4C34-AD49-C3DBB678312C}" destId="{F032B306-D424-4AA4-BD10-8C8AA5A948E2}" srcOrd="0" destOrd="0" presId="urn:microsoft.com/office/officeart/2005/8/layout/default"/>
    <dgm:cxn modelId="{425876B9-21AA-47F2-BA94-AA9FA4B1AAFC}" srcId="{0629FFC5-2408-435D-A579-9F75F8474EC2}" destId="{06FFF57A-8E56-45BE-9461-1FF1BE2244F9}" srcOrd="0" destOrd="0" parTransId="{02F02E03-436B-4D16-AA2D-DDC2A417C083}" sibTransId="{BC8D7038-1BAA-4F3D-B681-DB11616C5EE6}"/>
    <dgm:cxn modelId="{9BDFFDBD-7B43-47F8-AE84-D13E5939FD3A}" srcId="{8CF5ABB2-8E49-4018-A847-30F24C0E05D1}" destId="{FE92F3E4-DEE3-4048-9C45-5076F7827227}" srcOrd="2" destOrd="0" parTransId="{267006F2-37E3-4813-A39E-5B66D24A4E1A}" sibTransId="{3758BED5-93EE-401D-A13A-03190CE9EE06}"/>
    <dgm:cxn modelId="{840DC5DE-A9B0-4187-A82E-88E9D2EB781B}" srcId="{C7FE8554-DE33-4C3B-978E-156E7E51F657}" destId="{6E88B103-B26F-411D-83DF-AB47E85D26FC}" srcOrd="0" destOrd="0" parTransId="{10AE821B-C59D-4099-81F0-D911BDE5D6DC}" sibTransId="{77E4D19B-2113-4117-A62E-3B62C69E6949}"/>
    <dgm:cxn modelId="{F2574BF5-A20E-48D7-BC9F-6C128E13F37A}" srcId="{DE4687F2-A5B3-4DA1-9EBC-A2D1ADA76C68}" destId="{3670A21C-3ADE-4AFA-9FAB-AAB7A8EF6C04}" srcOrd="0" destOrd="0" parTransId="{6B80BBB1-AA10-4551-B1BC-2C71E6F2DA84}" sibTransId="{A0D9275C-FA65-438D-9C91-1F64FB44CE7D}"/>
    <dgm:cxn modelId="{6269A43F-99B5-469E-B62E-689F1266F0C2}" type="presParOf" srcId="{8A1F0280-71B7-4893-8E26-3B4BB98EEFAE}" destId="{7B9693D1-D350-40E2-8A6E-B439ADFDB333}" srcOrd="0" destOrd="0" presId="urn:microsoft.com/office/officeart/2005/8/layout/default"/>
    <dgm:cxn modelId="{5B3C5BB6-27AD-4BF9-8B86-12F1131C7BDC}" type="presParOf" srcId="{8A1F0280-71B7-4893-8E26-3B4BB98EEFAE}" destId="{D7897CA7-D2D5-4A91-AC5A-6598B8ADD58E}" srcOrd="1" destOrd="0" presId="urn:microsoft.com/office/officeart/2005/8/layout/default"/>
    <dgm:cxn modelId="{565901F7-6590-42A5-8121-D3396FB73F15}" type="presParOf" srcId="{8A1F0280-71B7-4893-8E26-3B4BB98EEFAE}" destId="{F032B306-D424-4AA4-BD10-8C8AA5A948E2}" srcOrd="2" destOrd="0" presId="urn:microsoft.com/office/officeart/2005/8/layout/default"/>
    <dgm:cxn modelId="{F93DAD2A-629E-45FF-A1A7-AC22788C6C06}" type="presParOf" srcId="{8A1F0280-71B7-4893-8E26-3B4BB98EEFAE}" destId="{D9FC87E5-E851-4B90-A631-B35942377687}" srcOrd="3" destOrd="0" presId="urn:microsoft.com/office/officeart/2005/8/layout/default"/>
    <dgm:cxn modelId="{760FC2A6-DEC9-4641-A498-D2057C0BB5C9}" type="presParOf" srcId="{8A1F0280-71B7-4893-8E26-3B4BB98EEFAE}" destId="{4FE40F8D-C1F4-42BD-A3EC-DBFF6570D23D}" srcOrd="4" destOrd="0" presId="urn:microsoft.com/office/officeart/2005/8/layout/default"/>
    <dgm:cxn modelId="{F107801F-490F-45F0-BCB5-9B77961F1A00}" type="presParOf" srcId="{8A1F0280-71B7-4893-8E26-3B4BB98EEFAE}" destId="{62323931-122A-4873-B488-BEFF7F863323}" srcOrd="5" destOrd="0" presId="urn:microsoft.com/office/officeart/2005/8/layout/default"/>
    <dgm:cxn modelId="{AE5C1E66-BF3A-4E5B-BFF5-B34C9D05BC3D}" type="presParOf" srcId="{8A1F0280-71B7-4893-8E26-3B4BB98EEFAE}" destId="{C29AB75E-64A2-4A97-BD5C-236A63E558B6}" srcOrd="6" destOrd="0" presId="urn:microsoft.com/office/officeart/2005/8/layout/default"/>
    <dgm:cxn modelId="{3A538762-0EF7-4D60-8524-26F59F7A7F3B}" type="presParOf" srcId="{8A1F0280-71B7-4893-8E26-3B4BB98EEFAE}" destId="{4851FE92-9993-46E1-84FF-2437E5DF2094}" srcOrd="7" destOrd="0" presId="urn:microsoft.com/office/officeart/2005/8/layout/default"/>
    <dgm:cxn modelId="{D48CBB55-1583-4A2E-8693-73829B5C6856}" type="presParOf" srcId="{8A1F0280-71B7-4893-8E26-3B4BB98EEFAE}" destId="{A76D4544-3BE6-40A4-9655-39B5D9BE3FE5}" srcOrd="8" destOrd="0" presId="urn:microsoft.com/office/officeart/2005/8/layout/default"/>
    <dgm:cxn modelId="{B01899B3-D464-48B3-92BF-7047862D49A3}" type="presParOf" srcId="{8A1F0280-71B7-4893-8E26-3B4BB98EEFAE}" destId="{FF7B0B60-602E-46E6-8D46-83830DD3BDA4}" srcOrd="9" destOrd="0" presId="urn:microsoft.com/office/officeart/2005/8/layout/default"/>
    <dgm:cxn modelId="{C5E9C8C1-CED3-4CDE-9C70-398C2017EA04}" type="presParOf" srcId="{8A1F0280-71B7-4893-8E26-3B4BB98EEFAE}" destId="{920F2B6D-6711-451D-BCBC-CC3AF1C749DA}"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CF5ABB2-8E49-4018-A847-30F24C0E05D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9752E1D0-86F1-468D-8941-6F613A049E0D}">
      <dgm:prSet/>
      <dgm:spPr>
        <a:solidFill>
          <a:schemeClr val="bg1">
            <a:lumMod val="50000"/>
          </a:schemeClr>
        </a:solidFill>
      </dgm:spPr>
      <dgm:t>
        <a:bodyPr/>
        <a:lstStyle/>
        <a:p>
          <a:pPr>
            <a:buNone/>
          </a:pPr>
          <a:r>
            <a:rPr lang="en-US" b="1"/>
            <a:t>Zero-Shot</a:t>
          </a:r>
          <a:endParaRPr lang="en-US"/>
        </a:p>
      </dgm:t>
    </dgm:pt>
    <dgm:pt modelId="{7BEB7D5E-F42B-472D-B968-444D895E4AA3}" type="parTrans" cxnId="{BB27B25F-044A-4072-93B4-1B3DF35F62CF}">
      <dgm:prSet/>
      <dgm:spPr/>
      <dgm:t>
        <a:bodyPr/>
        <a:lstStyle/>
        <a:p>
          <a:endParaRPr lang="en-US"/>
        </a:p>
      </dgm:t>
    </dgm:pt>
    <dgm:pt modelId="{1261D2C1-05E6-4867-B1F3-C42720991E38}" type="sibTrans" cxnId="{BB27B25F-044A-4072-93B4-1B3DF35F62CF}">
      <dgm:prSet/>
      <dgm:spPr/>
      <dgm:t>
        <a:bodyPr/>
        <a:lstStyle/>
        <a:p>
          <a:endParaRPr lang="en-US"/>
        </a:p>
      </dgm:t>
    </dgm:pt>
    <dgm:pt modelId="{D9C1EA22-8803-41F0-9CDE-D9D02F32F354}">
      <dgm:prSet/>
      <dgm:spPr>
        <a:solidFill>
          <a:schemeClr val="bg1">
            <a:lumMod val="50000"/>
          </a:schemeClr>
        </a:solidFill>
      </dgm:spPr>
      <dgm:t>
        <a:bodyPr/>
        <a:lstStyle/>
        <a:p>
          <a:pPr>
            <a:buFont typeface="Arial" panose="020B0604020202020204" pitchFamily="34" charset="0"/>
            <a:buChar char="•"/>
          </a:pPr>
          <a:r>
            <a:rPr lang="en-US" dirty="0"/>
            <a:t>Use when you want a quick read on “what’s in here?”</a:t>
          </a:r>
        </a:p>
      </dgm:t>
    </dgm:pt>
    <dgm:pt modelId="{73417C54-C7D7-4DA4-9ADA-51525A37464A}" type="parTrans" cxnId="{F45C72E0-8B1D-491A-9DD0-5F6178BD6645}">
      <dgm:prSet/>
      <dgm:spPr/>
      <dgm:t>
        <a:bodyPr/>
        <a:lstStyle/>
        <a:p>
          <a:endParaRPr lang="en-US"/>
        </a:p>
      </dgm:t>
    </dgm:pt>
    <dgm:pt modelId="{439C1FAB-9BDB-41F4-A830-BFBA61F5B51D}" type="sibTrans" cxnId="{F45C72E0-8B1D-491A-9DD0-5F6178BD6645}">
      <dgm:prSet/>
      <dgm:spPr/>
      <dgm:t>
        <a:bodyPr/>
        <a:lstStyle/>
        <a:p>
          <a:endParaRPr lang="en-US"/>
        </a:p>
      </dgm:t>
    </dgm:pt>
    <dgm:pt modelId="{5309C820-AB49-46A8-B7D7-6A0FCC87245D}">
      <dgm:prSet/>
      <dgm:spPr>
        <a:solidFill>
          <a:schemeClr val="bg1">
            <a:lumMod val="50000"/>
          </a:schemeClr>
        </a:solidFill>
      </dgm:spPr>
      <dgm:t>
        <a:bodyPr/>
        <a:lstStyle/>
        <a:p>
          <a:pPr>
            <a:buFont typeface="Arial" panose="020B0604020202020204" pitchFamily="34" charset="0"/>
            <a:buChar char="•"/>
          </a:pPr>
          <a:r>
            <a:rPr lang="en-US" dirty="0"/>
            <a:t>Great for early exploration or gut-check summaries</a:t>
          </a:r>
        </a:p>
      </dgm:t>
    </dgm:pt>
    <dgm:pt modelId="{8740B3F1-BDE0-480E-9B93-BDCD0FFC6D41}" type="parTrans" cxnId="{07BCEB53-3714-43A6-B757-F522812798A9}">
      <dgm:prSet/>
      <dgm:spPr/>
      <dgm:t>
        <a:bodyPr/>
        <a:lstStyle/>
        <a:p>
          <a:endParaRPr lang="en-US"/>
        </a:p>
      </dgm:t>
    </dgm:pt>
    <dgm:pt modelId="{E0F6B3E5-FB27-4ECC-84E7-2512FAEDDD75}" type="sibTrans" cxnId="{07BCEB53-3714-43A6-B757-F522812798A9}">
      <dgm:prSet/>
      <dgm:spPr/>
      <dgm:t>
        <a:bodyPr/>
        <a:lstStyle/>
        <a:p>
          <a:endParaRPr lang="en-US"/>
        </a:p>
      </dgm:t>
    </dgm:pt>
    <dgm:pt modelId="{AF4D66AB-C7BF-4EEA-A447-A5EAB6512EB3}">
      <dgm:prSet/>
      <dgm:spPr>
        <a:solidFill>
          <a:schemeClr val="bg1">
            <a:lumMod val="50000"/>
          </a:schemeClr>
        </a:solidFill>
      </dgm:spPr>
      <dgm:t>
        <a:bodyPr/>
        <a:lstStyle/>
        <a:p>
          <a:pPr>
            <a:buNone/>
          </a:pPr>
          <a:r>
            <a:rPr lang="en-US" b="1"/>
            <a:t>One-Shot</a:t>
          </a:r>
          <a:endParaRPr lang="en-US"/>
        </a:p>
      </dgm:t>
    </dgm:pt>
    <dgm:pt modelId="{F8F313F4-DF31-42C5-A2F8-D59595AB4CA5}" type="parTrans" cxnId="{31E23F6F-A3FA-42D9-A714-A8B60B70B3E7}">
      <dgm:prSet/>
      <dgm:spPr/>
      <dgm:t>
        <a:bodyPr/>
        <a:lstStyle/>
        <a:p>
          <a:endParaRPr lang="en-US"/>
        </a:p>
      </dgm:t>
    </dgm:pt>
    <dgm:pt modelId="{46725BE7-F6DE-4C68-A08C-1E15368D3BDF}" type="sibTrans" cxnId="{31E23F6F-A3FA-42D9-A714-A8B60B70B3E7}">
      <dgm:prSet/>
      <dgm:spPr/>
      <dgm:t>
        <a:bodyPr/>
        <a:lstStyle/>
        <a:p>
          <a:endParaRPr lang="en-US"/>
        </a:p>
      </dgm:t>
    </dgm:pt>
    <dgm:pt modelId="{2823EC01-4B41-4E07-9F60-8B3E4FC72775}">
      <dgm:prSet/>
      <dgm:spPr>
        <a:solidFill>
          <a:schemeClr val="bg1">
            <a:lumMod val="50000"/>
          </a:schemeClr>
        </a:solidFill>
      </dgm:spPr>
      <dgm:t>
        <a:bodyPr/>
        <a:lstStyle/>
        <a:p>
          <a:pPr>
            <a:buFont typeface="Arial" panose="020B0604020202020204" pitchFamily="34" charset="0"/>
            <a:buChar char="•"/>
          </a:pPr>
          <a:r>
            <a:rPr lang="en-US" dirty="0"/>
            <a:t>Give one example to match tone, style, or format</a:t>
          </a:r>
        </a:p>
      </dgm:t>
    </dgm:pt>
    <dgm:pt modelId="{CAB5871A-E93B-47C9-BE8C-AB1953742E69}" type="parTrans" cxnId="{A54169BF-0071-4E7D-91C7-F04F918BB75B}">
      <dgm:prSet/>
      <dgm:spPr/>
      <dgm:t>
        <a:bodyPr/>
        <a:lstStyle/>
        <a:p>
          <a:endParaRPr lang="en-US"/>
        </a:p>
      </dgm:t>
    </dgm:pt>
    <dgm:pt modelId="{E1FF08F0-6F36-4369-83A1-ED638DE131B3}" type="sibTrans" cxnId="{A54169BF-0071-4E7D-91C7-F04F918BB75B}">
      <dgm:prSet/>
      <dgm:spPr/>
      <dgm:t>
        <a:bodyPr/>
        <a:lstStyle/>
        <a:p>
          <a:endParaRPr lang="en-US"/>
        </a:p>
      </dgm:t>
    </dgm:pt>
    <dgm:pt modelId="{AA966776-33F0-41DA-AAB3-03DC5D947382}">
      <dgm:prSet/>
      <dgm:spPr>
        <a:solidFill>
          <a:schemeClr val="bg1">
            <a:lumMod val="50000"/>
          </a:schemeClr>
        </a:solidFill>
      </dgm:spPr>
      <dgm:t>
        <a:bodyPr/>
        <a:lstStyle/>
        <a:p>
          <a:pPr>
            <a:buFont typeface="Arial" panose="020B0604020202020204" pitchFamily="34" charset="0"/>
            <a:buChar char="•"/>
          </a:pPr>
          <a:r>
            <a:rPr lang="en-US" dirty="0"/>
            <a:t>Best for imitating a specific reporting voice</a:t>
          </a:r>
        </a:p>
      </dgm:t>
    </dgm:pt>
    <dgm:pt modelId="{49372BC1-4EE2-482A-869C-9EC9717D5138}" type="parTrans" cxnId="{05B5A130-DA9C-4866-B7EB-B03507C743B9}">
      <dgm:prSet/>
      <dgm:spPr/>
      <dgm:t>
        <a:bodyPr/>
        <a:lstStyle/>
        <a:p>
          <a:endParaRPr lang="en-US"/>
        </a:p>
      </dgm:t>
    </dgm:pt>
    <dgm:pt modelId="{2DF5093C-BCBA-48BE-9269-24637728A59B}" type="sibTrans" cxnId="{05B5A130-DA9C-4866-B7EB-B03507C743B9}">
      <dgm:prSet/>
      <dgm:spPr/>
      <dgm:t>
        <a:bodyPr/>
        <a:lstStyle/>
        <a:p>
          <a:endParaRPr lang="en-US"/>
        </a:p>
      </dgm:t>
    </dgm:pt>
    <dgm:pt modelId="{93CE6AC0-B7C4-402F-894F-DAF12FCEF7B5}">
      <dgm:prSet/>
      <dgm:spPr>
        <a:solidFill>
          <a:schemeClr val="bg1">
            <a:lumMod val="50000"/>
          </a:schemeClr>
        </a:solidFill>
      </dgm:spPr>
      <dgm:t>
        <a:bodyPr/>
        <a:lstStyle/>
        <a:p>
          <a:pPr>
            <a:buNone/>
          </a:pPr>
          <a:r>
            <a:rPr lang="en-US" b="1"/>
            <a:t>Few-Shot</a:t>
          </a:r>
          <a:endParaRPr lang="en-US"/>
        </a:p>
      </dgm:t>
    </dgm:pt>
    <dgm:pt modelId="{2F4033F3-9508-4F16-AA1A-39DC9FE49B2F}" type="parTrans" cxnId="{382233E1-A860-4D6E-8B6E-F9B0234C7670}">
      <dgm:prSet/>
      <dgm:spPr/>
      <dgm:t>
        <a:bodyPr/>
        <a:lstStyle/>
        <a:p>
          <a:endParaRPr lang="en-US"/>
        </a:p>
      </dgm:t>
    </dgm:pt>
    <dgm:pt modelId="{A9601926-5323-4A0E-9A52-8A54A58E5A85}" type="sibTrans" cxnId="{382233E1-A860-4D6E-8B6E-F9B0234C7670}">
      <dgm:prSet/>
      <dgm:spPr/>
      <dgm:t>
        <a:bodyPr/>
        <a:lstStyle/>
        <a:p>
          <a:endParaRPr lang="en-US"/>
        </a:p>
      </dgm:t>
    </dgm:pt>
    <dgm:pt modelId="{BA5B4E98-751A-4CEA-9093-34CEBA004EC4}">
      <dgm:prSet/>
      <dgm:spPr>
        <a:solidFill>
          <a:schemeClr val="bg1">
            <a:lumMod val="50000"/>
          </a:schemeClr>
        </a:solidFill>
      </dgm:spPr>
      <dgm:t>
        <a:bodyPr/>
        <a:lstStyle/>
        <a:p>
          <a:pPr>
            <a:buFont typeface="Arial" panose="020B0604020202020204" pitchFamily="34" charset="0"/>
            <a:buChar char="•"/>
          </a:pPr>
          <a:r>
            <a:rPr lang="en-US" dirty="0"/>
            <a:t>Provide 2–4 examples to lock in consistency</a:t>
          </a:r>
        </a:p>
      </dgm:t>
    </dgm:pt>
    <dgm:pt modelId="{78895492-F53D-4BE6-843C-CE84E731A88D}" type="parTrans" cxnId="{F9482C64-1F20-4413-A4B8-05ED76616D04}">
      <dgm:prSet/>
      <dgm:spPr/>
      <dgm:t>
        <a:bodyPr/>
        <a:lstStyle/>
        <a:p>
          <a:endParaRPr lang="en-US"/>
        </a:p>
      </dgm:t>
    </dgm:pt>
    <dgm:pt modelId="{547C9ACB-C1CA-41D7-B4F9-F6D72C0F75C8}" type="sibTrans" cxnId="{F9482C64-1F20-4413-A4B8-05ED76616D04}">
      <dgm:prSet/>
      <dgm:spPr/>
      <dgm:t>
        <a:bodyPr/>
        <a:lstStyle/>
        <a:p>
          <a:endParaRPr lang="en-US"/>
        </a:p>
      </dgm:t>
    </dgm:pt>
    <dgm:pt modelId="{504035A8-D8A0-42BA-ACCF-F76DBB30B32C}">
      <dgm:prSet/>
      <dgm:spPr>
        <a:solidFill>
          <a:schemeClr val="bg1">
            <a:lumMod val="50000"/>
          </a:schemeClr>
        </a:solidFill>
      </dgm:spPr>
      <dgm:t>
        <a:bodyPr/>
        <a:lstStyle/>
        <a:p>
          <a:pPr>
            <a:buFont typeface="Arial" panose="020B0604020202020204" pitchFamily="34" charset="0"/>
            <a:buChar char="•"/>
          </a:pPr>
          <a:r>
            <a:rPr lang="en-US" dirty="0"/>
            <a:t>Useful for standardizing team updates or recurring deliverables</a:t>
          </a:r>
        </a:p>
      </dgm:t>
    </dgm:pt>
    <dgm:pt modelId="{133084F4-D8D8-4278-BEB2-D2EBA7FFF8ED}" type="parTrans" cxnId="{BD06C4E8-ECB1-4E69-A765-C5C86C9E389C}">
      <dgm:prSet/>
      <dgm:spPr/>
      <dgm:t>
        <a:bodyPr/>
        <a:lstStyle/>
        <a:p>
          <a:endParaRPr lang="en-US"/>
        </a:p>
      </dgm:t>
    </dgm:pt>
    <dgm:pt modelId="{1D54753B-EFA5-4D11-A505-300DC6F35FB6}" type="sibTrans" cxnId="{BD06C4E8-ECB1-4E69-A765-C5C86C9E389C}">
      <dgm:prSet/>
      <dgm:spPr/>
      <dgm:t>
        <a:bodyPr/>
        <a:lstStyle/>
        <a:p>
          <a:endParaRPr lang="en-US"/>
        </a:p>
      </dgm:t>
    </dgm:pt>
    <dgm:pt modelId="{8F59454F-8DEB-4A18-8828-A420E152C55D}">
      <dgm:prSet/>
      <dgm:spPr>
        <a:solidFill>
          <a:schemeClr val="bg1">
            <a:lumMod val="50000"/>
          </a:schemeClr>
        </a:solidFill>
      </dgm:spPr>
      <dgm:t>
        <a:bodyPr/>
        <a:lstStyle/>
        <a:p>
          <a:pPr>
            <a:buNone/>
          </a:pPr>
          <a:r>
            <a:rPr lang="en-US" b="1"/>
            <a:t>Reasoning</a:t>
          </a:r>
          <a:endParaRPr lang="en-US"/>
        </a:p>
      </dgm:t>
    </dgm:pt>
    <dgm:pt modelId="{E5CD363D-8984-4847-88E1-DCEA2F29FC67}" type="parTrans" cxnId="{9CA6A3C8-A302-4453-8A3A-E873945A3B56}">
      <dgm:prSet/>
      <dgm:spPr/>
      <dgm:t>
        <a:bodyPr/>
        <a:lstStyle/>
        <a:p>
          <a:endParaRPr lang="en-US"/>
        </a:p>
      </dgm:t>
    </dgm:pt>
    <dgm:pt modelId="{316D498A-12A0-431A-8A4C-405B784B0826}" type="sibTrans" cxnId="{9CA6A3C8-A302-4453-8A3A-E873945A3B56}">
      <dgm:prSet/>
      <dgm:spPr/>
      <dgm:t>
        <a:bodyPr/>
        <a:lstStyle/>
        <a:p>
          <a:endParaRPr lang="en-US"/>
        </a:p>
      </dgm:t>
    </dgm:pt>
    <dgm:pt modelId="{BC3007D5-D340-42B1-9B82-91B9D5F82FB1}">
      <dgm:prSet/>
      <dgm:spPr>
        <a:solidFill>
          <a:schemeClr val="bg1">
            <a:lumMod val="50000"/>
          </a:schemeClr>
        </a:solidFill>
      </dgm:spPr>
      <dgm:t>
        <a:bodyPr/>
        <a:lstStyle/>
        <a:p>
          <a:pPr>
            <a:buFont typeface="Arial" panose="020B0604020202020204" pitchFamily="34" charset="0"/>
            <a:buChar char="•"/>
          </a:pPr>
          <a:r>
            <a:rPr lang="en-US" dirty="0"/>
            <a:t>Use when accuracy, traceability, or step-by-step logic matters</a:t>
          </a:r>
        </a:p>
      </dgm:t>
    </dgm:pt>
    <dgm:pt modelId="{8DA84E82-440D-40B7-9F20-A84DD055395D}" type="parTrans" cxnId="{5BC8444E-06F2-4349-AFDF-D041F05B69CC}">
      <dgm:prSet/>
      <dgm:spPr/>
      <dgm:t>
        <a:bodyPr/>
        <a:lstStyle/>
        <a:p>
          <a:endParaRPr lang="en-US"/>
        </a:p>
      </dgm:t>
    </dgm:pt>
    <dgm:pt modelId="{0697678C-6E19-43F0-9588-EF3F9F26C14F}" type="sibTrans" cxnId="{5BC8444E-06F2-4349-AFDF-D041F05B69CC}">
      <dgm:prSet/>
      <dgm:spPr/>
      <dgm:t>
        <a:bodyPr/>
        <a:lstStyle/>
        <a:p>
          <a:endParaRPr lang="en-US"/>
        </a:p>
      </dgm:t>
    </dgm:pt>
    <dgm:pt modelId="{C28B7946-0D17-4C25-829F-FF56EE812E48}">
      <dgm:prSet/>
      <dgm:spPr>
        <a:solidFill>
          <a:schemeClr val="bg1">
            <a:lumMod val="50000"/>
          </a:schemeClr>
        </a:solidFill>
      </dgm:spPr>
      <dgm:t>
        <a:bodyPr/>
        <a:lstStyle/>
        <a:p>
          <a:pPr>
            <a:buFont typeface="Arial" panose="020B0604020202020204" pitchFamily="34" charset="0"/>
            <a:buChar char="•"/>
          </a:pPr>
          <a:r>
            <a:rPr lang="en-US" dirty="0"/>
            <a:t>Ideal for anything that needs auditability</a:t>
          </a:r>
        </a:p>
      </dgm:t>
    </dgm:pt>
    <dgm:pt modelId="{3DCD5671-1BB0-40FB-B629-2466ABC5991A}" type="parTrans" cxnId="{4BA47988-3220-48D8-A6D0-E8FF3FF1B82F}">
      <dgm:prSet/>
      <dgm:spPr/>
      <dgm:t>
        <a:bodyPr/>
        <a:lstStyle/>
        <a:p>
          <a:endParaRPr lang="en-US"/>
        </a:p>
      </dgm:t>
    </dgm:pt>
    <dgm:pt modelId="{C0544F2A-A91C-4732-B7B8-59F2B6E791E3}" type="sibTrans" cxnId="{4BA47988-3220-48D8-A6D0-E8FF3FF1B82F}">
      <dgm:prSet/>
      <dgm:spPr/>
      <dgm:t>
        <a:bodyPr/>
        <a:lstStyle/>
        <a:p>
          <a:endParaRPr lang="en-US"/>
        </a:p>
      </dgm:t>
    </dgm:pt>
    <dgm:pt modelId="{BC6A7339-CCA8-478A-850F-AA17C757041A}">
      <dgm:prSet/>
      <dgm:spPr>
        <a:solidFill>
          <a:schemeClr val="bg1">
            <a:lumMod val="50000"/>
          </a:schemeClr>
        </a:solidFill>
      </dgm:spPr>
      <dgm:t>
        <a:bodyPr/>
        <a:lstStyle/>
        <a:p>
          <a:pPr>
            <a:buNone/>
          </a:pPr>
          <a:r>
            <a:rPr lang="en-US" b="1"/>
            <a:t>Chained</a:t>
          </a:r>
          <a:endParaRPr lang="en-US"/>
        </a:p>
      </dgm:t>
    </dgm:pt>
    <dgm:pt modelId="{F1B717AF-BE5E-4BE7-B386-96EE0C7EF906}" type="parTrans" cxnId="{C9B57738-0DAD-4422-949F-F72AD61FB631}">
      <dgm:prSet/>
      <dgm:spPr/>
      <dgm:t>
        <a:bodyPr/>
        <a:lstStyle/>
        <a:p>
          <a:endParaRPr lang="en-US"/>
        </a:p>
      </dgm:t>
    </dgm:pt>
    <dgm:pt modelId="{5E679B9F-1AB6-455D-A640-CF74E5BF8606}" type="sibTrans" cxnId="{C9B57738-0DAD-4422-949F-F72AD61FB631}">
      <dgm:prSet/>
      <dgm:spPr/>
      <dgm:t>
        <a:bodyPr/>
        <a:lstStyle/>
        <a:p>
          <a:endParaRPr lang="en-US"/>
        </a:p>
      </dgm:t>
    </dgm:pt>
    <dgm:pt modelId="{F2011EE5-21B9-4595-ACE0-7468AF191353}">
      <dgm:prSet/>
      <dgm:spPr>
        <a:solidFill>
          <a:schemeClr val="bg1">
            <a:lumMod val="50000"/>
          </a:schemeClr>
        </a:solidFill>
      </dgm:spPr>
      <dgm:t>
        <a:bodyPr/>
        <a:lstStyle/>
        <a:p>
          <a:pPr>
            <a:buFont typeface="Arial" panose="020B0604020202020204" pitchFamily="34" charset="0"/>
            <a:buChar char="•"/>
          </a:pPr>
          <a:r>
            <a:rPr lang="en-US" dirty="0"/>
            <a:t>Break a task into deliberate steps</a:t>
          </a:r>
        </a:p>
      </dgm:t>
    </dgm:pt>
    <dgm:pt modelId="{894C4E39-F853-463C-9072-D5011F5E3741}" type="parTrans" cxnId="{41BFFF48-96C7-4C7F-A86B-B7EF13284690}">
      <dgm:prSet/>
      <dgm:spPr/>
      <dgm:t>
        <a:bodyPr/>
        <a:lstStyle/>
        <a:p>
          <a:endParaRPr lang="en-US"/>
        </a:p>
      </dgm:t>
    </dgm:pt>
    <dgm:pt modelId="{321C621A-4147-416D-8D94-8ADD5B878317}" type="sibTrans" cxnId="{41BFFF48-96C7-4C7F-A86B-B7EF13284690}">
      <dgm:prSet/>
      <dgm:spPr/>
      <dgm:t>
        <a:bodyPr/>
        <a:lstStyle/>
        <a:p>
          <a:endParaRPr lang="en-US"/>
        </a:p>
      </dgm:t>
    </dgm:pt>
    <dgm:pt modelId="{713F9837-6EC0-4192-84D5-6845485B21ED}">
      <dgm:prSet/>
      <dgm:spPr>
        <a:solidFill>
          <a:schemeClr val="bg1">
            <a:lumMod val="50000"/>
          </a:schemeClr>
        </a:solidFill>
      </dgm:spPr>
      <dgm:t>
        <a:bodyPr/>
        <a:lstStyle/>
        <a:p>
          <a:pPr>
            <a:buFont typeface="Arial" panose="020B0604020202020204" pitchFamily="34" charset="0"/>
            <a:buChar char="•"/>
          </a:pPr>
          <a:r>
            <a:rPr lang="en-US" dirty="0"/>
            <a:t>Great for multi-stage analysis or layered insights</a:t>
          </a:r>
        </a:p>
      </dgm:t>
    </dgm:pt>
    <dgm:pt modelId="{DE3BC229-83D3-4CE6-8CAE-1D105FB7C1FC}" type="parTrans" cxnId="{794141D0-5381-4BBA-AE77-6FEF9CE803BA}">
      <dgm:prSet/>
      <dgm:spPr/>
      <dgm:t>
        <a:bodyPr/>
        <a:lstStyle/>
        <a:p>
          <a:endParaRPr lang="en-US"/>
        </a:p>
      </dgm:t>
    </dgm:pt>
    <dgm:pt modelId="{4519BCBA-0FA3-4613-86FC-3322ECCC617D}" type="sibTrans" cxnId="{794141D0-5381-4BBA-AE77-6FEF9CE803BA}">
      <dgm:prSet/>
      <dgm:spPr/>
      <dgm:t>
        <a:bodyPr/>
        <a:lstStyle/>
        <a:p>
          <a:endParaRPr lang="en-US"/>
        </a:p>
      </dgm:t>
    </dgm:pt>
    <dgm:pt modelId="{B5EFB1B7-95CB-4643-94C7-DE236985778C}">
      <dgm:prSet/>
      <dgm:spPr>
        <a:solidFill>
          <a:schemeClr val="bg1">
            <a:lumMod val="50000"/>
          </a:schemeClr>
        </a:solidFill>
      </dgm:spPr>
      <dgm:t>
        <a:bodyPr/>
        <a:lstStyle/>
        <a:p>
          <a:pPr>
            <a:buNone/>
          </a:pPr>
          <a:r>
            <a:rPr lang="en-US" b="1"/>
            <a:t>Negative</a:t>
          </a:r>
          <a:endParaRPr lang="en-US"/>
        </a:p>
      </dgm:t>
    </dgm:pt>
    <dgm:pt modelId="{AEB6096D-90AC-4505-9F92-959D607FFCF8}" type="parTrans" cxnId="{36B14EDC-BCF7-4416-B92B-C2D8A0F6EC5F}">
      <dgm:prSet/>
      <dgm:spPr/>
      <dgm:t>
        <a:bodyPr/>
        <a:lstStyle/>
        <a:p>
          <a:endParaRPr lang="en-US"/>
        </a:p>
      </dgm:t>
    </dgm:pt>
    <dgm:pt modelId="{CB858FEB-0C2D-48C5-BDCF-21E1AF9CE555}" type="sibTrans" cxnId="{36B14EDC-BCF7-4416-B92B-C2D8A0F6EC5F}">
      <dgm:prSet/>
      <dgm:spPr/>
      <dgm:t>
        <a:bodyPr/>
        <a:lstStyle/>
        <a:p>
          <a:endParaRPr lang="en-US"/>
        </a:p>
      </dgm:t>
    </dgm:pt>
    <dgm:pt modelId="{08D221CE-FB80-4D0B-82A7-D890C2E12427}">
      <dgm:prSet/>
      <dgm:spPr>
        <a:solidFill>
          <a:schemeClr val="bg1">
            <a:lumMod val="50000"/>
          </a:schemeClr>
        </a:solidFill>
      </dgm:spPr>
      <dgm:t>
        <a:bodyPr/>
        <a:lstStyle/>
        <a:p>
          <a:pPr>
            <a:buFont typeface="Arial" panose="020B0604020202020204" pitchFamily="34" charset="0"/>
            <a:buChar char="•"/>
          </a:pPr>
          <a:r>
            <a:rPr lang="en-US" dirty="0"/>
            <a:t>Tell the model what </a:t>
          </a:r>
          <a:r>
            <a:rPr lang="en-US" i="1" dirty="0"/>
            <a:t>not</a:t>
          </a:r>
          <a:r>
            <a:rPr lang="en-US" dirty="0"/>
            <a:t> to do</a:t>
          </a:r>
        </a:p>
      </dgm:t>
    </dgm:pt>
    <dgm:pt modelId="{F8BEC7B4-7F23-4174-B65C-6A8A6DA9CC15}" type="parTrans" cxnId="{E4F4C264-B517-4A8D-A562-3AE0AD369BD7}">
      <dgm:prSet/>
      <dgm:spPr/>
      <dgm:t>
        <a:bodyPr/>
        <a:lstStyle/>
        <a:p>
          <a:endParaRPr lang="en-US"/>
        </a:p>
      </dgm:t>
    </dgm:pt>
    <dgm:pt modelId="{46B00E96-8D5E-4705-A663-F1C6952957A2}" type="sibTrans" cxnId="{E4F4C264-B517-4A8D-A562-3AE0AD369BD7}">
      <dgm:prSet/>
      <dgm:spPr/>
      <dgm:t>
        <a:bodyPr/>
        <a:lstStyle/>
        <a:p>
          <a:endParaRPr lang="en-US"/>
        </a:p>
      </dgm:t>
    </dgm:pt>
    <dgm:pt modelId="{AF779444-3C0F-4A7E-8A13-A78D5FEEDDB3}">
      <dgm:prSet/>
      <dgm:spPr>
        <a:solidFill>
          <a:schemeClr val="bg1">
            <a:lumMod val="50000"/>
          </a:schemeClr>
        </a:solidFill>
      </dgm:spPr>
      <dgm:t>
        <a:bodyPr/>
        <a:lstStyle/>
        <a:p>
          <a:pPr>
            <a:buFont typeface="Arial" panose="020B0604020202020204" pitchFamily="34" charset="0"/>
            <a:buChar char="•"/>
          </a:pPr>
          <a:r>
            <a:rPr lang="en-US" dirty="0"/>
            <a:t>Important for compliance, neutrality, or risk-sensitive content</a:t>
          </a:r>
        </a:p>
      </dgm:t>
    </dgm:pt>
    <dgm:pt modelId="{7ECEEDD9-E3D6-4832-8CF6-0F90AAC6C6AD}" type="parTrans" cxnId="{30441394-9B63-4D93-B4BC-74C6835C3383}">
      <dgm:prSet/>
      <dgm:spPr/>
      <dgm:t>
        <a:bodyPr/>
        <a:lstStyle/>
        <a:p>
          <a:endParaRPr lang="en-US"/>
        </a:p>
      </dgm:t>
    </dgm:pt>
    <dgm:pt modelId="{61A435A7-3D57-4018-9404-8B2354CAC21B}" type="sibTrans" cxnId="{30441394-9B63-4D93-B4BC-74C6835C3383}">
      <dgm:prSet/>
      <dgm:spPr/>
      <dgm:t>
        <a:bodyPr/>
        <a:lstStyle/>
        <a:p>
          <a:endParaRPr lang="en-US"/>
        </a:p>
      </dgm:t>
    </dgm:pt>
    <dgm:pt modelId="{8A1F0280-71B7-4893-8E26-3B4BB98EEFAE}" type="pres">
      <dgm:prSet presAssocID="{8CF5ABB2-8E49-4018-A847-30F24C0E05D1}" presName="diagram" presStyleCnt="0">
        <dgm:presLayoutVars>
          <dgm:dir/>
          <dgm:resizeHandles val="exact"/>
        </dgm:presLayoutVars>
      </dgm:prSet>
      <dgm:spPr/>
    </dgm:pt>
    <dgm:pt modelId="{BE3E069F-5BE5-4BC7-9445-19E42EF5702F}" type="pres">
      <dgm:prSet presAssocID="{9752E1D0-86F1-468D-8941-6F613A049E0D}" presName="node" presStyleLbl="node1" presStyleIdx="0" presStyleCnt="6">
        <dgm:presLayoutVars>
          <dgm:bulletEnabled val="1"/>
        </dgm:presLayoutVars>
      </dgm:prSet>
      <dgm:spPr/>
    </dgm:pt>
    <dgm:pt modelId="{9B9E6B1D-0E60-4D59-B204-E3D8B155B7FE}" type="pres">
      <dgm:prSet presAssocID="{1261D2C1-05E6-4867-B1F3-C42720991E38}" presName="sibTrans" presStyleCnt="0"/>
      <dgm:spPr/>
    </dgm:pt>
    <dgm:pt modelId="{97B698CB-7796-443D-BD64-73FD87CD45F1}" type="pres">
      <dgm:prSet presAssocID="{AF4D66AB-C7BF-4EEA-A447-A5EAB6512EB3}" presName="node" presStyleLbl="node1" presStyleIdx="1" presStyleCnt="6">
        <dgm:presLayoutVars>
          <dgm:bulletEnabled val="1"/>
        </dgm:presLayoutVars>
      </dgm:prSet>
      <dgm:spPr/>
    </dgm:pt>
    <dgm:pt modelId="{DC2EFA6C-DC81-481A-847E-381825EB1F14}" type="pres">
      <dgm:prSet presAssocID="{46725BE7-F6DE-4C68-A08C-1E15368D3BDF}" presName="sibTrans" presStyleCnt="0"/>
      <dgm:spPr/>
    </dgm:pt>
    <dgm:pt modelId="{A4829461-E8DB-497C-A56C-ADF350DC5EBD}" type="pres">
      <dgm:prSet presAssocID="{93CE6AC0-B7C4-402F-894F-DAF12FCEF7B5}" presName="node" presStyleLbl="node1" presStyleIdx="2" presStyleCnt="6">
        <dgm:presLayoutVars>
          <dgm:bulletEnabled val="1"/>
        </dgm:presLayoutVars>
      </dgm:prSet>
      <dgm:spPr/>
    </dgm:pt>
    <dgm:pt modelId="{52CCD4F4-2812-4B05-B544-930C1C0FBBE7}" type="pres">
      <dgm:prSet presAssocID="{A9601926-5323-4A0E-9A52-8A54A58E5A85}" presName="sibTrans" presStyleCnt="0"/>
      <dgm:spPr/>
    </dgm:pt>
    <dgm:pt modelId="{288775DA-3607-41BA-9DDF-EFB47C729A4B}" type="pres">
      <dgm:prSet presAssocID="{8F59454F-8DEB-4A18-8828-A420E152C55D}" presName="node" presStyleLbl="node1" presStyleIdx="3" presStyleCnt="6">
        <dgm:presLayoutVars>
          <dgm:bulletEnabled val="1"/>
        </dgm:presLayoutVars>
      </dgm:prSet>
      <dgm:spPr/>
    </dgm:pt>
    <dgm:pt modelId="{EF3719D2-B9B3-4A2E-A741-84F0D028AECB}" type="pres">
      <dgm:prSet presAssocID="{316D498A-12A0-431A-8A4C-405B784B0826}" presName="sibTrans" presStyleCnt="0"/>
      <dgm:spPr/>
    </dgm:pt>
    <dgm:pt modelId="{15179502-EFE8-43EB-9E13-FDD42D30EE60}" type="pres">
      <dgm:prSet presAssocID="{BC6A7339-CCA8-478A-850F-AA17C757041A}" presName="node" presStyleLbl="node1" presStyleIdx="4" presStyleCnt="6">
        <dgm:presLayoutVars>
          <dgm:bulletEnabled val="1"/>
        </dgm:presLayoutVars>
      </dgm:prSet>
      <dgm:spPr/>
    </dgm:pt>
    <dgm:pt modelId="{83D7D0FC-211C-4D68-AD15-B3E9D13C6D18}" type="pres">
      <dgm:prSet presAssocID="{5E679B9F-1AB6-455D-A640-CF74E5BF8606}" presName="sibTrans" presStyleCnt="0"/>
      <dgm:spPr/>
    </dgm:pt>
    <dgm:pt modelId="{89A7AEAD-F743-4608-830D-C8F4AD31921A}" type="pres">
      <dgm:prSet presAssocID="{B5EFB1B7-95CB-4643-94C7-DE236985778C}" presName="node" presStyleLbl="node1" presStyleIdx="5" presStyleCnt="6">
        <dgm:presLayoutVars>
          <dgm:bulletEnabled val="1"/>
        </dgm:presLayoutVars>
      </dgm:prSet>
      <dgm:spPr/>
    </dgm:pt>
  </dgm:ptLst>
  <dgm:cxnLst>
    <dgm:cxn modelId="{B2E50401-4888-46AA-8F29-2ECCFAFB7DD8}" type="presOf" srcId="{D9C1EA22-8803-41F0-9CDE-D9D02F32F354}" destId="{BE3E069F-5BE5-4BC7-9445-19E42EF5702F}" srcOrd="0" destOrd="1" presId="urn:microsoft.com/office/officeart/2005/8/layout/default"/>
    <dgm:cxn modelId="{46490625-95A3-4A63-B000-4F1896206F03}" type="presOf" srcId="{8CF5ABB2-8E49-4018-A847-30F24C0E05D1}" destId="{8A1F0280-71B7-4893-8E26-3B4BB98EEFAE}" srcOrd="0" destOrd="0" presId="urn:microsoft.com/office/officeart/2005/8/layout/default"/>
    <dgm:cxn modelId="{5347D326-8A82-448E-830F-ECD02322C7A4}" type="presOf" srcId="{F2011EE5-21B9-4595-ACE0-7468AF191353}" destId="{15179502-EFE8-43EB-9E13-FDD42D30EE60}" srcOrd="0" destOrd="1" presId="urn:microsoft.com/office/officeart/2005/8/layout/default"/>
    <dgm:cxn modelId="{006D512E-E522-4B66-A07E-DDCCBAD443DF}" type="presOf" srcId="{AF779444-3C0F-4A7E-8A13-A78D5FEEDDB3}" destId="{89A7AEAD-F743-4608-830D-C8F4AD31921A}" srcOrd="0" destOrd="2" presId="urn:microsoft.com/office/officeart/2005/8/layout/default"/>
    <dgm:cxn modelId="{05B5A130-DA9C-4866-B7EB-B03507C743B9}" srcId="{AF4D66AB-C7BF-4EEA-A447-A5EAB6512EB3}" destId="{AA966776-33F0-41DA-AAB3-03DC5D947382}" srcOrd="1" destOrd="0" parTransId="{49372BC1-4EE2-482A-869C-9EC9717D5138}" sibTransId="{2DF5093C-BCBA-48BE-9269-24637728A59B}"/>
    <dgm:cxn modelId="{512CD932-BC4B-457A-B4B2-4EF606D6EF17}" type="presOf" srcId="{C28B7946-0D17-4C25-829F-FF56EE812E48}" destId="{288775DA-3607-41BA-9DDF-EFB47C729A4B}" srcOrd="0" destOrd="2" presId="urn:microsoft.com/office/officeart/2005/8/layout/default"/>
    <dgm:cxn modelId="{C9B57738-0DAD-4422-949F-F72AD61FB631}" srcId="{8CF5ABB2-8E49-4018-A847-30F24C0E05D1}" destId="{BC6A7339-CCA8-478A-850F-AA17C757041A}" srcOrd="4" destOrd="0" parTransId="{F1B717AF-BE5E-4BE7-B386-96EE0C7EF906}" sibTransId="{5E679B9F-1AB6-455D-A640-CF74E5BF8606}"/>
    <dgm:cxn modelId="{9747CB3A-B3E1-43FE-A304-C5C2E0DA2A4A}" type="presOf" srcId="{93CE6AC0-B7C4-402F-894F-DAF12FCEF7B5}" destId="{A4829461-E8DB-497C-A56C-ADF350DC5EBD}" srcOrd="0" destOrd="0" presId="urn:microsoft.com/office/officeart/2005/8/layout/default"/>
    <dgm:cxn modelId="{BB27B25F-044A-4072-93B4-1B3DF35F62CF}" srcId="{8CF5ABB2-8E49-4018-A847-30F24C0E05D1}" destId="{9752E1D0-86F1-468D-8941-6F613A049E0D}" srcOrd="0" destOrd="0" parTransId="{7BEB7D5E-F42B-472D-B968-444D895E4AA3}" sibTransId="{1261D2C1-05E6-4867-B1F3-C42720991E38}"/>
    <dgm:cxn modelId="{F8DA2F62-3AC7-4D47-9C0E-78770D7DA0BE}" type="presOf" srcId="{8F59454F-8DEB-4A18-8828-A420E152C55D}" destId="{288775DA-3607-41BA-9DDF-EFB47C729A4B}" srcOrd="0" destOrd="0" presId="urn:microsoft.com/office/officeart/2005/8/layout/default"/>
    <dgm:cxn modelId="{F9482C64-1F20-4413-A4B8-05ED76616D04}" srcId="{93CE6AC0-B7C4-402F-894F-DAF12FCEF7B5}" destId="{BA5B4E98-751A-4CEA-9093-34CEBA004EC4}" srcOrd="0" destOrd="0" parTransId="{78895492-F53D-4BE6-843C-CE84E731A88D}" sibTransId="{547C9ACB-C1CA-41D7-B4F9-F6D72C0F75C8}"/>
    <dgm:cxn modelId="{E4F4C264-B517-4A8D-A562-3AE0AD369BD7}" srcId="{B5EFB1B7-95CB-4643-94C7-DE236985778C}" destId="{08D221CE-FB80-4D0B-82A7-D890C2E12427}" srcOrd="0" destOrd="0" parTransId="{F8BEC7B4-7F23-4174-B65C-6A8A6DA9CC15}" sibTransId="{46B00E96-8D5E-4705-A663-F1C6952957A2}"/>
    <dgm:cxn modelId="{41BFFF48-96C7-4C7F-A86B-B7EF13284690}" srcId="{BC6A7339-CCA8-478A-850F-AA17C757041A}" destId="{F2011EE5-21B9-4595-ACE0-7468AF191353}" srcOrd="0" destOrd="0" parTransId="{894C4E39-F853-463C-9072-D5011F5E3741}" sibTransId="{321C621A-4147-416D-8D94-8ADD5B878317}"/>
    <dgm:cxn modelId="{6AC2CA6D-CA1A-47F8-B64F-2F7EF4D14BBD}" type="presOf" srcId="{9752E1D0-86F1-468D-8941-6F613A049E0D}" destId="{BE3E069F-5BE5-4BC7-9445-19E42EF5702F}" srcOrd="0" destOrd="0" presId="urn:microsoft.com/office/officeart/2005/8/layout/default"/>
    <dgm:cxn modelId="{5BC8444E-06F2-4349-AFDF-D041F05B69CC}" srcId="{8F59454F-8DEB-4A18-8828-A420E152C55D}" destId="{BC3007D5-D340-42B1-9B82-91B9D5F82FB1}" srcOrd="0" destOrd="0" parTransId="{8DA84E82-440D-40B7-9F20-A84DD055395D}" sibTransId="{0697678C-6E19-43F0-9588-EF3F9F26C14F}"/>
    <dgm:cxn modelId="{31E23F6F-A3FA-42D9-A714-A8B60B70B3E7}" srcId="{8CF5ABB2-8E49-4018-A847-30F24C0E05D1}" destId="{AF4D66AB-C7BF-4EEA-A447-A5EAB6512EB3}" srcOrd="1" destOrd="0" parTransId="{F8F313F4-DF31-42C5-A2F8-D59595AB4CA5}" sibTransId="{46725BE7-F6DE-4C68-A08C-1E15368D3BDF}"/>
    <dgm:cxn modelId="{60F0D850-997C-434D-970B-C62FE204DE30}" type="presOf" srcId="{BC6A7339-CCA8-478A-850F-AA17C757041A}" destId="{15179502-EFE8-43EB-9E13-FDD42D30EE60}" srcOrd="0" destOrd="0" presId="urn:microsoft.com/office/officeart/2005/8/layout/default"/>
    <dgm:cxn modelId="{07BCEB53-3714-43A6-B757-F522812798A9}" srcId="{9752E1D0-86F1-468D-8941-6F613A049E0D}" destId="{5309C820-AB49-46A8-B7D7-6A0FCC87245D}" srcOrd="1" destOrd="0" parTransId="{8740B3F1-BDE0-480E-9B93-BDCD0FFC6D41}" sibTransId="{E0F6B3E5-FB27-4ECC-84E7-2512FAEDDD75}"/>
    <dgm:cxn modelId="{104E1383-2255-49FA-AC26-C0084773C67D}" type="presOf" srcId="{AF4D66AB-C7BF-4EEA-A447-A5EAB6512EB3}" destId="{97B698CB-7796-443D-BD64-73FD87CD45F1}" srcOrd="0" destOrd="0" presId="urn:microsoft.com/office/officeart/2005/8/layout/default"/>
    <dgm:cxn modelId="{4BA47988-3220-48D8-A6D0-E8FF3FF1B82F}" srcId="{8F59454F-8DEB-4A18-8828-A420E152C55D}" destId="{C28B7946-0D17-4C25-829F-FF56EE812E48}" srcOrd="1" destOrd="0" parTransId="{3DCD5671-1BB0-40FB-B629-2466ABC5991A}" sibTransId="{C0544F2A-A91C-4732-B7B8-59F2B6E791E3}"/>
    <dgm:cxn modelId="{30441394-9B63-4D93-B4BC-74C6835C3383}" srcId="{B5EFB1B7-95CB-4643-94C7-DE236985778C}" destId="{AF779444-3C0F-4A7E-8A13-A78D5FEEDDB3}" srcOrd="1" destOrd="0" parTransId="{7ECEEDD9-E3D6-4832-8CF6-0F90AAC6C6AD}" sibTransId="{61A435A7-3D57-4018-9404-8B2354CAC21B}"/>
    <dgm:cxn modelId="{EEB882B0-FFE0-42A0-A8BA-BDFFFFFCF377}" type="presOf" srcId="{BA5B4E98-751A-4CEA-9093-34CEBA004EC4}" destId="{A4829461-E8DB-497C-A56C-ADF350DC5EBD}" srcOrd="0" destOrd="1" presId="urn:microsoft.com/office/officeart/2005/8/layout/default"/>
    <dgm:cxn modelId="{A54169BF-0071-4E7D-91C7-F04F918BB75B}" srcId="{AF4D66AB-C7BF-4EEA-A447-A5EAB6512EB3}" destId="{2823EC01-4B41-4E07-9F60-8B3E4FC72775}" srcOrd="0" destOrd="0" parTransId="{CAB5871A-E93B-47C9-BE8C-AB1953742E69}" sibTransId="{E1FF08F0-6F36-4369-83A1-ED638DE131B3}"/>
    <dgm:cxn modelId="{2ED03FC7-36CD-443B-8A85-7AB09501559D}" type="presOf" srcId="{B5EFB1B7-95CB-4643-94C7-DE236985778C}" destId="{89A7AEAD-F743-4608-830D-C8F4AD31921A}" srcOrd="0" destOrd="0" presId="urn:microsoft.com/office/officeart/2005/8/layout/default"/>
    <dgm:cxn modelId="{F592A0C7-C007-499D-BF82-CCFE62FDEE92}" type="presOf" srcId="{2823EC01-4B41-4E07-9F60-8B3E4FC72775}" destId="{97B698CB-7796-443D-BD64-73FD87CD45F1}" srcOrd="0" destOrd="1" presId="urn:microsoft.com/office/officeart/2005/8/layout/default"/>
    <dgm:cxn modelId="{9CA6A3C8-A302-4453-8A3A-E873945A3B56}" srcId="{8CF5ABB2-8E49-4018-A847-30F24C0E05D1}" destId="{8F59454F-8DEB-4A18-8828-A420E152C55D}" srcOrd="3" destOrd="0" parTransId="{E5CD363D-8984-4847-88E1-DCEA2F29FC67}" sibTransId="{316D498A-12A0-431A-8A4C-405B784B0826}"/>
    <dgm:cxn modelId="{58D254CD-CC0A-430B-A33B-99FB214F84B8}" type="presOf" srcId="{713F9837-6EC0-4192-84D5-6845485B21ED}" destId="{15179502-EFE8-43EB-9E13-FDD42D30EE60}" srcOrd="0" destOrd="2" presId="urn:microsoft.com/office/officeart/2005/8/layout/default"/>
    <dgm:cxn modelId="{794141D0-5381-4BBA-AE77-6FEF9CE803BA}" srcId="{BC6A7339-CCA8-478A-850F-AA17C757041A}" destId="{713F9837-6EC0-4192-84D5-6845485B21ED}" srcOrd="1" destOrd="0" parTransId="{DE3BC229-83D3-4CE6-8CAE-1D105FB7C1FC}" sibTransId="{4519BCBA-0FA3-4613-86FC-3322ECCC617D}"/>
    <dgm:cxn modelId="{02DC65D2-908C-4570-A24C-328C7E8C60AD}" type="presOf" srcId="{5309C820-AB49-46A8-B7D7-6A0FCC87245D}" destId="{BE3E069F-5BE5-4BC7-9445-19E42EF5702F}" srcOrd="0" destOrd="2" presId="urn:microsoft.com/office/officeart/2005/8/layout/default"/>
    <dgm:cxn modelId="{A3A774D2-C738-4B82-8D56-D8046D3293F3}" type="presOf" srcId="{AA966776-33F0-41DA-AAB3-03DC5D947382}" destId="{97B698CB-7796-443D-BD64-73FD87CD45F1}" srcOrd="0" destOrd="2" presId="urn:microsoft.com/office/officeart/2005/8/layout/default"/>
    <dgm:cxn modelId="{A269F2DB-5F25-4388-8E29-83348E71D95E}" type="presOf" srcId="{08D221CE-FB80-4D0B-82A7-D890C2E12427}" destId="{89A7AEAD-F743-4608-830D-C8F4AD31921A}" srcOrd="0" destOrd="1" presId="urn:microsoft.com/office/officeart/2005/8/layout/default"/>
    <dgm:cxn modelId="{36B14EDC-BCF7-4416-B92B-C2D8A0F6EC5F}" srcId="{8CF5ABB2-8E49-4018-A847-30F24C0E05D1}" destId="{B5EFB1B7-95CB-4643-94C7-DE236985778C}" srcOrd="5" destOrd="0" parTransId="{AEB6096D-90AC-4505-9F92-959D607FFCF8}" sibTransId="{CB858FEB-0C2D-48C5-BDCF-21E1AF9CE555}"/>
    <dgm:cxn modelId="{F45C72E0-8B1D-491A-9DD0-5F6178BD6645}" srcId="{9752E1D0-86F1-468D-8941-6F613A049E0D}" destId="{D9C1EA22-8803-41F0-9CDE-D9D02F32F354}" srcOrd="0" destOrd="0" parTransId="{73417C54-C7D7-4DA4-9ADA-51525A37464A}" sibTransId="{439C1FAB-9BDB-41F4-A830-BFBA61F5B51D}"/>
    <dgm:cxn modelId="{382233E1-A860-4D6E-8B6E-F9B0234C7670}" srcId="{8CF5ABB2-8E49-4018-A847-30F24C0E05D1}" destId="{93CE6AC0-B7C4-402F-894F-DAF12FCEF7B5}" srcOrd="2" destOrd="0" parTransId="{2F4033F3-9508-4F16-AA1A-39DC9FE49B2F}" sibTransId="{A9601926-5323-4A0E-9A52-8A54A58E5A85}"/>
    <dgm:cxn modelId="{63675BE3-90FD-4432-B492-7B0916E419C6}" type="presOf" srcId="{BC3007D5-D340-42B1-9B82-91B9D5F82FB1}" destId="{288775DA-3607-41BA-9DDF-EFB47C729A4B}" srcOrd="0" destOrd="1" presId="urn:microsoft.com/office/officeart/2005/8/layout/default"/>
    <dgm:cxn modelId="{BA9807E7-645F-4AF5-850F-2C9C145BAD70}" type="presOf" srcId="{504035A8-D8A0-42BA-ACCF-F76DBB30B32C}" destId="{A4829461-E8DB-497C-A56C-ADF350DC5EBD}" srcOrd="0" destOrd="2" presId="urn:microsoft.com/office/officeart/2005/8/layout/default"/>
    <dgm:cxn modelId="{BD06C4E8-ECB1-4E69-A765-C5C86C9E389C}" srcId="{93CE6AC0-B7C4-402F-894F-DAF12FCEF7B5}" destId="{504035A8-D8A0-42BA-ACCF-F76DBB30B32C}" srcOrd="1" destOrd="0" parTransId="{133084F4-D8D8-4278-BEB2-D2EBA7FFF8ED}" sibTransId="{1D54753B-EFA5-4D11-A505-300DC6F35FB6}"/>
    <dgm:cxn modelId="{90B49333-0888-45A5-B30C-AB34EC94823B}" type="presParOf" srcId="{8A1F0280-71B7-4893-8E26-3B4BB98EEFAE}" destId="{BE3E069F-5BE5-4BC7-9445-19E42EF5702F}" srcOrd="0" destOrd="0" presId="urn:microsoft.com/office/officeart/2005/8/layout/default"/>
    <dgm:cxn modelId="{55581C46-4B1C-4840-8EF7-1431FA10A0B7}" type="presParOf" srcId="{8A1F0280-71B7-4893-8E26-3B4BB98EEFAE}" destId="{9B9E6B1D-0E60-4D59-B204-E3D8B155B7FE}" srcOrd="1" destOrd="0" presId="urn:microsoft.com/office/officeart/2005/8/layout/default"/>
    <dgm:cxn modelId="{5C1E5F1D-6B7C-45F1-8EC1-56ED5BBFDBA6}" type="presParOf" srcId="{8A1F0280-71B7-4893-8E26-3B4BB98EEFAE}" destId="{97B698CB-7796-443D-BD64-73FD87CD45F1}" srcOrd="2" destOrd="0" presId="urn:microsoft.com/office/officeart/2005/8/layout/default"/>
    <dgm:cxn modelId="{E7CA50CD-D73B-45D4-9C3F-78E5D1E6A6FB}" type="presParOf" srcId="{8A1F0280-71B7-4893-8E26-3B4BB98EEFAE}" destId="{DC2EFA6C-DC81-481A-847E-381825EB1F14}" srcOrd="3" destOrd="0" presId="urn:microsoft.com/office/officeart/2005/8/layout/default"/>
    <dgm:cxn modelId="{DF0FB321-08D5-47D3-8C5C-018B61AE244F}" type="presParOf" srcId="{8A1F0280-71B7-4893-8E26-3B4BB98EEFAE}" destId="{A4829461-E8DB-497C-A56C-ADF350DC5EBD}" srcOrd="4" destOrd="0" presId="urn:microsoft.com/office/officeart/2005/8/layout/default"/>
    <dgm:cxn modelId="{9E94DF7C-71A2-469A-AA62-F289041EA828}" type="presParOf" srcId="{8A1F0280-71B7-4893-8E26-3B4BB98EEFAE}" destId="{52CCD4F4-2812-4B05-B544-930C1C0FBBE7}" srcOrd="5" destOrd="0" presId="urn:microsoft.com/office/officeart/2005/8/layout/default"/>
    <dgm:cxn modelId="{D707F751-A840-4EE4-9E84-CDE07DF6DEC0}" type="presParOf" srcId="{8A1F0280-71B7-4893-8E26-3B4BB98EEFAE}" destId="{288775DA-3607-41BA-9DDF-EFB47C729A4B}" srcOrd="6" destOrd="0" presId="urn:microsoft.com/office/officeart/2005/8/layout/default"/>
    <dgm:cxn modelId="{76A8D815-77FB-440D-AD9F-226A02E2EF88}" type="presParOf" srcId="{8A1F0280-71B7-4893-8E26-3B4BB98EEFAE}" destId="{EF3719D2-B9B3-4A2E-A741-84F0D028AECB}" srcOrd="7" destOrd="0" presId="urn:microsoft.com/office/officeart/2005/8/layout/default"/>
    <dgm:cxn modelId="{AE83946B-F309-49A7-9EC1-613D8E9EE879}" type="presParOf" srcId="{8A1F0280-71B7-4893-8E26-3B4BB98EEFAE}" destId="{15179502-EFE8-43EB-9E13-FDD42D30EE60}" srcOrd="8" destOrd="0" presId="urn:microsoft.com/office/officeart/2005/8/layout/default"/>
    <dgm:cxn modelId="{D695CD54-9D43-4F9C-9AB4-EACD36F6A09A}" type="presParOf" srcId="{8A1F0280-71B7-4893-8E26-3B4BB98EEFAE}" destId="{83D7D0FC-211C-4D68-AD15-B3E9D13C6D18}" srcOrd="9" destOrd="0" presId="urn:microsoft.com/office/officeart/2005/8/layout/default"/>
    <dgm:cxn modelId="{BDD71F46-BF02-442C-81E8-A9A5C1810B05}" type="presParOf" srcId="{8A1F0280-71B7-4893-8E26-3B4BB98EEFAE}" destId="{89A7AEAD-F743-4608-830D-C8F4AD31921A}"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0BA5C1-DC11-4E55-BC65-640496F8AE55}">
      <dsp:nvSpPr>
        <dsp:cNvPr id="0" name=""/>
        <dsp:cNvSpPr/>
      </dsp:nvSpPr>
      <dsp:spPr>
        <a:xfrm>
          <a:off x="490522" y="2485"/>
          <a:ext cx="6209407" cy="3725644"/>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b="1" kern="1200" dirty="0"/>
            <a:t>Goal</a:t>
          </a:r>
          <a:endParaRPr lang="en-US" sz="4000" kern="1200" dirty="0"/>
        </a:p>
        <a:p>
          <a:pPr marL="285750" lvl="1" indent="-285750" algn="l" defTabSz="1377950">
            <a:lnSpc>
              <a:spcPct val="90000"/>
            </a:lnSpc>
            <a:spcBef>
              <a:spcPct val="0"/>
            </a:spcBef>
            <a:spcAft>
              <a:spcPct val="15000"/>
            </a:spcAft>
            <a:buNone/>
          </a:pPr>
          <a:r>
            <a:rPr lang="en-US" sz="3100" kern="1200" dirty="0"/>
            <a:t>What do you want Copilot to do </a:t>
          </a:r>
          <a:r>
            <a:rPr lang="en-US" sz="3100" i="1" kern="1200" dirty="0"/>
            <a:t>in Excel</a:t>
          </a:r>
          <a:r>
            <a:rPr lang="en-US" sz="3100" kern="1200" dirty="0"/>
            <a:t>?</a:t>
          </a:r>
        </a:p>
        <a:p>
          <a:pPr marL="571500" lvl="2" indent="-285750" algn="l" defTabSz="1377950">
            <a:lnSpc>
              <a:spcPct val="90000"/>
            </a:lnSpc>
            <a:spcBef>
              <a:spcPct val="0"/>
            </a:spcBef>
            <a:spcAft>
              <a:spcPct val="15000"/>
            </a:spcAft>
            <a:buNone/>
          </a:pPr>
          <a:r>
            <a:rPr lang="en-US" sz="3100" kern="1200" dirty="0"/>
            <a:t>“Check the formulas in the Profit column and tell me whether the logic is consistent.”</a:t>
          </a:r>
        </a:p>
      </dsp:txBody>
      <dsp:txXfrm>
        <a:off x="490522" y="2485"/>
        <a:ext cx="6209407" cy="3725644"/>
      </dsp:txXfrm>
    </dsp:sp>
    <dsp:sp modelId="{E2FDB8A8-6FB9-4E8B-8288-30DA87C71564}">
      <dsp:nvSpPr>
        <dsp:cNvPr id="0" name=""/>
        <dsp:cNvSpPr/>
      </dsp:nvSpPr>
      <dsp:spPr>
        <a:xfrm>
          <a:off x="7320870" y="2485"/>
          <a:ext cx="6209407" cy="3725644"/>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b="1" kern="1200" dirty="0"/>
            <a:t>Context</a:t>
          </a:r>
          <a:endParaRPr lang="en-US" sz="4000" kern="1200" dirty="0"/>
        </a:p>
        <a:p>
          <a:pPr marL="285750" lvl="1" indent="-285750" algn="l" defTabSz="1377950">
            <a:lnSpc>
              <a:spcPct val="90000"/>
            </a:lnSpc>
            <a:spcBef>
              <a:spcPct val="0"/>
            </a:spcBef>
            <a:spcAft>
              <a:spcPct val="15000"/>
            </a:spcAft>
            <a:buNone/>
          </a:pPr>
          <a:r>
            <a:rPr lang="en-US" sz="3100" kern="1200" dirty="0"/>
            <a:t>What data, sheet, range, or calculation does this relate to?</a:t>
          </a:r>
        </a:p>
        <a:p>
          <a:pPr marL="571500" lvl="2" indent="-285750" algn="l" defTabSz="1377950">
            <a:lnSpc>
              <a:spcPct val="90000"/>
            </a:lnSpc>
            <a:spcBef>
              <a:spcPct val="0"/>
            </a:spcBef>
            <a:spcAft>
              <a:spcPct val="15000"/>
            </a:spcAft>
            <a:buNone/>
          </a:pPr>
          <a:r>
            <a:rPr lang="en-US" sz="3100" kern="1200" dirty="0"/>
            <a:t>“The data is in Table </a:t>
          </a:r>
          <a:r>
            <a:rPr lang="en-US" sz="3100" kern="1200" dirty="0" err="1"/>
            <a:t>SalesData</a:t>
          </a:r>
          <a:r>
            <a:rPr lang="en-US" sz="3100" kern="1200" dirty="0"/>
            <a:t> on the sheet ‘Q2’. The Profit column uses a formula =Revenue–Cost.”</a:t>
          </a:r>
        </a:p>
      </dsp:txBody>
      <dsp:txXfrm>
        <a:off x="7320870" y="2485"/>
        <a:ext cx="6209407" cy="3725644"/>
      </dsp:txXfrm>
    </dsp:sp>
    <dsp:sp modelId="{78871E67-5D24-4D08-83B2-6B084549D081}">
      <dsp:nvSpPr>
        <dsp:cNvPr id="0" name=""/>
        <dsp:cNvSpPr/>
      </dsp:nvSpPr>
      <dsp:spPr>
        <a:xfrm>
          <a:off x="490522" y="4349070"/>
          <a:ext cx="6209407" cy="3725644"/>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b="1" kern="1200" dirty="0"/>
            <a:t>Expectations</a:t>
          </a:r>
        </a:p>
        <a:p>
          <a:pPr marL="285750" lvl="1" indent="-285750" algn="l" defTabSz="1377950">
            <a:lnSpc>
              <a:spcPct val="90000"/>
            </a:lnSpc>
            <a:spcBef>
              <a:spcPct val="0"/>
            </a:spcBef>
            <a:spcAft>
              <a:spcPct val="15000"/>
            </a:spcAft>
            <a:buNone/>
          </a:pPr>
          <a:r>
            <a:rPr lang="en-US" sz="3100" kern="1200" dirty="0"/>
            <a:t>What format or audience should Copilot aim for?</a:t>
          </a:r>
        </a:p>
        <a:p>
          <a:pPr marL="571500" lvl="2" indent="-285750" algn="l" defTabSz="1377950">
            <a:lnSpc>
              <a:spcPct val="90000"/>
            </a:lnSpc>
            <a:spcBef>
              <a:spcPct val="0"/>
            </a:spcBef>
            <a:spcAft>
              <a:spcPct val="15000"/>
            </a:spcAft>
            <a:buNone/>
          </a:pPr>
          <a:r>
            <a:rPr lang="en-US" sz="3100" kern="1200" dirty="0"/>
            <a:t>“Give the results as a bullet list with specific row numbers and suggestions.”</a:t>
          </a:r>
        </a:p>
      </dsp:txBody>
      <dsp:txXfrm>
        <a:off x="490522" y="4349070"/>
        <a:ext cx="6209407" cy="3725644"/>
      </dsp:txXfrm>
    </dsp:sp>
    <dsp:sp modelId="{DB0C4DC1-3540-44DF-85E3-33CB18221958}">
      <dsp:nvSpPr>
        <dsp:cNvPr id="0" name=""/>
        <dsp:cNvSpPr/>
      </dsp:nvSpPr>
      <dsp:spPr>
        <a:xfrm>
          <a:off x="7320870" y="4349070"/>
          <a:ext cx="6209407" cy="3725644"/>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t" anchorCtr="0">
          <a:noAutofit/>
        </a:bodyPr>
        <a:lstStyle/>
        <a:p>
          <a:pPr marL="0" lvl="0" indent="0" algn="l" defTabSz="1778000">
            <a:lnSpc>
              <a:spcPct val="90000"/>
            </a:lnSpc>
            <a:spcBef>
              <a:spcPct val="0"/>
            </a:spcBef>
            <a:spcAft>
              <a:spcPct val="35000"/>
            </a:spcAft>
            <a:buNone/>
          </a:pPr>
          <a:r>
            <a:rPr lang="en-US" sz="4000" b="1" kern="1200" dirty="0"/>
            <a:t>Source</a:t>
          </a:r>
        </a:p>
        <a:p>
          <a:pPr marL="285750" lvl="1" indent="-285750" algn="l" defTabSz="1377950">
            <a:lnSpc>
              <a:spcPct val="90000"/>
            </a:lnSpc>
            <a:spcBef>
              <a:spcPct val="0"/>
            </a:spcBef>
            <a:spcAft>
              <a:spcPct val="15000"/>
            </a:spcAft>
            <a:buNone/>
          </a:pPr>
          <a:r>
            <a:rPr lang="en-US" sz="3100" kern="1200" dirty="0"/>
            <a:t>Which data should Copilot look at?</a:t>
          </a:r>
        </a:p>
        <a:p>
          <a:pPr marL="571500" lvl="2" indent="-285750" algn="l" defTabSz="1377950">
            <a:lnSpc>
              <a:spcPct val="90000"/>
            </a:lnSpc>
            <a:spcBef>
              <a:spcPct val="0"/>
            </a:spcBef>
            <a:spcAft>
              <a:spcPct val="15000"/>
            </a:spcAft>
            <a:buNone/>
          </a:pPr>
          <a:r>
            <a:rPr lang="en-US" sz="3100" kern="1200" dirty="0"/>
            <a:t>“Use only the </a:t>
          </a:r>
          <a:r>
            <a:rPr lang="en-US" sz="3100" kern="1200" dirty="0" err="1"/>
            <a:t>SalesData</a:t>
          </a:r>
          <a:r>
            <a:rPr lang="en-US" sz="3100" kern="1200" dirty="0"/>
            <a:t> table and ignore the Summary sheet.”</a:t>
          </a:r>
        </a:p>
      </dsp:txBody>
      <dsp:txXfrm>
        <a:off x="7320870" y="4349070"/>
        <a:ext cx="6209407" cy="37256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9693D1-D350-40E2-8A6E-B439ADFDB333}">
      <dsp:nvSpPr>
        <dsp:cNvPr id="0" name=""/>
        <dsp:cNvSpPr/>
      </dsp:nvSpPr>
      <dsp:spPr>
        <a:xfrm>
          <a:off x="0" y="97016"/>
          <a:ext cx="5355276" cy="3213165"/>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1" kern="1200" dirty="0"/>
            <a:t>Zero-Shot</a:t>
          </a:r>
        </a:p>
        <a:p>
          <a:pPr marL="228600" lvl="1" indent="-228600" algn="l" defTabSz="1200150">
            <a:lnSpc>
              <a:spcPct val="90000"/>
            </a:lnSpc>
            <a:spcBef>
              <a:spcPct val="0"/>
            </a:spcBef>
            <a:spcAft>
              <a:spcPct val="15000"/>
            </a:spcAft>
            <a:buNone/>
          </a:pPr>
          <a:r>
            <a:rPr lang="en-US" sz="2700" kern="1200" dirty="0"/>
            <a:t>“Explain what this formula in cell D5 does.”</a:t>
          </a:r>
        </a:p>
      </dsp:txBody>
      <dsp:txXfrm>
        <a:off x="0" y="97016"/>
        <a:ext cx="5355276" cy="3213165"/>
      </dsp:txXfrm>
    </dsp:sp>
    <dsp:sp modelId="{F032B306-D424-4AA4-BD10-8C8AA5A948E2}">
      <dsp:nvSpPr>
        <dsp:cNvPr id="0" name=""/>
        <dsp:cNvSpPr/>
      </dsp:nvSpPr>
      <dsp:spPr>
        <a:xfrm>
          <a:off x="5890804" y="97016"/>
          <a:ext cx="5355276" cy="3213165"/>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1" kern="1200" dirty="0"/>
            <a:t>One-Shot</a:t>
          </a:r>
        </a:p>
        <a:p>
          <a:pPr marL="228600" lvl="1" indent="-228600" algn="l" defTabSz="1200150">
            <a:lnSpc>
              <a:spcPct val="90000"/>
            </a:lnSpc>
            <a:spcBef>
              <a:spcPct val="0"/>
            </a:spcBef>
            <a:spcAft>
              <a:spcPct val="15000"/>
            </a:spcAft>
            <a:buNone/>
          </a:pPr>
          <a:r>
            <a:rPr lang="en-US" sz="2700" kern="1200" dirty="0"/>
            <a:t>“Here’s how I want summaries to look:</a:t>
          </a:r>
          <a:br>
            <a:rPr lang="en-US" sz="2700" kern="1200" dirty="0"/>
          </a:br>
          <a:r>
            <a:rPr lang="en-US" sz="2700" kern="1200" dirty="0"/>
            <a:t>‘Revenue grew 12% QoQ driven by…’</a:t>
          </a:r>
          <a:br>
            <a:rPr lang="en-US" sz="2700" kern="1200" dirty="0"/>
          </a:br>
          <a:r>
            <a:rPr lang="en-US" sz="2700" kern="1200" dirty="0"/>
            <a:t>Now summarize Table </a:t>
          </a:r>
          <a:r>
            <a:rPr lang="en-US" sz="2700" kern="1200" dirty="0" err="1"/>
            <a:t>SalesData</a:t>
          </a:r>
          <a:r>
            <a:rPr lang="en-US" sz="2700" kern="1200" dirty="0"/>
            <a:t> the same way.”</a:t>
          </a:r>
        </a:p>
      </dsp:txBody>
      <dsp:txXfrm>
        <a:off x="5890804" y="97016"/>
        <a:ext cx="5355276" cy="3213165"/>
      </dsp:txXfrm>
    </dsp:sp>
    <dsp:sp modelId="{4FE40F8D-C1F4-42BD-A3EC-DBFF6570D23D}">
      <dsp:nvSpPr>
        <dsp:cNvPr id="0" name=""/>
        <dsp:cNvSpPr/>
      </dsp:nvSpPr>
      <dsp:spPr>
        <a:xfrm>
          <a:off x="11781608" y="97016"/>
          <a:ext cx="5355276" cy="3213165"/>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1" kern="1200" dirty="0"/>
            <a:t>Few-Shot</a:t>
          </a:r>
        </a:p>
        <a:p>
          <a:pPr marL="228600" lvl="1" indent="-228600" algn="l" defTabSz="1200150">
            <a:lnSpc>
              <a:spcPct val="90000"/>
            </a:lnSpc>
            <a:spcBef>
              <a:spcPct val="0"/>
            </a:spcBef>
            <a:spcAft>
              <a:spcPct val="15000"/>
            </a:spcAft>
            <a:buNone/>
          </a:pPr>
          <a:r>
            <a:rPr lang="en-US" sz="2700" kern="1200" dirty="0"/>
            <a:t>“Here are two examples of the style I want.</a:t>
          </a:r>
        </a:p>
        <a:p>
          <a:pPr marL="228600" lvl="1" indent="-228600" algn="l" defTabSz="1200150">
            <a:lnSpc>
              <a:spcPct val="90000"/>
            </a:lnSpc>
            <a:spcBef>
              <a:spcPct val="0"/>
            </a:spcBef>
            <a:spcAft>
              <a:spcPct val="15000"/>
            </a:spcAft>
            <a:buNone/>
          </a:pPr>
          <a:r>
            <a:rPr lang="en-US" sz="2700" kern="1200" dirty="0"/>
            <a:t>“Now write a similar summary for the Technology sector in this table.”</a:t>
          </a:r>
        </a:p>
      </dsp:txBody>
      <dsp:txXfrm>
        <a:off x="11781608" y="97016"/>
        <a:ext cx="5355276" cy="3213165"/>
      </dsp:txXfrm>
    </dsp:sp>
    <dsp:sp modelId="{C29AB75E-64A2-4A97-BD5C-236A63E558B6}">
      <dsp:nvSpPr>
        <dsp:cNvPr id="0" name=""/>
        <dsp:cNvSpPr/>
      </dsp:nvSpPr>
      <dsp:spPr>
        <a:xfrm>
          <a:off x="0" y="3845710"/>
          <a:ext cx="5355276" cy="3213165"/>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1" kern="1200" dirty="0"/>
            <a:t>Reasoning</a:t>
          </a:r>
        </a:p>
        <a:p>
          <a:pPr marL="228600" lvl="1" indent="-228600" algn="l" defTabSz="1200150">
            <a:lnSpc>
              <a:spcPct val="90000"/>
            </a:lnSpc>
            <a:spcBef>
              <a:spcPct val="0"/>
            </a:spcBef>
            <a:spcAft>
              <a:spcPct val="15000"/>
            </a:spcAft>
            <a:buNone/>
          </a:pPr>
          <a:r>
            <a:rPr lang="en-US" sz="2700" kern="1200" dirty="0"/>
            <a:t>“Break down the steps Excel follows when evaluating this nested IF.”</a:t>
          </a:r>
        </a:p>
      </dsp:txBody>
      <dsp:txXfrm>
        <a:off x="0" y="3845710"/>
        <a:ext cx="5355276" cy="3213165"/>
      </dsp:txXfrm>
    </dsp:sp>
    <dsp:sp modelId="{A76D4544-3BE6-40A4-9655-39B5D9BE3FE5}">
      <dsp:nvSpPr>
        <dsp:cNvPr id="0" name=""/>
        <dsp:cNvSpPr/>
      </dsp:nvSpPr>
      <dsp:spPr>
        <a:xfrm>
          <a:off x="5890804" y="3845710"/>
          <a:ext cx="5355276" cy="3213165"/>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1" kern="1200" dirty="0"/>
            <a:t>Chained</a:t>
          </a:r>
        </a:p>
        <a:p>
          <a:pPr marL="228600" lvl="1" indent="-228600" algn="l" defTabSz="1200150">
            <a:lnSpc>
              <a:spcPct val="90000"/>
            </a:lnSpc>
            <a:spcBef>
              <a:spcPct val="0"/>
            </a:spcBef>
            <a:spcAft>
              <a:spcPct val="15000"/>
            </a:spcAft>
            <a:buNone/>
          </a:pPr>
          <a:r>
            <a:rPr lang="en-US" sz="2700" kern="1200" dirty="0"/>
            <a:t>“Find quality issues.”</a:t>
          </a:r>
          <a:br>
            <a:rPr lang="en-US" sz="2700" kern="1200" dirty="0"/>
          </a:br>
          <a:r>
            <a:rPr lang="en-US" sz="2700" kern="1200" dirty="0"/>
            <a:t>“Now propose fixes.”</a:t>
          </a:r>
          <a:br>
            <a:rPr lang="en-US" sz="2700" kern="1200" dirty="0"/>
          </a:br>
          <a:r>
            <a:rPr lang="en-US" sz="2700" kern="1200" dirty="0"/>
            <a:t>“Now rewrite formula logic cleanly.”</a:t>
          </a:r>
        </a:p>
      </dsp:txBody>
      <dsp:txXfrm>
        <a:off x="5890804" y="3845710"/>
        <a:ext cx="5355276" cy="3213165"/>
      </dsp:txXfrm>
    </dsp:sp>
    <dsp:sp modelId="{920F2B6D-6711-451D-BCBC-CC3AF1C749DA}">
      <dsp:nvSpPr>
        <dsp:cNvPr id="0" name=""/>
        <dsp:cNvSpPr/>
      </dsp:nvSpPr>
      <dsp:spPr>
        <a:xfrm>
          <a:off x="11781608" y="3845710"/>
          <a:ext cx="5355276" cy="3213165"/>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b="1" kern="1200" dirty="0"/>
            <a:t>Negative Prompting</a:t>
          </a:r>
        </a:p>
        <a:p>
          <a:pPr marL="228600" lvl="1" indent="-228600" algn="l" defTabSz="1200150">
            <a:lnSpc>
              <a:spcPct val="90000"/>
            </a:lnSpc>
            <a:spcBef>
              <a:spcPct val="0"/>
            </a:spcBef>
            <a:spcAft>
              <a:spcPct val="15000"/>
            </a:spcAft>
            <a:buNone/>
          </a:pPr>
          <a:r>
            <a:rPr lang="en-US" sz="2700" kern="1200" dirty="0"/>
            <a:t>“Summarize this table, but do not include suggestions or next steps.”</a:t>
          </a:r>
        </a:p>
      </dsp:txBody>
      <dsp:txXfrm>
        <a:off x="11781608" y="3845710"/>
        <a:ext cx="5355276" cy="32131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3E069F-5BE5-4BC7-9445-19E42EF5702F}">
      <dsp:nvSpPr>
        <dsp:cNvPr id="0" name=""/>
        <dsp:cNvSpPr/>
      </dsp:nvSpPr>
      <dsp:spPr>
        <a:xfrm>
          <a:off x="0" y="97016"/>
          <a:ext cx="5355276" cy="3213165"/>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b="1" kern="1200"/>
            <a:t>Zero-Shot</a:t>
          </a:r>
          <a:endParaRPr lang="en-US" sz="3800" kern="1200"/>
        </a:p>
        <a:p>
          <a:pPr marL="285750" lvl="1" indent="-285750" algn="l" defTabSz="1333500">
            <a:lnSpc>
              <a:spcPct val="90000"/>
            </a:lnSpc>
            <a:spcBef>
              <a:spcPct val="0"/>
            </a:spcBef>
            <a:spcAft>
              <a:spcPct val="15000"/>
            </a:spcAft>
            <a:buFont typeface="Arial" panose="020B0604020202020204" pitchFamily="34" charset="0"/>
            <a:buChar char="•"/>
          </a:pPr>
          <a:r>
            <a:rPr lang="en-US" sz="3000" kern="1200" dirty="0"/>
            <a:t>Use when you want a quick read on “what’s in here?”</a:t>
          </a:r>
        </a:p>
        <a:p>
          <a:pPr marL="285750" lvl="1" indent="-285750" algn="l" defTabSz="1333500">
            <a:lnSpc>
              <a:spcPct val="90000"/>
            </a:lnSpc>
            <a:spcBef>
              <a:spcPct val="0"/>
            </a:spcBef>
            <a:spcAft>
              <a:spcPct val="15000"/>
            </a:spcAft>
            <a:buFont typeface="Arial" panose="020B0604020202020204" pitchFamily="34" charset="0"/>
            <a:buChar char="•"/>
          </a:pPr>
          <a:r>
            <a:rPr lang="en-US" sz="3000" kern="1200" dirty="0"/>
            <a:t>Great for early exploration or gut-check summaries</a:t>
          </a:r>
        </a:p>
      </dsp:txBody>
      <dsp:txXfrm>
        <a:off x="0" y="97016"/>
        <a:ext cx="5355276" cy="3213165"/>
      </dsp:txXfrm>
    </dsp:sp>
    <dsp:sp modelId="{97B698CB-7796-443D-BD64-73FD87CD45F1}">
      <dsp:nvSpPr>
        <dsp:cNvPr id="0" name=""/>
        <dsp:cNvSpPr/>
      </dsp:nvSpPr>
      <dsp:spPr>
        <a:xfrm>
          <a:off x="5890804" y="97016"/>
          <a:ext cx="5355276" cy="3213165"/>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b="1" kern="1200"/>
            <a:t>One-Shot</a:t>
          </a:r>
          <a:endParaRPr lang="en-US" sz="3800" kern="1200"/>
        </a:p>
        <a:p>
          <a:pPr marL="285750" lvl="1" indent="-285750" algn="l" defTabSz="1333500">
            <a:lnSpc>
              <a:spcPct val="90000"/>
            </a:lnSpc>
            <a:spcBef>
              <a:spcPct val="0"/>
            </a:spcBef>
            <a:spcAft>
              <a:spcPct val="15000"/>
            </a:spcAft>
            <a:buFont typeface="Arial" panose="020B0604020202020204" pitchFamily="34" charset="0"/>
            <a:buChar char="•"/>
          </a:pPr>
          <a:r>
            <a:rPr lang="en-US" sz="3000" kern="1200" dirty="0"/>
            <a:t>Give one example to match tone, style, or format</a:t>
          </a:r>
        </a:p>
        <a:p>
          <a:pPr marL="285750" lvl="1" indent="-285750" algn="l" defTabSz="1333500">
            <a:lnSpc>
              <a:spcPct val="90000"/>
            </a:lnSpc>
            <a:spcBef>
              <a:spcPct val="0"/>
            </a:spcBef>
            <a:spcAft>
              <a:spcPct val="15000"/>
            </a:spcAft>
            <a:buFont typeface="Arial" panose="020B0604020202020204" pitchFamily="34" charset="0"/>
            <a:buChar char="•"/>
          </a:pPr>
          <a:r>
            <a:rPr lang="en-US" sz="3000" kern="1200" dirty="0"/>
            <a:t>Best for imitating a specific reporting voice</a:t>
          </a:r>
        </a:p>
      </dsp:txBody>
      <dsp:txXfrm>
        <a:off x="5890804" y="97016"/>
        <a:ext cx="5355276" cy="3213165"/>
      </dsp:txXfrm>
    </dsp:sp>
    <dsp:sp modelId="{A4829461-E8DB-497C-A56C-ADF350DC5EBD}">
      <dsp:nvSpPr>
        <dsp:cNvPr id="0" name=""/>
        <dsp:cNvSpPr/>
      </dsp:nvSpPr>
      <dsp:spPr>
        <a:xfrm>
          <a:off x="11781608" y="97016"/>
          <a:ext cx="5355276" cy="3213165"/>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b="1" kern="1200"/>
            <a:t>Few-Shot</a:t>
          </a:r>
          <a:endParaRPr lang="en-US" sz="3800" kern="1200"/>
        </a:p>
        <a:p>
          <a:pPr marL="285750" lvl="1" indent="-285750" algn="l" defTabSz="1333500">
            <a:lnSpc>
              <a:spcPct val="90000"/>
            </a:lnSpc>
            <a:spcBef>
              <a:spcPct val="0"/>
            </a:spcBef>
            <a:spcAft>
              <a:spcPct val="15000"/>
            </a:spcAft>
            <a:buFont typeface="Arial" panose="020B0604020202020204" pitchFamily="34" charset="0"/>
            <a:buChar char="•"/>
          </a:pPr>
          <a:r>
            <a:rPr lang="en-US" sz="3000" kern="1200" dirty="0"/>
            <a:t>Provide 2–4 examples to lock in consistency</a:t>
          </a:r>
        </a:p>
        <a:p>
          <a:pPr marL="285750" lvl="1" indent="-285750" algn="l" defTabSz="1333500">
            <a:lnSpc>
              <a:spcPct val="90000"/>
            </a:lnSpc>
            <a:spcBef>
              <a:spcPct val="0"/>
            </a:spcBef>
            <a:spcAft>
              <a:spcPct val="15000"/>
            </a:spcAft>
            <a:buFont typeface="Arial" panose="020B0604020202020204" pitchFamily="34" charset="0"/>
            <a:buChar char="•"/>
          </a:pPr>
          <a:r>
            <a:rPr lang="en-US" sz="3000" kern="1200" dirty="0"/>
            <a:t>Useful for standardizing team updates or recurring deliverables</a:t>
          </a:r>
        </a:p>
      </dsp:txBody>
      <dsp:txXfrm>
        <a:off x="11781608" y="97016"/>
        <a:ext cx="5355276" cy="3213165"/>
      </dsp:txXfrm>
    </dsp:sp>
    <dsp:sp modelId="{288775DA-3607-41BA-9DDF-EFB47C729A4B}">
      <dsp:nvSpPr>
        <dsp:cNvPr id="0" name=""/>
        <dsp:cNvSpPr/>
      </dsp:nvSpPr>
      <dsp:spPr>
        <a:xfrm>
          <a:off x="0" y="3845710"/>
          <a:ext cx="5355276" cy="3213165"/>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b="1" kern="1200"/>
            <a:t>Reasoning</a:t>
          </a:r>
          <a:endParaRPr lang="en-US" sz="3800" kern="1200"/>
        </a:p>
        <a:p>
          <a:pPr marL="285750" lvl="1" indent="-285750" algn="l" defTabSz="1333500">
            <a:lnSpc>
              <a:spcPct val="90000"/>
            </a:lnSpc>
            <a:spcBef>
              <a:spcPct val="0"/>
            </a:spcBef>
            <a:spcAft>
              <a:spcPct val="15000"/>
            </a:spcAft>
            <a:buFont typeface="Arial" panose="020B0604020202020204" pitchFamily="34" charset="0"/>
            <a:buChar char="•"/>
          </a:pPr>
          <a:r>
            <a:rPr lang="en-US" sz="3000" kern="1200" dirty="0"/>
            <a:t>Use when accuracy, traceability, or step-by-step logic matters</a:t>
          </a:r>
        </a:p>
        <a:p>
          <a:pPr marL="285750" lvl="1" indent="-285750" algn="l" defTabSz="1333500">
            <a:lnSpc>
              <a:spcPct val="90000"/>
            </a:lnSpc>
            <a:spcBef>
              <a:spcPct val="0"/>
            </a:spcBef>
            <a:spcAft>
              <a:spcPct val="15000"/>
            </a:spcAft>
            <a:buFont typeface="Arial" panose="020B0604020202020204" pitchFamily="34" charset="0"/>
            <a:buChar char="•"/>
          </a:pPr>
          <a:r>
            <a:rPr lang="en-US" sz="3000" kern="1200" dirty="0"/>
            <a:t>Ideal for anything that needs auditability</a:t>
          </a:r>
        </a:p>
      </dsp:txBody>
      <dsp:txXfrm>
        <a:off x="0" y="3845710"/>
        <a:ext cx="5355276" cy="3213165"/>
      </dsp:txXfrm>
    </dsp:sp>
    <dsp:sp modelId="{15179502-EFE8-43EB-9E13-FDD42D30EE60}">
      <dsp:nvSpPr>
        <dsp:cNvPr id="0" name=""/>
        <dsp:cNvSpPr/>
      </dsp:nvSpPr>
      <dsp:spPr>
        <a:xfrm>
          <a:off x="5890804" y="3845710"/>
          <a:ext cx="5355276" cy="3213165"/>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b="1" kern="1200"/>
            <a:t>Chained</a:t>
          </a:r>
          <a:endParaRPr lang="en-US" sz="3800" kern="1200"/>
        </a:p>
        <a:p>
          <a:pPr marL="285750" lvl="1" indent="-285750" algn="l" defTabSz="1333500">
            <a:lnSpc>
              <a:spcPct val="90000"/>
            </a:lnSpc>
            <a:spcBef>
              <a:spcPct val="0"/>
            </a:spcBef>
            <a:spcAft>
              <a:spcPct val="15000"/>
            </a:spcAft>
            <a:buFont typeface="Arial" panose="020B0604020202020204" pitchFamily="34" charset="0"/>
            <a:buChar char="•"/>
          </a:pPr>
          <a:r>
            <a:rPr lang="en-US" sz="3000" kern="1200" dirty="0"/>
            <a:t>Break a task into deliberate steps</a:t>
          </a:r>
        </a:p>
        <a:p>
          <a:pPr marL="285750" lvl="1" indent="-285750" algn="l" defTabSz="1333500">
            <a:lnSpc>
              <a:spcPct val="90000"/>
            </a:lnSpc>
            <a:spcBef>
              <a:spcPct val="0"/>
            </a:spcBef>
            <a:spcAft>
              <a:spcPct val="15000"/>
            </a:spcAft>
            <a:buFont typeface="Arial" panose="020B0604020202020204" pitchFamily="34" charset="0"/>
            <a:buChar char="•"/>
          </a:pPr>
          <a:r>
            <a:rPr lang="en-US" sz="3000" kern="1200" dirty="0"/>
            <a:t>Great for multi-stage analysis or layered insights</a:t>
          </a:r>
        </a:p>
      </dsp:txBody>
      <dsp:txXfrm>
        <a:off x="5890804" y="3845710"/>
        <a:ext cx="5355276" cy="3213165"/>
      </dsp:txXfrm>
    </dsp:sp>
    <dsp:sp modelId="{89A7AEAD-F743-4608-830D-C8F4AD31921A}">
      <dsp:nvSpPr>
        <dsp:cNvPr id="0" name=""/>
        <dsp:cNvSpPr/>
      </dsp:nvSpPr>
      <dsp:spPr>
        <a:xfrm>
          <a:off x="11781608" y="3845710"/>
          <a:ext cx="5355276" cy="3213165"/>
        </a:xfrm>
        <a:prstGeom prst="rect">
          <a:avLst/>
        </a:prstGeom>
        <a:solidFill>
          <a:schemeClr val="bg1">
            <a:lumMod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b="1" kern="1200"/>
            <a:t>Negative</a:t>
          </a:r>
          <a:endParaRPr lang="en-US" sz="3800" kern="1200"/>
        </a:p>
        <a:p>
          <a:pPr marL="285750" lvl="1" indent="-285750" algn="l" defTabSz="1333500">
            <a:lnSpc>
              <a:spcPct val="90000"/>
            </a:lnSpc>
            <a:spcBef>
              <a:spcPct val="0"/>
            </a:spcBef>
            <a:spcAft>
              <a:spcPct val="15000"/>
            </a:spcAft>
            <a:buFont typeface="Arial" panose="020B0604020202020204" pitchFamily="34" charset="0"/>
            <a:buChar char="•"/>
          </a:pPr>
          <a:r>
            <a:rPr lang="en-US" sz="3000" kern="1200" dirty="0"/>
            <a:t>Tell the model what </a:t>
          </a:r>
          <a:r>
            <a:rPr lang="en-US" sz="3000" i="1" kern="1200" dirty="0"/>
            <a:t>not</a:t>
          </a:r>
          <a:r>
            <a:rPr lang="en-US" sz="3000" kern="1200" dirty="0"/>
            <a:t> to do</a:t>
          </a:r>
        </a:p>
        <a:p>
          <a:pPr marL="285750" lvl="1" indent="-285750" algn="l" defTabSz="1333500">
            <a:lnSpc>
              <a:spcPct val="90000"/>
            </a:lnSpc>
            <a:spcBef>
              <a:spcPct val="0"/>
            </a:spcBef>
            <a:spcAft>
              <a:spcPct val="15000"/>
            </a:spcAft>
            <a:buFont typeface="Arial" panose="020B0604020202020204" pitchFamily="34" charset="0"/>
            <a:buChar char="•"/>
          </a:pPr>
          <a:r>
            <a:rPr lang="en-US" sz="3000" kern="1200" dirty="0"/>
            <a:t>Important for compliance, neutrality, or risk-sensitive content</a:t>
          </a:r>
        </a:p>
      </dsp:txBody>
      <dsp:txXfrm>
        <a:off x="11781608" y="3845710"/>
        <a:ext cx="5355276" cy="321316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A98A70-FA8C-4354-959C-C70678AC9BCF}" type="datetimeFigureOut">
              <a:rPr lang="en-US" smtClean="0"/>
              <a:t>2/12/2026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B500C5-13F7-48FC-8160-C29AECF6C602}" type="slidenum">
              <a:rPr lang="en-US" smtClean="0"/>
              <a:t>‹#›</a:t>
            </a:fld>
            <a:endParaRPr lang="en-US"/>
          </a:p>
        </p:txBody>
      </p:sp>
    </p:spTree>
    <p:extLst>
      <p:ext uri="{BB962C8B-B14F-4D97-AF65-F5344CB8AC3E}">
        <p14:creationId xmlns:p14="http://schemas.microsoft.com/office/powerpoint/2010/main" val="3018350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tell you what I actually want you to be able to do by the end of this.</a:t>
            </a:r>
          </a:p>
          <a:p>
            <a:endParaRPr lang="en-US" dirty="0"/>
          </a:p>
          <a:p>
            <a:r>
              <a:rPr lang="en-US" dirty="0"/>
              <a:t>I don’t want you walking out with a list of clever prompts. Those are fragile and they stop working the moment the workbook changes.</a:t>
            </a:r>
          </a:p>
          <a:p>
            <a:endParaRPr lang="en-US" dirty="0"/>
          </a:p>
          <a:p>
            <a:r>
              <a:rPr lang="en-US" dirty="0"/>
              <a:t>What I </a:t>
            </a:r>
            <a:r>
              <a:rPr lang="en-US" i="1" dirty="0"/>
              <a:t>do</a:t>
            </a:r>
            <a:r>
              <a:rPr lang="en-US" dirty="0"/>
              <a:t> want is for you to be able to give Copilot clear, concrete instructions using things it already understands. Tables, columns, named objects. The same way you already think when you work in Excel.</a:t>
            </a:r>
          </a:p>
          <a:p>
            <a:endParaRPr lang="en-US" dirty="0"/>
          </a:p>
          <a:p>
            <a:r>
              <a:rPr lang="en-US" dirty="0"/>
              <a:t>We’ll talk about how to control the output too. Not just asking questions, but telling Copilot what shape the answer should take. Short, structured, formatted in a way that’s actually usable.</a:t>
            </a:r>
          </a:p>
          <a:p>
            <a:endParaRPr lang="en-US" dirty="0"/>
          </a:p>
          <a:p>
            <a:r>
              <a:rPr lang="en-US" dirty="0"/>
              <a:t>We’ll also spend time on what happens when a prompt doesn’t work, because that’s normal. Instead of guessing or blaming the tool, you’ll learn how to quickly see what went wrong and adjust the prompt without starting over.</a:t>
            </a:r>
          </a:p>
          <a:p>
            <a:endParaRPr lang="en-US" dirty="0"/>
          </a:p>
          <a:p>
            <a:r>
              <a:rPr lang="en-US" dirty="0"/>
              <a:t>And along the way, I’ll show you a handful of prompt patterns I use myself. Things that work across different datasets and problems, not demo-only tricks.</a:t>
            </a:r>
          </a:p>
          <a:p>
            <a:endParaRPr lang="en-US" dirty="0"/>
          </a:p>
          <a:p>
            <a:r>
              <a:rPr lang="en-US" dirty="0"/>
              <a:t>If this goes the way I want it to, Copilot should feel less like something you’re experimenting with and more like something you can reliably use when you need it.”</a:t>
            </a:r>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2</a:t>
            </a:fld>
            <a:endParaRPr lang="en-US"/>
          </a:p>
        </p:txBody>
      </p:sp>
    </p:spTree>
    <p:extLst>
      <p:ext uri="{BB962C8B-B14F-4D97-AF65-F5344CB8AC3E}">
        <p14:creationId xmlns:p14="http://schemas.microsoft.com/office/powerpoint/2010/main" val="3314691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Quick grounding point before we go further.</a:t>
            </a:r>
          </a:p>
          <a:p>
            <a:endParaRPr lang="en-US" sz="1200" dirty="0"/>
          </a:p>
          <a:p>
            <a:r>
              <a:rPr lang="en-US" sz="1200" dirty="0"/>
              <a:t>Copilot isn’t magic. It’s reading your workbook. Tables, columns, formulas, data types. That’s the context it works with.</a:t>
            </a:r>
          </a:p>
          <a:p>
            <a:endParaRPr lang="en-US" sz="1200" dirty="0"/>
          </a:p>
          <a:p>
            <a:r>
              <a:rPr lang="en-US" sz="1200" dirty="0"/>
              <a:t>It works best when you tell it exactly what to use. When you don’t, it has to guess, and guessing is where things break.</a:t>
            </a:r>
          </a:p>
          <a:p>
            <a:endParaRPr lang="en-US" sz="1200" dirty="0"/>
          </a:p>
          <a:p>
            <a:r>
              <a:rPr lang="en-US" sz="1200" dirty="0"/>
              <a:t>Many prompt issues in my experience aren’t AI issues. They’re context issues. Fix the context and the prompt usually fixes itself. </a:t>
            </a:r>
          </a:p>
          <a:p>
            <a:endParaRPr lang="en-US" dirty="0"/>
          </a:p>
        </p:txBody>
      </p:sp>
      <p:sp>
        <p:nvSpPr>
          <p:cNvPr id="4" name="Slide Number Placeholder 3"/>
          <p:cNvSpPr>
            <a:spLocks noGrp="1"/>
          </p:cNvSpPr>
          <p:nvPr>
            <p:ph type="sldNum" sz="quarter" idx="5"/>
          </p:nvPr>
        </p:nvSpPr>
        <p:spPr/>
        <p:txBody>
          <a:bodyPr/>
          <a:lstStyle/>
          <a:p>
            <a:fld id="{FFB500C5-13F7-48FC-8160-C29AECF6C602}" type="slidenum">
              <a:rPr lang="en-US" smtClean="0"/>
              <a:t>3</a:t>
            </a:fld>
            <a:endParaRPr lang="en-US"/>
          </a:p>
        </p:txBody>
      </p:sp>
    </p:spTree>
    <p:extLst>
      <p:ext uri="{BB962C8B-B14F-4D97-AF65-F5344CB8AC3E}">
        <p14:creationId xmlns:p14="http://schemas.microsoft.com/office/powerpoint/2010/main" val="359334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43C24-D65A-BEF7-62FC-34452DD168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B2B4AC-157B-AE97-FB01-3E69942FE1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57D069-0820-CF74-496C-1EB1191684E4}"/>
              </a:ext>
            </a:extLst>
          </p:cNvPr>
          <p:cNvSpPr>
            <a:spLocks noGrp="1"/>
          </p:cNvSpPr>
          <p:nvPr>
            <p:ph type="body" idx="1"/>
          </p:nvPr>
        </p:nvSpPr>
        <p:spPr/>
        <p:txBody>
          <a:bodyPr/>
          <a:lstStyle/>
          <a:p>
            <a:r>
              <a:rPr lang="en-US" sz="1200" dirty="0"/>
              <a:t>This is basically how Copilot sees Excel. It’s reading </a:t>
            </a:r>
            <a:r>
              <a:rPr lang="en-US" sz="1200" i="1" dirty="0"/>
              <a:t>objects</a:t>
            </a:r>
            <a:r>
              <a:rPr lang="en-US" sz="1200" dirty="0"/>
              <a:t>.</a:t>
            </a:r>
          </a:p>
          <a:p>
            <a:endParaRPr lang="en-US" sz="1200" dirty="0"/>
          </a:p>
          <a:p>
            <a:r>
              <a:rPr lang="en-US" sz="1200" dirty="0"/>
              <a:t>Named tables matter. Column headers matter. The overall workbook context matters. That’s what Copilot is reasoning over.</a:t>
            </a:r>
          </a:p>
          <a:p>
            <a:endParaRPr lang="en-US" sz="1200" dirty="0"/>
          </a:p>
          <a:p>
            <a:r>
              <a:rPr lang="en-US" sz="1200" dirty="0"/>
              <a:t>So when you reference a table by name, or a specific column, you’re not being overly formal. You’re giving Copilot something concrete to latch onto.</a:t>
            </a:r>
          </a:p>
          <a:p>
            <a:endParaRPr lang="en-US" sz="1200" dirty="0"/>
          </a:p>
          <a:p>
            <a:r>
              <a:rPr lang="en-US" sz="1200" dirty="0"/>
              <a:t>This is why vague prompts tend to fail. You’re asking it to reason without objects.</a:t>
            </a:r>
          </a:p>
          <a:p>
            <a:r>
              <a:rPr lang="en-US" sz="1200" dirty="0"/>
              <a:t>I like to say it this way: Copilot reasons over objects, not vibes.</a:t>
            </a:r>
          </a:p>
          <a:p>
            <a:endParaRPr lang="en-US" sz="1200" dirty="0"/>
          </a:p>
          <a:p>
            <a:r>
              <a:rPr lang="en-US" sz="1200" dirty="0"/>
              <a:t>If you give it structure, it behaves. If you give it vibes, you get vibes back.</a:t>
            </a:r>
          </a:p>
        </p:txBody>
      </p:sp>
      <p:sp>
        <p:nvSpPr>
          <p:cNvPr id="4" name="Slide Number Placeholder 3">
            <a:extLst>
              <a:ext uri="{FF2B5EF4-FFF2-40B4-BE49-F238E27FC236}">
                <a16:creationId xmlns:a16="http://schemas.microsoft.com/office/drawing/2014/main" id="{CD8E46F3-9CB7-3BF4-03BC-8935BE742CC3}"/>
              </a:ext>
            </a:extLst>
          </p:cNvPr>
          <p:cNvSpPr>
            <a:spLocks noGrp="1"/>
          </p:cNvSpPr>
          <p:nvPr>
            <p:ph type="sldNum" sz="quarter" idx="5"/>
          </p:nvPr>
        </p:nvSpPr>
        <p:spPr/>
        <p:txBody>
          <a:bodyPr/>
          <a:lstStyle/>
          <a:p>
            <a:fld id="{FFB500C5-13F7-48FC-8160-C29AECF6C602}" type="slidenum">
              <a:rPr lang="en-US" smtClean="0"/>
              <a:t>4</a:t>
            </a:fld>
            <a:endParaRPr lang="en-US"/>
          </a:p>
        </p:txBody>
      </p:sp>
    </p:spTree>
    <p:extLst>
      <p:ext uri="{BB962C8B-B14F-4D97-AF65-F5344CB8AC3E}">
        <p14:creationId xmlns:p14="http://schemas.microsoft.com/office/powerpoint/2010/main" val="787013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F524E-052E-9ABD-0C6D-9D98C77A69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2CF5EA-CF73-84A4-83C0-6184A2989F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9A139-F61A-9AF1-1E3F-D88DAA4C1DD9}"/>
              </a:ext>
            </a:extLst>
          </p:cNvPr>
          <p:cNvSpPr>
            <a:spLocks noGrp="1"/>
          </p:cNvSpPr>
          <p:nvPr>
            <p:ph type="body" idx="1"/>
          </p:nvPr>
        </p:nvSpPr>
        <p:spPr/>
        <p:txBody>
          <a:bodyPr/>
          <a:lstStyle/>
          <a:p>
            <a:r>
              <a:rPr lang="en-US" dirty="0"/>
              <a:t>Let me tell you what I actually want you to be able to do by the end of this.</a:t>
            </a:r>
          </a:p>
          <a:p>
            <a:endParaRPr lang="en-US" dirty="0"/>
          </a:p>
          <a:p>
            <a:r>
              <a:rPr lang="en-US" dirty="0"/>
              <a:t>I don’t want you walking out with a list of clever prompts. Those are fragile and they stop working the moment the workbook changes.</a:t>
            </a:r>
          </a:p>
          <a:p>
            <a:endParaRPr lang="en-US" dirty="0"/>
          </a:p>
          <a:p>
            <a:r>
              <a:rPr lang="en-US" dirty="0"/>
              <a:t>What I </a:t>
            </a:r>
            <a:r>
              <a:rPr lang="en-US" i="1" dirty="0"/>
              <a:t>do</a:t>
            </a:r>
            <a:r>
              <a:rPr lang="en-US" dirty="0"/>
              <a:t> want is for you to be able to give Copilot clear, concrete instructions using things it already understands. Tables, columns, named objects. The same way you already think when you work in Excel.</a:t>
            </a:r>
          </a:p>
          <a:p>
            <a:endParaRPr lang="en-US" dirty="0"/>
          </a:p>
          <a:p>
            <a:r>
              <a:rPr lang="en-US" dirty="0"/>
              <a:t>We’ll talk about how to control the output too. Not just asking questions, but telling Copilot what shape the answer should take. Short, structured, formatted in a way that’s actually usable.</a:t>
            </a:r>
          </a:p>
          <a:p>
            <a:endParaRPr lang="en-US" dirty="0"/>
          </a:p>
          <a:p>
            <a:r>
              <a:rPr lang="en-US" dirty="0"/>
              <a:t>We’ll also spend time on what happens when a prompt doesn’t work, because that’s normal. Instead of guessing or blaming the tool, you’ll learn how to quickly see what went wrong and adjust the prompt without starting over.</a:t>
            </a:r>
          </a:p>
          <a:p>
            <a:endParaRPr lang="en-US" dirty="0"/>
          </a:p>
          <a:p>
            <a:r>
              <a:rPr lang="en-US" dirty="0"/>
              <a:t>And along the way, I’ll show you a handful of prompt patterns I use myself. Things that work across different datasets and problems, not demo-only tricks.</a:t>
            </a:r>
          </a:p>
          <a:p>
            <a:endParaRPr lang="en-US" dirty="0"/>
          </a:p>
          <a:p>
            <a:r>
              <a:rPr lang="en-US" dirty="0"/>
              <a:t>If this goes the way I want it to, Copilot should feel less like something you’re experimenting with and more like something you can reliably use when you need it.”</a:t>
            </a:r>
          </a:p>
          <a:p>
            <a:endParaRPr lang="en-US" dirty="0"/>
          </a:p>
        </p:txBody>
      </p:sp>
      <p:sp>
        <p:nvSpPr>
          <p:cNvPr id="4" name="Slide Number Placeholder 3">
            <a:extLst>
              <a:ext uri="{FF2B5EF4-FFF2-40B4-BE49-F238E27FC236}">
                <a16:creationId xmlns:a16="http://schemas.microsoft.com/office/drawing/2014/main" id="{2111FB7B-D744-3C5C-83E9-2328CB4A69DE}"/>
              </a:ext>
            </a:extLst>
          </p:cNvPr>
          <p:cNvSpPr>
            <a:spLocks noGrp="1"/>
          </p:cNvSpPr>
          <p:nvPr>
            <p:ph type="sldNum" sz="quarter" idx="5"/>
          </p:nvPr>
        </p:nvSpPr>
        <p:spPr/>
        <p:txBody>
          <a:bodyPr/>
          <a:lstStyle/>
          <a:p>
            <a:fld id="{FFB500C5-13F7-48FC-8160-C29AECF6C602}" type="slidenum">
              <a:rPr lang="en-US" smtClean="0"/>
              <a:t>5</a:t>
            </a:fld>
            <a:endParaRPr lang="en-US"/>
          </a:p>
        </p:txBody>
      </p:sp>
    </p:spTree>
    <p:extLst>
      <p:ext uri="{BB962C8B-B14F-4D97-AF65-F5344CB8AC3E}">
        <p14:creationId xmlns:p14="http://schemas.microsoft.com/office/powerpoint/2010/main" val="18903782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F5C19-E3CF-2A51-8F48-65C70A99D0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74315D-BEA9-16B4-A494-28AA99712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1038BD-7B5B-4D95-74E0-BEDC5C572587}"/>
              </a:ext>
            </a:extLst>
          </p:cNvPr>
          <p:cNvSpPr>
            <a:spLocks noGrp="1"/>
          </p:cNvSpPr>
          <p:nvPr>
            <p:ph type="body" idx="1"/>
          </p:nvPr>
        </p:nvSpPr>
        <p:spPr/>
        <p:txBody>
          <a:bodyPr/>
          <a:lstStyle/>
          <a:p>
            <a:r>
              <a:rPr lang="en-US" sz="1200" dirty="0"/>
              <a:t>When a prompt doesn’t work, this is how I debug it.</a:t>
            </a:r>
          </a:p>
          <a:p>
            <a:endParaRPr lang="en-US" sz="1200" dirty="0"/>
          </a:p>
          <a:p>
            <a:r>
              <a:rPr lang="en-US" sz="1200" dirty="0"/>
              <a:t>I don’t argue with Copilot. I just check these four things.</a:t>
            </a:r>
          </a:p>
          <a:p>
            <a:endParaRPr lang="en-US" sz="1200" dirty="0"/>
          </a:p>
          <a:p>
            <a:r>
              <a:rPr lang="en-US" sz="1200" dirty="0"/>
              <a:t>First: what’s the goal? What am I actually asking it to do in Excel?</a:t>
            </a:r>
          </a:p>
          <a:p>
            <a:endParaRPr lang="en-US" sz="1200" dirty="0"/>
          </a:p>
          <a:p>
            <a:r>
              <a:rPr lang="en-US" sz="1200" dirty="0"/>
              <a:t>Second: what’s the context? Which data, which sheet, which calculation are we talking about?</a:t>
            </a:r>
          </a:p>
          <a:p>
            <a:endParaRPr lang="en-US" sz="1200" dirty="0"/>
          </a:p>
          <a:p>
            <a:r>
              <a:rPr lang="en-US" sz="1200" dirty="0"/>
              <a:t>Third: what are the expectations? Who is this for and what should the output look like?</a:t>
            </a:r>
          </a:p>
          <a:p>
            <a:endParaRPr lang="en-US" sz="1200" dirty="0"/>
          </a:p>
          <a:p>
            <a:r>
              <a:rPr lang="en-US" sz="1200" dirty="0"/>
              <a:t>And fourth: what’s the source? What data should it use, and just as important, what should </a:t>
            </a:r>
          </a:p>
          <a:p>
            <a:r>
              <a:rPr lang="en-US" sz="1200" dirty="0"/>
              <a:t>it ignore?</a:t>
            </a:r>
          </a:p>
          <a:p>
            <a:endParaRPr lang="en-US" sz="1200" dirty="0"/>
          </a:p>
          <a:p>
            <a:r>
              <a:rPr lang="en-US" sz="1200" dirty="0"/>
              <a:t>You don’t have to be poetic here. You just need all four present.</a:t>
            </a:r>
          </a:p>
          <a:p>
            <a:endParaRPr lang="en-US" sz="1200" dirty="0"/>
          </a:p>
          <a:p>
            <a:r>
              <a:rPr lang="en-US" sz="1200" dirty="0"/>
              <a:t>If one of these is missing, you should expect rework. That’s not Copilot being bad. That’s the prompt being incomplete.</a:t>
            </a:r>
          </a:p>
          <a:p>
            <a:endParaRPr lang="en-US" sz="1200" dirty="0"/>
          </a:p>
          <a:p>
            <a:r>
              <a:rPr lang="en-US" sz="1200" dirty="0"/>
              <a:t>This framework isn’t for writing perfect prompts. It’s for fixing broken ones quickly.”</a:t>
            </a:r>
          </a:p>
          <a:p>
            <a:endParaRPr lang="en-US" sz="1200" dirty="0"/>
          </a:p>
        </p:txBody>
      </p:sp>
      <p:sp>
        <p:nvSpPr>
          <p:cNvPr id="4" name="Slide Number Placeholder 3">
            <a:extLst>
              <a:ext uri="{FF2B5EF4-FFF2-40B4-BE49-F238E27FC236}">
                <a16:creationId xmlns:a16="http://schemas.microsoft.com/office/drawing/2014/main" id="{862F8DD0-432D-2716-C29E-0CC0A0DAFD45}"/>
              </a:ext>
            </a:extLst>
          </p:cNvPr>
          <p:cNvSpPr>
            <a:spLocks noGrp="1"/>
          </p:cNvSpPr>
          <p:nvPr>
            <p:ph type="sldNum" sz="quarter" idx="5"/>
          </p:nvPr>
        </p:nvSpPr>
        <p:spPr/>
        <p:txBody>
          <a:bodyPr/>
          <a:lstStyle/>
          <a:p>
            <a:fld id="{FFB500C5-13F7-48FC-8160-C29AECF6C602}" type="slidenum">
              <a:rPr lang="en-US" smtClean="0"/>
              <a:t>6</a:t>
            </a:fld>
            <a:endParaRPr lang="en-US"/>
          </a:p>
        </p:txBody>
      </p:sp>
    </p:spTree>
    <p:extLst>
      <p:ext uri="{BB962C8B-B14F-4D97-AF65-F5344CB8AC3E}">
        <p14:creationId xmlns:p14="http://schemas.microsoft.com/office/powerpoint/2010/main" val="3735528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5F52C-457A-FD7B-D47C-860D38AE7C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FC23CA-427C-168C-E4BD-6A4FA5A3BC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FF741C-AD6C-5BAD-8438-BBA628D4F2F7}"/>
              </a:ext>
            </a:extLst>
          </p:cNvPr>
          <p:cNvSpPr>
            <a:spLocks noGrp="1"/>
          </p:cNvSpPr>
          <p:nvPr>
            <p:ph type="body" idx="1"/>
          </p:nvPr>
        </p:nvSpPr>
        <p:spPr/>
        <p:txBody>
          <a:bodyPr>
            <a:normAutofit/>
          </a:bodyPr>
          <a:lstStyle/>
          <a:p>
            <a:r>
              <a:rPr lang="en-US" sz="1800" dirty="0"/>
              <a:t>This will be covered in detail in the next several slides, we will practice together with the </a:t>
            </a:r>
            <a:r>
              <a:rPr lang="en-US" sz="1800" dirty="0" err="1"/>
              <a:t>EquitySnapshot</a:t>
            </a:r>
            <a:r>
              <a:rPr lang="en-US" sz="1800" dirty="0"/>
              <a:t> dataset and then you will have your try of the </a:t>
            </a:r>
            <a:r>
              <a:rPr lang="en-US" sz="1800" dirty="0" err="1"/>
              <a:t>ETFSnapshot</a:t>
            </a:r>
            <a:r>
              <a:rPr lang="en-US" sz="1800" dirty="0"/>
              <a:t> dataset </a:t>
            </a:r>
          </a:p>
        </p:txBody>
      </p:sp>
      <p:sp>
        <p:nvSpPr>
          <p:cNvPr id="4" name="Footer Placeholder 3">
            <a:extLst>
              <a:ext uri="{FF2B5EF4-FFF2-40B4-BE49-F238E27FC236}">
                <a16:creationId xmlns:a16="http://schemas.microsoft.com/office/drawing/2014/main" id="{A23B21F0-E6A5-C0C6-5888-75745BBBBA12}"/>
              </a:ext>
            </a:extLst>
          </p:cNvPr>
          <p:cNvSpPr>
            <a:spLocks noGrp="1"/>
          </p:cNvSpPr>
          <p:nvPr>
            <p:ph type="ftr" sz="quarter" idx="4"/>
          </p:nvPr>
        </p:nvSpPr>
        <p:spPr/>
        <p:txBody>
          <a:bodyPr/>
          <a:lstStyle/>
          <a:p>
            <a:pPr>
              <a:defRPr/>
            </a:pPr>
            <a:r>
              <a:rPr lang="en-GB" dirty="0"/>
              <a:t>2014 – 2015 HR P&amp;P Change Professional Development Programme </a:t>
            </a:r>
          </a:p>
        </p:txBody>
      </p:sp>
      <p:sp>
        <p:nvSpPr>
          <p:cNvPr id="5" name="Slide Number Placeholder 4">
            <a:extLst>
              <a:ext uri="{FF2B5EF4-FFF2-40B4-BE49-F238E27FC236}">
                <a16:creationId xmlns:a16="http://schemas.microsoft.com/office/drawing/2014/main" id="{E7068FC4-2E62-8E6B-9DF9-7C98AAC5F562}"/>
              </a:ext>
            </a:extLst>
          </p:cNvPr>
          <p:cNvSpPr>
            <a:spLocks noGrp="1"/>
          </p:cNvSpPr>
          <p:nvPr>
            <p:ph type="sldNum" sz="quarter" idx="5"/>
          </p:nvPr>
        </p:nvSpPr>
        <p:spPr/>
        <p:txBody>
          <a:bodyPr/>
          <a:lstStyle/>
          <a:p>
            <a:pPr>
              <a:defRPr/>
            </a:pPr>
            <a:fld id="{ED330047-4CBA-4A63-9E55-79F1B5A3601F}" type="slidenum">
              <a:rPr lang="en-GB" smtClean="0"/>
              <a:pPr>
                <a:defRPr/>
              </a:pPr>
              <a:t>7</a:t>
            </a:fld>
            <a:endParaRPr lang="en-GB" dirty="0"/>
          </a:p>
        </p:txBody>
      </p:sp>
    </p:spTree>
    <p:extLst>
      <p:ext uri="{BB962C8B-B14F-4D97-AF65-F5344CB8AC3E}">
        <p14:creationId xmlns:p14="http://schemas.microsoft.com/office/powerpoint/2010/main" val="42171104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62533-FFBA-AC55-F2D8-A6AC38EE97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851430-7C94-C99E-AEF7-946CCDC5AF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53C77E-8480-11B3-5FA4-6F90A857CFC4}"/>
              </a:ext>
            </a:extLst>
          </p:cNvPr>
          <p:cNvSpPr>
            <a:spLocks noGrp="1"/>
          </p:cNvSpPr>
          <p:nvPr>
            <p:ph type="body" idx="1"/>
          </p:nvPr>
        </p:nvSpPr>
        <p:spPr/>
        <p:txBody>
          <a:bodyPr>
            <a:normAutofit/>
          </a:bodyPr>
          <a:lstStyle/>
          <a:p>
            <a:endParaRPr lang="en-US" sz="1800" dirty="0"/>
          </a:p>
        </p:txBody>
      </p:sp>
      <p:sp>
        <p:nvSpPr>
          <p:cNvPr id="4" name="Footer Placeholder 3">
            <a:extLst>
              <a:ext uri="{FF2B5EF4-FFF2-40B4-BE49-F238E27FC236}">
                <a16:creationId xmlns:a16="http://schemas.microsoft.com/office/drawing/2014/main" id="{FADE8AF1-F8D9-C1FC-109A-AF1E35C7B073}"/>
              </a:ext>
            </a:extLst>
          </p:cNvPr>
          <p:cNvSpPr>
            <a:spLocks noGrp="1"/>
          </p:cNvSpPr>
          <p:nvPr>
            <p:ph type="ftr" sz="quarter" idx="4"/>
          </p:nvPr>
        </p:nvSpPr>
        <p:spPr/>
        <p:txBody>
          <a:bodyPr/>
          <a:lstStyle/>
          <a:p>
            <a:pPr>
              <a:defRPr/>
            </a:pPr>
            <a:r>
              <a:rPr lang="en-GB" dirty="0"/>
              <a:t>2014 – 2015 HR P&amp;P Change Professional Development Programme </a:t>
            </a:r>
          </a:p>
        </p:txBody>
      </p:sp>
      <p:sp>
        <p:nvSpPr>
          <p:cNvPr id="5" name="Slide Number Placeholder 4">
            <a:extLst>
              <a:ext uri="{FF2B5EF4-FFF2-40B4-BE49-F238E27FC236}">
                <a16:creationId xmlns:a16="http://schemas.microsoft.com/office/drawing/2014/main" id="{BD1EBB79-FC22-1DB1-758B-9E93526283EC}"/>
              </a:ext>
            </a:extLst>
          </p:cNvPr>
          <p:cNvSpPr>
            <a:spLocks noGrp="1"/>
          </p:cNvSpPr>
          <p:nvPr>
            <p:ph type="sldNum" sz="quarter" idx="5"/>
          </p:nvPr>
        </p:nvSpPr>
        <p:spPr/>
        <p:txBody>
          <a:bodyPr/>
          <a:lstStyle/>
          <a:p>
            <a:pPr>
              <a:defRPr/>
            </a:pPr>
            <a:fld id="{ED330047-4CBA-4A63-9E55-79F1B5A3601F}" type="slidenum">
              <a:rPr lang="en-GB" smtClean="0"/>
              <a:pPr>
                <a:defRPr/>
              </a:pPr>
              <a:t>8</a:t>
            </a:fld>
            <a:endParaRPr lang="en-GB" dirty="0"/>
          </a:p>
        </p:txBody>
      </p:sp>
    </p:spTree>
    <p:extLst>
      <p:ext uri="{BB962C8B-B14F-4D97-AF65-F5344CB8AC3E}">
        <p14:creationId xmlns:p14="http://schemas.microsoft.com/office/powerpoint/2010/main" val="3793033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9E835-0570-EF20-791E-98007F646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7E1AB-9EC3-DF36-B818-DE6006F25F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0A8114-4200-E008-4461-632E902B6FA2}"/>
              </a:ext>
            </a:extLst>
          </p:cNvPr>
          <p:cNvSpPr>
            <a:spLocks noGrp="1"/>
          </p:cNvSpPr>
          <p:nvPr>
            <p:ph type="body" idx="1"/>
          </p:nvPr>
        </p:nvSpPr>
        <p:spPr/>
        <p:txBody>
          <a:bodyPr>
            <a:normAutofit/>
          </a:bodyPr>
          <a:lstStyle/>
          <a:p>
            <a:endParaRPr lang="en-US" sz="1800" dirty="0"/>
          </a:p>
        </p:txBody>
      </p:sp>
      <p:sp>
        <p:nvSpPr>
          <p:cNvPr id="4" name="Footer Placeholder 3">
            <a:extLst>
              <a:ext uri="{FF2B5EF4-FFF2-40B4-BE49-F238E27FC236}">
                <a16:creationId xmlns:a16="http://schemas.microsoft.com/office/drawing/2014/main" id="{D461B378-1121-574C-4E20-95AB247A2CA1}"/>
              </a:ext>
            </a:extLst>
          </p:cNvPr>
          <p:cNvSpPr>
            <a:spLocks noGrp="1"/>
          </p:cNvSpPr>
          <p:nvPr>
            <p:ph type="ftr" sz="quarter" idx="4"/>
          </p:nvPr>
        </p:nvSpPr>
        <p:spPr/>
        <p:txBody>
          <a:bodyPr/>
          <a:lstStyle/>
          <a:p>
            <a:pPr>
              <a:defRPr/>
            </a:pPr>
            <a:r>
              <a:rPr lang="en-GB" dirty="0"/>
              <a:t>2014 – 2015 HR P&amp;P Change Professional Development Programme </a:t>
            </a:r>
          </a:p>
        </p:txBody>
      </p:sp>
      <p:sp>
        <p:nvSpPr>
          <p:cNvPr id="5" name="Slide Number Placeholder 4">
            <a:extLst>
              <a:ext uri="{FF2B5EF4-FFF2-40B4-BE49-F238E27FC236}">
                <a16:creationId xmlns:a16="http://schemas.microsoft.com/office/drawing/2014/main" id="{0B85E3F7-7F9E-619E-C799-F5728522A5CB}"/>
              </a:ext>
            </a:extLst>
          </p:cNvPr>
          <p:cNvSpPr>
            <a:spLocks noGrp="1"/>
          </p:cNvSpPr>
          <p:nvPr>
            <p:ph type="sldNum" sz="quarter" idx="5"/>
          </p:nvPr>
        </p:nvSpPr>
        <p:spPr/>
        <p:txBody>
          <a:bodyPr/>
          <a:lstStyle/>
          <a:p>
            <a:pPr>
              <a:defRPr/>
            </a:pPr>
            <a:fld id="{ED330047-4CBA-4A63-9E55-79F1B5A3601F}" type="slidenum">
              <a:rPr lang="en-GB" smtClean="0"/>
              <a:pPr>
                <a:defRPr/>
              </a:pPr>
              <a:t>9</a:t>
            </a:fld>
            <a:endParaRPr lang="en-GB" dirty="0"/>
          </a:p>
        </p:txBody>
      </p:sp>
    </p:spTree>
    <p:extLst>
      <p:ext uri="{BB962C8B-B14F-4D97-AF65-F5344CB8AC3E}">
        <p14:creationId xmlns:p14="http://schemas.microsoft.com/office/powerpoint/2010/main" val="5810289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EF882-1F27-A164-2DD1-C1D1A2445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BF08DF-558F-5ADE-6A05-232545F68D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092613-BE32-CE16-4D73-5B20A10CB5A4}"/>
              </a:ext>
            </a:extLst>
          </p:cNvPr>
          <p:cNvSpPr>
            <a:spLocks noGrp="1"/>
          </p:cNvSpPr>
          <p:nvPr>
            <p:ph type="body" idx="1"/>
          </p:nvPr>
        </p:nvSpPr>
        <p:spPr/>
        <p:txBody>
          <a:bodyPr>
            <a:normAutofit/>
          </a:bodyPr>
          <a:lstStyle/>
          <a:p>
            <a:endParaRPr lang="en-US" sz="1800" dirty="0"/>
          </a:p>
        </p:txBody>
      </p:sp>
      <p:sp>
        <p:nvSpPr>
          <p:cNvPr id="4" name="Footer Placeholder 3">
            <a:extLst>
              <a:ext uri="{FF2B5EF4-FFF2-40B4-BE49-F238E27FC236}">
                <a16:creationId xmlns:a16="http://schemas.microsoft.com/office/drawing/2014/main" id="{784D003F-BBD0-70E5-8BC0-F0FE2F3A0182}"/>
              </a:ext>
            </a:extLst>
          </p:cNvPr>
          <p:cNvSpPr>
            <a:spLocks noGrp="1"/>
          </p:cNvSpPr>
          <p:nvPr>
            <p:ph type="ftr" sz="quarter" idx="4"/>
          </p:nvPr>
        </p:nvSpPr>
        <p:spPr/>
        <p:txBody>
          <a:bodyPr/>
          <a:lstStyle/>
          <a:p>
            <a:pPr>
              <a:defRPr/>
            </a:pPr>
            <a:r>
              <a:rPr lang="en-GB" dirty="0"/>
              <a:t>2014 – 2015 HR P&amp;P Change Professional Development Programme </a:t>
            </a:r>
          </a:p>
        </p:txBody>
      </p:sp>
      <p:sp>
        <p:nvSpPr>
          <p:cNvPr id="5" name="Slide Number Placeholder 4">
            <a:extLst>
              <a:ext uri="{FF2B5EF4-FFF2-40B4-BE49-F238E27FC236}">
                <a16:creationId xmlns:a16="http://schemas.microsoft.com/office/drawing/2014/main" id="{42BCDEF5-BC67-068A-A095-7C00283119BB}"/>
              </a:ext>
            </a:extLst>
          </p:cNvPr>
          <p:cNvSpPr>
            <a:spLocks noGrp="1"/>
          </p:cNvSpPr>
          <p:nvPr>
            <p:ph type="sldNum" sz="quarter" idx="5"/>
          </p:nvPr>
        </p:nvSpPr>
        <p:spPr/>
        <p:txBody>
          <a:bodyPr/>
          <a:lstStyle/>
          <a:p>
            <a:pPr>
              <a:defRPr/>
            </a:pPr>
            <a:fld id="{ED330047-4CBA-4A63-9E55-79F1B5A3601F}" type="slidenum">
              <a:rPr lang="en-GB" smtClean="0"/>
              <a:pPr>
                <a:defRPr/>
              </a:pPr>
              <a:t>10</a:t>
            </a:fld>
            <a:endParaRPr lang="en-GB" dirty="0"/>
          </a:p>
        </p:txBody>
      </p:sp>
    </p:spTree>
    <p:extLst>
      <p:ext uri="{BB962C8B-B14F-4D97-AF65-F5344CB8AC3E}">
        <p14:creationId xmlns:p14="http://schemas.microsoft.com/office/powerpoint/2010/main" val="14797001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35463-1000-54D8-144B-EE7940BE27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FF008D-17B3-9EBC-6032-46441CCD51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899B87-585A-55A7-147F-2C440A62AC5B}"/>
              </a:ext>
            </a:extLst>
          </p:cNvPr>
          <p:cNvSpPr>
            <a:spLocks noGrp="1"/>
          </p:cNvSpPr>
          <p:nvPr>
            <p:ph type="body" idx="1"/>
          </p:nvPr>
        </p:nvSpPr>
        <p:spPr/>
        <p:txBody>
          <a:bodyPr>
            <a:normAutofit/>
          </a:bodyPr>
          <a:lstStyle/>
          <a:p>
            <a:endParaRPr lang="en-US" sz="1800" dirty="0"/>
          </a:p>
        </p:txBody>
      </p:sp>
      <p:sp>
        <p:nvSpPr>
          <p:cNvPr id="4" name="Footer Placeholder 3">
            <a:extLst>
              <a:ext uri="{FF2B5EF4-FFF2-40B4-BE49-F238E27FC236}">
                <a16:creationId xmlns:a16="http://schemas.microsoft.com/office/drawing/2014/main" id="{2883C50A-7869-1718-98A9-C47469D0AEF1}"/>
              </a:ext>
            </a:extLst>
          </p:cNvPr>
          <p:cNvSpPr>
            <a:spLocks noGrp="1"/>
          </p:cNvSpPr>
          <p:nvPr>
            <p:ph type="ftr" sz="quarter" idx="4"/>
          </p:nvPr>
        </p:nvSpPr>
        <p:spPr/>
        <p:txBody>
          <a:bodyPr/>
          <a:lstStyle/>
          <a:p>
            <a:pPr>
              <a:defRPr/>
            </a:pPr>
            <a:r>
              <a:rPr lang="en-GB" dirty="0"/>
              <a:t>2014 – 2015 HR P&amp;P Change Professional Development Programme </a:t>
            </a:r>
          </a:p>
        </p:txBody>
      </p:sp>
      <p:sp>
        <p:nvSpPr>
          <p:cNvPr id="5" name="Slide Number Placeholder 4">
            <a:extLst>
              <a:ext uri="{FF2B5EF4-FFF2-40B4-BE49-F238E27FC236}">
                <a16:creationId xmlns:a16="http://schemas.microsoft.com/office/drawing/2014/main" id="{C7EC73E5-1335-56CF-7744-10DB52E5CDFA}"/>
              </a:ext>
            </a:extLst>
          </p:cNvPr>
          <p:cNvSpPr>
            <a:spLocks noGrp="1"/>
          </p:cNvSpPr>
          <p:nvPr>
            <p:ph type="sldNum" sz="quarter" idx="5"/>
          </p:nvPr>
        </p:nvSpPr>
        <p:spPr/>
        <p:txBody>
          <a:bodyPr/>
          <a:lstStyle/>
          <a:p>
            <a:pPr>
              <a:defRPr/>
            </a:pPr>
            <a:fld id="{ED330047-4CBA-4A63-9E55-79F1B5A3601F}" type="slidenum">
              <a:rPr lang="en-GB" smtClean="0"/>
              <a:pPr>
                <a:defRPr/>
              </a:pPr>
              <a:t>11</a:t>
            </a:fld>
            <a:endParaRPr lang="en-GB" dirty="0"/>
          </a:p>
        </p:txBody>
      </p:sp>
    </p:spTree>
    <p:extLst>
      <p:ext uri="{BB962C8B-B14F-4D97-AF65-F5344CB8AC3E}">
        <p14:creationId xmlns:p14="http://schemas.microsoft.com/office/powerpoint/2010/main" val="38696555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C5750-04F7-FC37-89F9-1B28904E8D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47141-C6C0-7994-CC9F-9EC808EBA3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6F5C1E-85D2-4F64-6798-BA4778A34AA4}"/>
              </a:ext>
            </a:extLst>
          </p:cNvPr>
          <p:cNvSpPr>
            <a:spLocks noGrp="1"/>
          </p:cNvSpPr>
          <p:nvPr>
            <p:ph type="body" idx="1"/>
          </p:nvPr>
        </p:nvSpPr>
        <p:spPr/>
        <p:txBody>
          <a:bodyPr>
            <a:normAutofit/>
          </a:bodyPr>
          <a:lstStyle/>
          <a:p>
            <a:endParaRPr lang="en-US" sz="1800" dirty="0"/>
          </a:p>
        </p:txBody>
      </p:sp>
      <p:sp>
        <p:nvSpPr>
          <p:cNvPr id="4" name="Footer Placeholder 3">
            <a:extLst>
              <a:ext uri="{FF2B5EF4-FFF2-40B4-BE49-F238E27FC236}">
                <a16:creationId xmlns:a16="http://schemas.microsoft.com/office/drawing/2014/main" id="{D3FD3777-5C66-1144-8445-1EB208E4D040}"/>
              </a:ext>
            </a:extLst>
          </p:cNvPr>
          <p:cNvSpPr>
            <a:spLocks noGrp="1"/>
          </p:cNvSpPr>
          <p:nvPr>
            <p:ph type="ftr" sz="quarter" idx="4"/>
          </p:nvPr>
        </p:nvSpPr>
        <p:spPr/>
        <p:txBody>
          <a:bodyPr/>
          <a:lstStyle/>
          <a:p>
            <a:pPr>
              <a:defRPr/>
            </a:pPr>
            <a:r>
              <a:rPr lang="en-GB" dirty="0"/>
              <a:t>2014 – 2015 HR P&amp;P Change Professional Development Programme </a:t>
            </a:r>
          </a:p>
        </p:txBody>
      </p:sp>
      <p:sp>
        <p:nvSpPr>
          <p:cNvPr id="5" name="Slide Number Placeholder 4">
            <a:extLst>
              <a:ext uri="{FF2B5EF4-FFF2-40B4-BE49-F238E27FC236}">
                <a16:creationId xmlns:a16="http://schemas.microsoft.com/office/drawing/2014/main" id="{1274E427-C67F-73AA-4629-DBD582F1CA2E}"/>
              </a:ext>
            </a:extLst>
          </p:cNvPr>
          <p:cNvSpPr>
            <a:spLocks noGrp="1"/>
          </p:cNvSpPr>
          <p:nvPr>
            <p:ph type="sldNum" sz="quarter" idx="5"/>
          </p:nvPr>
        </p:nvSpPr>
        <p:spPr/>
        <p:txBody>
          <a:bodyPr/>
          <a:lstStyle/>
          <a:p>
            <a:pPr>
              <a:defRPr/>
            </a:pPr>
            <a:fld id="{ED330047-4CBA-4A63-9E55-79F1B5A3601F}" type="slidenum">
              <a:rPr lang="en-GB" smtClean="0"/>
              <a:pPr>
                <a:defRPr/>
              </a:pPr>
              <a:t>12</a:t>
            </a:fld>
            <a:endParaRPr lang="en-GB" dirty="0"/>
          </a:p>
        </p:txBody>
      </p:sp>
    </p:spTree>
    <p:extLst>
      <p:ext uri="{BB962C8B-B14F-4D97-AF65-F5344CB8AC3E}">
        <p14:creationId xmlns:p14="http://schemas.microsoft.com/office/powerpoint/2010/main" val="42360425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80B3B-0FF2-B7C9-7AAE-6B40D2B064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2E1128-8F50-C6EA-C827-9AFB8C0BF8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18175B-CDD7-B8CF-CF36-2C78A9AFF0E8}"/>
              </a:ext>
            </a:extLst>
          </p:cNvPr>
          <p:cNvSpPr>
            <a:spLocks noGrp="1"/>
          </p:cNvSpPr>
          <p:nvPr>
            <p:ph type="body" idx="1"/>
          </p:nvPr>
        </p:nvSpPr>
        <p:spPr/>
        <p:txBody>
          <a:bodyPr>
            <a:normAutofit/>
          </a:bodyPr>
          <a:lstStyle/>
          <a:p>
            <a:endParaRPr lang="en-US" sz="1800" dirty="0"/>
          </a:p>
        </p:txBody>
      </p:sp>
      <p:sp>
        <p:nvSpPr>
          <p:cNvPr id="4" name="Footer Placeholder 3">
            <a:extLst>
              <a:ext uri="{FF2B5EF4-FFF2-40B4-BE49-F238E27FC236}">
                <a16:creationId xmlns:a16="http://schemas.microsoft.com/office/drawing/2014/main" id="{BAC23954-EF88-6F95-01DE-714D34908DCE}"/>
              </a:ext>
            </a:extLst>
          </p:cNvPr>
          <p:cNvSpPr>
            <a:spLocks noGrp="1"/>
          </p:cNvSpPr>
          <p:nvPr>
            <p:ph type="ftr" sz="quarter" idx="4"/>
          </p:nvPr>
        </p:nvSpPr>
        <p:spPr/>
        <p:txBody>
          <a:bodyPr/>
          <a:lstStyle/>
          <a:p>
            <a:pPr>
              <a:defRPr/>
            </a:pPr>
            <a:r>
              <a:rPr lang="en-GB" dirty="0"/>
              <a:t>2014 – 2015 HR P&amp;P Change Professional Development Programme </a:t>
            </a:r>
          </a:p>
        </p:txBody>
      </p:sp>
      <p:sp>
        <p:nvSpPr>
          <p:cNvPr id="5" name="Slide Number Placeholder 4">
            <a:extLst>
              <a:ext uri="{FF2B5EF4-FFF2-40B4-BE49-F238E27FC236}">
                <a16:creationId xmlns:a16="http://schemas.microsoft.com/office/drawing/2014/main" id="{245D4D6B-7AFE-AC84-8E11-04A504952C58}"/>
              </a:ext>
            </a:extLst>
          </p:cNvPr>
          <p:cNvSpPr>
            <a:spLocks noGrp="1"/>
          </p:cNvSpPr>
          <p:nvPr>
            <p:ph type="sldNum" sz="quarter" idx="5"/>
          </p:nvPr>
        </p:nvSpPr>
        <p:spPr/>
        <p:txBody>
          <a:bodyPr/>
          <a:lstStyle/>
          <a:p>
            <a:pPr>
              <a:defRPr/>
            </a:pPr>
            <a:fld id="{ED330047-4CBA-4A63-9E55-79F1B5A3601F}" type="slidenum">
              <a:rPr lang="en-GB" smtClean="0"/>
              <a:pPr>
                <a:defRPr/>
              </a:pPr>
              <a:t>13</a:t>
            </a:fld>
            <a:endParaRPr lang="en-GB" dirty="0"/>
          </a:p>
        </p:txBody>
      </p:sp>
    </p:spTree>
    <p:extLst>
      <p:ext uri="{BB962C8B-B14F-4D97-AF65-F5344CB8AC3E}">
        <p14:creationId xmlns:p14="http://schemas.microsoft.com/office/powerpoint/2010/main" val="37444490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8C871-AC8B-1135-E6AE-AE94FADBB5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376E9-DAE3-91AF-2B5A-ED2FAFB9E5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87E52E-5252-4490-EAAC-60D7B4C5B636}"/>
              </a:ext>
            </a:extLst>
          </p:cNvPr>
          <p:cNvSpPr>
            <a:spLocks noGrp="1"/>
          </p:cNvSpPr>
          <p:nvPr>
            <p:ph type="body" idx="1"/>
          </p:nvPr>
        </p:nvSpPr>
        <p:spPr/>
        <p:txBody>
          <a:bodyPr>
            <a:normAutofit/>
          </a:bodyPr>
          <a:lstStyle/>
          <a:p>
            <a:endParaRPr lang="en-US" sz="1800" dirty="0"/>
          </a:p>
        </p:txBody>
      </p:sp>
      <p:sp>
        <p:nvSpPr>
          <p:cNvPr id="4" name="Footer Placeholder 3">
            <a:extLst>
              <a:ext uri="{FF2B5EF4-FFF2-40B4-BE49-F238E27FC236}">
                <a16:creationId xmlns:a16="http://schemas.microsoft.com/office/drawing/2014/main" id="{54B722C8-F62E-5C2D-5F64-244B375C6711}"/>
              </a:ext>
            </a:extLst>
          </p:cNvPr>
          <p:cNvSpPr>
            <a:spLocks noGrp="1"/>
          </p:cNvSpPr>
          <p:nvPr>
            <p:ph type="ftr" sz="quarter" idx="4"/>
          </p:nvPr>
        </p:nvSpPr>
        <p:spPr/>
        <p:txBody>
          <a:bodyPr/>
          <a:lstStyle/>
          <a:p>
            <a:pPr>
              <a:defRPr/>
            </a:pPr>
            <a:r>
              <a:rPr lang="en-GB" dirty="0"/>
              <a:t>2014 – 2015 HR P&amp;P Change Professional Development Programme </a:t>
            </a:r>
          </a:p>
        </p:txBody>
      </p:sp>
      <p:sp>
        <p:nvSpPr>
          <p:cNvPr id="5" name="Slide Number Placeholder 4">
            <a:extLst>
              <a:ext uri="{FF2B5EF4-FFF2-40B4-BE49-F238E27FC236}">
                <a16:creationId xmlns:a16="http://schemas.microsoft.com/office/drawing/2014/main" id="{7B8976DA-DFD6-B607-9820-CE9A04E28D3A}"/>
              </a:ext>
            </a:extLst>
          </p:cNvPr>
          <p:cNvSpPr>
            <a:spLocks noGrp="1"/>
          </p:cNvSpPr>
          <p:nvPr>
            <p:ph type="sldNum" sz="quarter" idx="5"/>
          </p:nvPr>
        </p:nvSpPr>
        <p:spPr/>
        <p:txBody>
          <a:bodyPr/>
          <a:lstStyle/>
          <a:p>
            <a:pPr>
              <a:defRPr/>
            </a:pPr>
            <a:fld id="{ED330047-4CBA-4A63-9E55-79F1B5A3601F}" type="slidenum">
              <a:rPr lang="en-GB" smtClean="0"/>
              <a:pPr>
                <a:defRPr/>
              </a:pPr>
              <a:t>14</a:t>
            </a:fld>
            <a:endParaRPr lang="en-GB" dirty="0"/>
          </a:p>
        </p:txBody>
      </p:sp>
    </p:spTree>
    <p:extLst>
      <p:ext uri="{BB962C8B-B14F-4D97-AF65-F5344CB8AC3E}">
        <p14:creationId xmlns:p14="http://schemas.microsoft.com/office/powerpoint/2010/main" val="2231888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77238-6735-61B8-8DE2-783E7279C5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FFB8B0-B63F-AEE3-05C1-E8CED6B632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F67F6F-17B1-5511-1CD9-2343725D7347}"/>
              </a:ext>
            </a:extLst>
          </p:cNvPr>
          <p:cNvSpPr>
            <a:spLocks noGrp="1"/>
          </p:cNvSpPr>
          <p:nvPr>
            <p:ph type="body" idx="1"/>
          </p:nvPr>
        </p:nvSpPr>
        <p:spPr/>
        <p:txBody>
          <a:bodyPr/>
          <a:lstStyle/>
          <a:p>
            <a:r>
              <a:rPr lang="en-US" sz="1200" dirty="0"/>
              <a:t>These are the three most common ways prompts fail.</a:t>
            </a:r>
          </a:p>
          <a:p>
            <a:endParaRPr lang="en-US" sz="1200" dirty="0"/>
          </a:p>
          <a:p>
            <a:r>
              <a:rPr lang="en-US" sz="1200" dirty="0"/>
              <a:t>First, vague data references. Words like ‘this,’ ‘here,’ or ‘the data.’ Copilot doesn’t know what that means unless you’ve named it.</a:t>
            </a:r>
          </a:p>
          <a:p>
            <a:endParaRPr lang="en-US" sz="1200" dirty="0"/>
          </a:p>
          <a:p>
            <a:r>
              <a:rPr lang="en-US" sz="1200" dirty="0"/>
              <a:t>Second, missing output constraints. If you don’t tell it what the answer should look like, you’ll usually get something long, generic, or unusable.</a:t>
            </a:r>
          </a:p>
          <a:p>
            <a:endParaRPr lang="en-US" sz="1200" dirty="0"/>
          </a:p>
          <a:p>
            <a:r>
              <a:rPr lang="en-US" sz="1200" dirty="0"/>
              <a:t>And third, asking for judgment when you really just want description. Words like ‘evaluate’ or ‘recommend’ when all you actually need is ‘summarize’ or ‘describe.’</a:t>
            </a:r>
          </a:p>
          <a:p>
            <a:r>
              <a:rPr lang="en-US" sz="1200" dirty="0"/>
              <a:t>If you fix these three things, a lot of Copilot frustration just disappears</a:t>
            </a:r>
          </a:p>
          <a:p>
            <a:endParaRPr lang="en-US" sz="1200" dirty="0"/>
          </a:p>
        </p:txBody>
      </p:sp>
      <p:sp>
        <p:nvSpPr>
          <p:cNvPr id="4" name="Slide Number Placeholder 3">
            <a:extLst>
              <a:ext uri="{FF2B5EF4-FFF2-40B4-BE49-F238E27FC236}">
                <a16:creationId xmlns:a16="http://schemas.microsoft.com/office/drawing/2014/main" id="{B0E4DC8A-2F47-F2A5-1695-192C3A11AE2F}"/>
              </a:ext>
            </a:extLst>
          </p:cNvPr>
          <p:cNvSpPr>
            <a:spLocks noGrp="1"/>
          </p:cNvSpPr>
          <p:nvPr>
            <p:ph type="sldNum" sz="quarter" idx="5"/>
          </p:nvPr>
        </p:nvSpPr>
        <p:spPr/>
        <p:txBody>
          <a:bodyPr/>
          <a:lstStyle/>
          <a:p>
            <a:fld id="{FFB500C5-13F7-48FC-8160-C29AECF6C602}" type="slidenum">
              <a:rPr lang="en-US" smtClean="0"/>
              <a:t>15</a:t>
            </a:fld>
            <a:endParaRPr lang="en-US"/>
          </a:p>
        </p:txBody>
      </p:sp>
    </p:spTree>
    <p:extLst>
      <p:ext uri="{BB962C8B-B14F-4D97-AF65-F5344CB8AC3E}">
        <p14:creationId xmlns:p14="http://schemas.microsoft.com/office/powerpoint/2010/main" val="41733651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For this exercise, I want you to practice turning a vague, unusable prompt into something </a:t>
            </a:r>
          </a:p>
          <a:p>
            <a:endParaRPr lang="en-US" sz="1200" dirty="0"/>
          </a:p>
          <a:p>
            <a:r>
              <a:rPr lang="en-US" sz="1200" dirty="0"/>
              <a:t>Copilot can actually execute.</a:t>
            </a:r>
          </a:p>
          <a:p>
            <a:endParaRPr lang="en-US" sz="1200" dirty="0"/>
          </a:p>
          <a:p>
            <a:r>
              <a:rPr lang="en-US" sz="1200" dirty="0"/>
              <a:t>The original prompt is just: </a:t>
            </a:r>
            <a:r>
              <a:rPr lang="en-US" sz="1200" i="1" dirty="0"/>
              <a:t>“Analyze this.”</a:t>
            </a:r>
            <a:br>
              <a:rPr lang="en-US" sz="1200" dirty="0"/>
            </a:br>
            <a:endParaRPr lang="en-US" sz="1200" dirty="0"/>
          </a:p>
          <a:p>
            <a:r>
              <a:rPr lang="en-US" sz="1200" dirty="0"/>
              <a:t>That tells Copilot almost nothing. There’s no data context, no definition of success, and no guidance on what the output should look like.</a:t>
            </a:r>
          </a:p>
          <a:p>
            <a:endParaRPr lang="en-US" sz="1200" dirty="0"/>
          </a:p>
          <a:p>
            <a:r>
              <a:rPr lang="en-US" sz="1200" dirty="0"/>
              <a:t>Your job is to rewrite that prompt so it meets three criteria.</a:t>
            </a:r>
          </a:p>
          <a:p>
            <a:br>
              <a:rPr lang="en-US" sz="1200" dirty="0"/>
            </a:br>
            <a:r>
              <a:rPr lang="en-US" sz="1200" dirty="0"/>
              <a:t>First, </a:t>
            </a:r>
            <a:r>
              <a:rPr lang="en-US" sz="1200" b="1" dirty="0"/>
              <a:t>name the data source</a:t>
            </a:r>
            <a:r>
              <a:rPr lang="en-US" sz="1200" dirty="0"/>
              <a:t>.</a:t>
            </a:r>
            <a:br>
              <a:rPr lang="en-US" sz="1200" dirty="0"/>
            </a:br>
            <a:r>
              <a:rPr lang="en-US" sz="1200" dirty="0"/>
              <a:t>Tell Copilot exactly what it should analyze—whether that’s a table, a worksheet, or a specific column range.</a:t>
            </a:r>
          </a:p>
          <a:p>
            <a:endParaRPr lang="en-US" sz="1200" dirty="0"/>
          </a:p>
          <a:p>
            <a:r>
              <a:rPr lang="en-US" sz="1200" dirty="0"/>
              <a:t>Second, </a:t>
            </a:r>
            <a:r>
              <a:rPr lang="en-US" sz="1200" b="1" dirty="0"/>
              <a:t>define the metric</a:t>
            </a:r>
            <a:r>
              <a:rPr lang="en-US" sz="1200" dirty="0"/>
              <a:t>.</a:t>
            </a:r>
            <a:br>
              <a:rPr lang="en-US" sz="1200" dirty="0"/>
            </a:br>
            <a:r>
              <a:rPr lang="en-US" sz="1200" dirty="0"/>
              <a:t>What does “analyze” actually mean here? Are we summarizing totals, calculating averages, identifying trends, or comparing categories? Be explicit.</a:t>
            </a:r>
          </a:p>
          <a:p>
            <a:endParaRPr lang="en-US" sz="1200" dirty="0"/>
          </a:p>
          <a:p>
            <a:r>
              <a:rPr lang="en-US" sz="1200" dirty="0"/>
              <a:t>Third, </a:t>
            </a:r>
            <a:r>
              <a:rPr lang="en-US" sz="1200" b="1" dirty="0"/>
              <a:t>specify the output format</a:t>
            </a:r>
            <a:r>
              <a:rPr lang="en-US" sz="1200" dirty="0"/>
              <a:t>.</a:t>
            </a:r>
            <a:br>
              <a:rPr lang="en-US" sz="1200" dirty="0"/>
            </a:br>
            <a:r>
              <a:rPr lang="en-US" sz="1200" dirty="0"/>
              <a:t>Should the result be a summary table, bullet points, a chart, or a written explanation? Copilot needs to know what “done” looks like.</a:t>
            </a:r>
          </a:p>
          <a:p>
            <a:endParaRPr lang="en-US" sz="1200" dirty="0"/>
          </a:p>
          <a:p>
            <a:r>
              <a:rPr lang="en-US" sz="1200" dirty="0"/>
              <a:t>If you hit all three—data source, metric, and output format—you’ve transformed a useless prompt into a clear set of instructions. That’s the difference between hoping Copilot guesses correctly and actually controlling the result.</a:t>
            </a:r>
          </a:p>
          <a:p>
            <a:endParaRPr lang="en-US" sz="1200" dirty="0"/>
          </a:p>
          <a:p>
            <a:r>
              <a:rPr lang="en-US" sz="1200" dirty="0"/>
              <a:t>This is the core pattern we’ll reuse throughout the session.</a:t>
            </a:r>
          </a:p>
          <a:p>
            <a:endParaRPr lang="en-US" sz="1200" dirty="0"/>
          </a:p>
        </p:txBody>
      </p:sp>
      <p:sp>
        <p:nvSpPr>
          <p:cNvPr id="4" name="Slide Number Placeholder 3"/>
          <p:cNvSpPr>
            <a:spLocks noGrp="1"/>
          </p:cNvSpPr>
          <p:nvPr>
            <p:ph type="sldNum" sz="quarter" idx="5"/>
          </p:nvPr>
        </p:nvSpPr>
        <p:spPr/>
        <p:txBody>
          <a:bodyPr/>
          <a:lstStyle/>
          <a:p>
            <a:fld id="{1300335D-9F13-4B80-ADC5-B0EA3E10FF6B}" type="slidenum">
              <a:rPr lang="en-US" smtClean="0"/>
              <a:t>16</a:t>
            </a:fld>
            <a:endParaRPr lang="en-US"/>
          </a:p>
        </p:txBody>
      </p:sp>
    </p:spTree>
    <p:extLst>
      <p:ext uri="{BB962C8B-B14F-4D97-AF65-F5344CB8AC3E}">
        <p14:creationId xmlns:p14="http://schemas.microsoft.com/office/powerpoint/2010/main" val="6245492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374EF-2713-3155-EC1F-5469BBFD34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34AE94-08AF-CB45-1D38-8F8EAC1646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0AB033-6E6E-1802-6A3F-D0CB463092B3}"/>
              </a:ext>
            </a:extLst>
          </p:cNvPr>
          <p:cNvSpPr>
            <a:spLocks noGrp="1"/>
          </p:cNvSpPr>
          <p:nvPr>
            <p:ph type="body" idx="1"/>
          </p:nvPr>
        </p:nvSpPr>
        <p:spPr/>
        <p:txBody>
          <a:bodyPr/>
          <a:lstStyle/>
          <a:p>
            <a:r>
              <a:rPr lang="en-US" sz="1200" dirty="0"/>
              <a:t>For this exercise, I want you to practice turning a vague, unusable prompt into something </a:t>
            </a:r>
          </a:p>
          <a:p>
            <a:endParaRPr lang="en-US" sz="1200" dirty="0"/>
          </a:p>
          <a:p>
            <a:r>
              <a:rPr lang="en-US" sz="1200" dirty="0"/>
              <a:t>Copilot can actually execute.</a:t>
            </a:r>
          </a:p>
          <a:p>
            <a:endParaRPr lang="en-US" sz="1200" dirty="0"/>
          </a:p>
          <a:p>
            <a:r>
              <a:rPr lang="en-US" sz="1200" dirty="0"/>
              <a:t>The original prompt is just: </a:t>
            </a:r>
            <a:r>
              <a:rPr lang="en-US" sz="1200" i="1" dirty="0"/>
              <a:t>“Analyze this.”</a:t>
            </a:r>
            <a:br>
              <a:rPr lang="en-US" sz="1200" dirty="0"/>
            </a:br>
            <a:endParaRPr lang="en-US" sz="1200" dirty="0"/>
          </a:p>
          <a:p>
            <a:r>
              <a:rPr lang="en-US" sz="1200" dirty="0"/>
              <a:t>That tells Copilot almost nothing. There’s no data context, no definition of success, and no guidance on what the output should look like.</a:t>
            </a:r>
          </a:p>
          <a:p>
            <a:endParaRPr lang="en-US" sz="1200" dirty="0"/>
          </a:p>
          <a:p>
            <a:r>
              <a:rPr lang="en-US" sz="1200" dirty="0"/>
              <a:t>Your job is to rewrite that prompt so it meets three criteria.</a:t>
            </a:r>
          </a:p>
          <a:p>
            <a:br>
              <a:rPr lang="en-US" sz="1200" dirty="0"/>
            </a:br>
            <a:r>
              <a:rPr lang="en-US" sz="1200" dirty="0"/>
              <a:t>First, </a:t>
            </a:r>
            <a:r>
              <a:rPr lang="en-US" sz="1200" b="1" dirty="0"/>
              <a:t>name the data source</a:t>
            </a:r>
            <a:r>
              <a:rPr lang="en-US" sz="1200" dirty="0"/>
              <a:t>.</a:t>
            </a:r>
            <a:br>
              <a:rPr lang="en-US" sz="1200" dirty="0"/>
            </a:br>
            <a:r>
              <a:rPr lang="en-US" sz="1200" dirty="0"/>
              <a:t>Tell Copilot exactly what it should analyze—whether that’s a table, a worksheet, or a specific column range.</a:t>
            </a:r>
          </a:p>
          <a:p>
            <a:endParaRPr lang="en-US" sz="1200" dirty="0"/>
          </a:p>
          <a:p>
            <a:r>
              <a:rPr lang="en-US" sz="1200" dirty="0"/>
              <a:t>Second, </a:t>
            </a:r>
            <a:r>
              <a:rPr lang="en-US" sz="1200" b="1" dirty="0"/>
              <a:t>define the metric</a:t>
            </a:r>
            <a:r>
              <a:rPr lang="en-US" sz="1200" dirty="0"/>
              <a:t>.</a:t>
            </a:r>
            <a:br>
              <a:rPr lang="en-US" sz="1200" dirty="0"/>
            </a:br>
            <a:r>
              <a:rPr lang="en-US" sz="1200" dirty="0"/>
              <a:t>What does “analyze” actually mean here? Are we summarizing totals, calculating averages, identifying trends, or comparing categories? Be explicit.</a:t>
            </a:r>
          </a:p>
          <a:p>
            <a:endParaRPr lang="en-US" sz="1200" dirty="0"/>
          </a:p>
          <a:p>
            <a:r>
              <a:rPr lang="en-US" sz="1200" dirty="0"/>
              <a:t>Third, </a:t>
            </a:r>
            <a:r>
              <a:rPr lang="en-US" sz="1200" b="1" dirty="0"/>
              <a:t>specify the output format</a:t>
            </a:r>
            <a:r>
              <a:rPr lang="en-US" sz="1200" dirty="0"/>
              <a:t>.</a:t>
            </a:r>
            <a:br>
              <a:rPr lang="en-US" sz="1200" dirty="0"/>
            </a:br>
            <a:r>
              <a:rPr lang="en-US" sz="1200" dirty="0"/>
              <a:t>Should the result be a summary table, bullet points, a chart, or a written explanation? Copilot needs to know what “done” looks like.</a:t>
            </a:r>
          </a:p>
          <a:p>
            <a:endParaRPr lang="en-US" sz="1200" dirty="0"/>
          </a:p>
          <a:p>
            <a:r>
              <a:rPr lang="en-US" sz="1200" dirty="0"/>
              <a:t>If you hit all three—data source, metric, and output format—you’ve transformed a useless prompt into a clear set of instructions. That’s the difference between hoping Copilot guesses correctly and actually controlling the result.</a:t>
            </a:r>
          </a:p>
          <a:p>
            <a:endParaRPr lang="en-US" sz="1200" dirty="0"/>
          </a:p>
          <a:p>
            <a:r>
              <a:rPr lang="en-US" sz="1200" dirty="0"/>
              <a:t>This is the core pattern we’ll reuse throughout the session.</a:t>
            </a:r>
          </a:p>
          <a:p>
            <a:endParaRPr lang="en-US" sz="1200" dirty="0"/>
          </a:p>
        </p:txBody>
      </p:sp>
      <p:sp>
        <p:nvSpPr>
          <p:cNvPr id="4" name="Slide Number Placeholder 3">
            <a:extLst>
              <a:ext uri="{FF2B5EF4-FFF2-40B4-BE49-F238E27FC236}">
                <a16:creationId xmlns:a16="http://schemas.microsoft.com/office/drawing/2014/main" id="{BD93CC94-24CB-4464-AF3A-08CB44BB36BF}"/>
              </a:ext>
            </a:extLst>
          </p:cNvPr>
          <p:cNvSpPr>
            <a:spLocks noGrp="1"/>
          </p:cNvSpPr>
          <p:nvPr>
            <p:ph type="sldNum" sz="quarter" idx="5"/>
          </p:nvPr>
        </p:nvSpPr>
        <p:spPr/>
        <p:txBody>
          <a:bodyPr/>
          <a:lstStyle/>
          <a:p>
            <a:fld id="{1300335D-9F13-4B80-ADC5-B0EA3E10FF6B}" type="slidenum">
              <a:rPr lang="en-US" smtClean="0"/>
              <a:t>17</a:t>
            </a:fld>
            <a:endParaRPr lang="en-US"/>
          </a:p>
        </p:txBody>
      </p:sp>
    </p:spTree>
    <p:extLst>
      <p:ext uri="{BB962C8B-B14F-4D97-AF65-F5344CB8AC3E}">
        <p14:creationId xmlns:p14="http://schemas.microsoft.com/office/powerpoint/2010/main" val="29909542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2ABDB-44EA-DA6C-356C-E25EAFFFB7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3F0D4E-0281-B2F8-1E97-7EC478D4EF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CC7324-0EA4-3DD9-DEF2-26100E3B9156}"/>
              </a:ext>
            </a:extLst>
          </p:cNvPr>
          <p:cNvSpPr>
            <a:spLocks noGrp="1"/>
          </p:cNvSpPr>
          <p:nvPr>
            <p:ph type="body" idx="1"/>
          </p:nvPr>
        </p:nvSpPr>
        <p:spPr/>
        <p:txBody>
          <a:bodyPr/>
          <a:lstStyle/>
          <a:p>
            <a:r>
              <a:rPr lang="en-US" sz="1200" dirty="0"/>
              <a:t>This is the repeatable pattern I want you to take away.</a:t>
            </a:r>
          </a:p>
          <a:p>
            <a:endParaRPr lang="en-US" sz="1200" dirty="0"/>
          </a:p>
          <a:p>
            <a:r>
              <a:rPr lang="en-US" sz="1200" dirty="0"/>
              <a:t>First, </a:t>
            </a:r>
            <a:r>
              <a:rPr lang="en-US" sz="1200" b="1" dirty="0"/>
              <a:t>name the table or data source</a:t>
            </a:r>
            <a:r>
              <a:rPr lang="en-US" sz="1200" dirty="0"/>
              <a:t> so Copilot knows exactly what it’s working with.</a:t>
            </a:r>
            <a:br>
              <a:rPr lang="en-US" sz="1200" dirty="0"/>
            </a:br>
            <a:endParaRPr lang="en-US" sz="1200" dirty="0"/>
          </a:p>
          <a:p>
            <a:r>
              <a:rPr lang="en-US" sz="1200" dirty="0"/>
              <a:t>Second, </a:t>
            </a:r>
            <a:r>
              <a:rPr lang="en-US" sz="1200" b="1" dirty="0"/>
              <a:t>specify the metric</a:t>
            </a:r>
            <a:r>
              <a:rPr lang="en-US" sz="1200" dirty="0"/>
              <a:t>—don’t say “analyze,” say what to calculate or summarize.</a:t>
            </a:r>
            <a:br>
              <a:rPr lang="en-US" sz="1200" dirty="0"/>
            </a:br>
            <a:endParaRPr lang="en-US" sz="1200" dirty="0"/>
          </a:p>
          <a:p>
            <a:r>
              <a:rPr lang="en-US" sz="1200" dirty="0"/>
              <a:t>Third, </a:t>
            </a:r>
            <a:r>
              <a:rPr lang="en-US" sz="1200" b="1" dirty="0"/>
              <a:t>choose the format</a:t>
            </a:r>
            <a:r>
              <a:rPr lang="en-US" sz="1200" dirty="0"/>
              <a:t>, because output shape matters as much as the math.</a:t>
            </a:r>
            <a:br>
              <a:rPr lang="en-US" sz="1200" dirty="0"/>
            </a:br>
            <a:endParaRPr lang="en-US" sz="1200" dirty="0"/>
          </a:p>
          <a:p>
            <a:r>
              <a:rPr lang="en-US" sz="1200" dirty="0"/>
              <a:t>Fourth, </a:t>
            </a:r>
            <a:r>
              <a:rPr lang="en-US" sz="1200" b="1" dirty="0"/>
              <a:t>tell Copilot the audience</a:t>
            </a:r>
            <a:r>
              <a:rPr lang="en-US" sz="1200" dirty="0"/>
              <a:t>, which controls tone, depth, and vocabulary.</a:t>
            </a:r>
          </a:p>
          <a:p>
            <a:endParaRPr lang="en-US" sz="1200" dirty="0"/>
          </a:p>
          <a:p>
            <a:r>
              <a:rPr lang="en-US" sz="1200" dirty="0"/>
              <a:t>And finally, </a:t>
            </a:r>
            <a:r>
              <a:rPr lang="en-US" sz="1200" b="1" dirty="0"/>
              <a:t>iterate with intent</a:t>
            </a:r>
            <a:r>
              <a:rPr lang="en-US" sz="1200" dirty="0"/>
              <a:t>. Don’t just rerun the prompt—adjust one thing at a time so you stay in control of the result.</a:t>
            </a:r>
          </a:p>
          <a:p>
            <a:endParaRPr lang="en-US" sz="1200" dirty="0"/>
          </a:p>
          <a:p>
            <a:r>
              <a:rPr lang="en-US" sz="1200" dirty="0"/>
              <a:t>If you follow this sequence, Copilot stops feeling unpredictable and starts acting like a junior analyst you can actually direct.</a:t>
            </a:r>
          </a:p>
          <a:p>
            <a:endParaRPr lang="en-US" sz="1200" dirty="0"/>
          </a:p>
        </p:txBody>
      </p:sp>
      <p:sp>
        <p:nvSpPr>
          <p:cNvPr id="4" name="Slide Number Placeholder 3">
            <a:extLst>
              <a:ext uri="{FF2B5EF4-FFF2-40B4-BE49-F238E27FC236}">
                <a16:creationId xmlns:a16="http://schemas.microsoft.com/office/drawing/2014/main" id="{AF0BC683-8951-F1EB-0067-964F391CC1CF}"/>
              </a:ext>
            </a:extLst>
          </p:cNvPr>
          <p:cNvSpPr>
            <a:spLocks noGrp="1"/>
          </p:cNvSpPr>
          <p:nvPr>
            <p:ph type="sldNum" sz="quarter" idx="5"/>
          </p:nvPr>
        </p:nvSpPr>
        <p:spPr/>
        <p:txBody>
          <a:bodyPr/>
          <a:lstStyle/>
          <a:p>
            <a:fld id="{FFB500C5-13F7-48FC-8160-C29AECF6C602}" type="slidenum">
              <a:rPr lang="en-US" smtClean="0"/>
              <a:t>18</a:t>
            </a:fld>
            <a:endParaRPr lang="en-US"/>
          </a:p>
        </p:txBody>
      </p:sp>
    </p:spTree>
    <p:extLst>
      <p:ext uri="{BB962C8B-B14F-4D97-AF65-F5344CB8AC3E}">
        <p14:creationId xmlns:p14="http://schemas.microsoft.com/office/powerpoint/2010/main" val="41496512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749698" y="2875248"/>
            <a:ext cx="16603217" cy="6048672"/>
          </a:xfrm>
          <a:prstGeom prst="rect">
            <a:avLst/>
          </a:prstGeom>
        </p:spPr>
        <p:txBody>
          <a:bodyPr/>
          <a:lstStyle>
            <a:lvl1pPr marL="501176" indent="-501176">
              <a:spcBef>
                <a:spcPts val="1107"/>
              </a:spcBef>
              <a:buClr>
                <a:schemeClr val="tx1">
                  <a:lumMod val="85000"/>
                  <a:lumOff val="15000"/>
                </a:schemeClr>
              </a:buClr>
              <a:buFont typeface="Wingdings" pitchFamily="2" charset="2"/>
              <a:buChar char="§"/>
              <a:defRPr sz="2700" b="0">
                <a:latin typeface="Sabon Next LT" panose="02000500000000000000" pitchFamily="2" charset="0"/>
                <a:cs typeface="Sabon Next LT" panose="02000500000000000000" pitchFamily="2" charset="0"/>
              </a:defRPr>
            </a:lvl1pPr>
            <a:lvl2pPr marL="659441" indent="-659441">
              <a:spcBef>
                <a:spcPts val="1107"/>
              </a:spcBef>
              <a:buClr>
                <a:schemeClr val="bg2"/>
              </a:buClr>
              <a:buFont typeface="Wingdings" pitchFamily="2" charset="2"/>
              <a:buChar char="§"/>
              <a:defRPr sz="3509" b="0">
                <a:latin typeface="Century Gothic" pitchFamily="34" charset="0"/>
              </a:defRPr>
            </a:lvl2pPr>
            <a:lvl3pPr marL="1002348" indent="-495314">
              <a:spcBef>
                <a:spcPts val="1107"/>
              </a:spcBef>
              <a:buClr>
                <a:schemeClr val="tx1">
                  <a:lumMod val="50000"/>
                  <a:lumOff val="50000"/>
                </a:schemeClr>
              </a:buClr>
              <a:buFont typeface="Wingdings" pitchFamily="2" charset="2"/>
              <a:buChar char="§"/>
              <a:defRPr sz="2700" b="0">
                <a:latin typeface="Sabon Next LT" panose="02000500000000000000" pitchFamily="2" charset="0"/>
                <a:cs typeface="Sabon Next LT" panose="02000500000000000000" pitchFamily="2" charset="0"/>
              </a:defRPr>
            </a:lvl3pPr>
            <a:lvl4pPr marL="1483007" marR="0" indent="-480659" algn="l" defTabSz="1688166" rtl="0" eaLnBrk="1" fontAlgn="base" latinLnBrk="0" hangingPunct="1">
              <a:lnSpc>
                <a:spcPct val="100000"/>
              </a:lnSpc>
              <a:spcBef>
                <a:spcPts val="1107"/>
              </a:spcBef>
              <a:spcAft>
                <a:spcPct val="0"/>
              </a:spcAft>
              <a:buClr>
                <a:schemeClr val="tx1">
                  <a:lumMod val="50000"/>
                  <a:lumOff val="50000"/>
                </a:schemeClr>
              </a:buClr>
              <a:buSzTx/>
              <a:buFont typeface="Avenir Next LT Pro" panose="020B0504020202020204" pitchFamily="34" charset="0"/>
              <a:buChar char="−"/>
              <a:tabLst/>
              <a:defRPr sz="2400">
                <a:latin typeface="Sabon Next LT" panose="02000500000000000000" pitchFamily="2" charset="0"/>
                <a:cs typeface="Sabon Next LT" panose="02000500000000000000" pitchFamily="2" charset="0"/>
              </a:defRPr>
            </a:lvl4pPr>
            <a:lvl5pPr marL="2157101" indent="-501176">
              <a:spcBef>
                <a:spcPts val="1107"/>
              </a:spcBef>
              <a:buClr>
                <a:schemeClr val="bg2"/>
              </a:buClr>
              <a:buSzPct val="100000"/>
              <a:buFont typeface="Century Gothic" panose="020B0502020202020204" pitchFamily="34" charset="0"/>
              <a:buChar char="–"/>
              <a:defRPr sz="2954">
                <a:latin typeface="Century Gothic" pitchFamily="34" charset="0"/>
              </a:defRPr>
            </a:lvl5pPr>
          </a:lstStyle>
          <a:p>
            <a:pPr lvl="0"/>
            <a:r>
              <a:rPr lang="en-US" dirty="0"/>
              <a:t>Click to edit Master text styles</a:t>
            </a:r>
          </a:p>
          <a:p>
            <a:pPr lvl="2"/>
            <a:r>
              <a:rPr lang="en-US" dirty="0"/>
              <a:t>Second level</a:t>
            </a:r>
          </a:p>
          <a:p>
            <a:pPr lvl="3"/>
            <a:r>
              <a:rPr lang="en-US" dirty="0"/>
              <a:t>Third level</a:t>
            </a:r>
          </a:p>
        </p:txBody>
      </p:sp>
      <p:sp>
        <p:nvSpPr>
          <p:cNvPr id="5" name="Title 1">
            <a:extLst>
              <a:ext uri="{FF2B5EF4-FFF2-40B4-BE49-F238E27FC236}">
                <a16:creationId xmlns:a16="http://schemas.microsoft.com/office/drawing/2014/main" id="{910739DD-636F-C045-84B8-C0E772526425}"/>
              </a:ext>
            </a:extLst>
          </p:cNvPr>
          <p:cNvSpPr>
            <a:spLocks noGrp="1"/>
          </p:cNvSpPr>
          <p:nvPr>
            <p:ph type="ctrTitle"/>
          </p:nvPr>
        </p:nvSpPr>
        <p:spPr>
          <a:xfrm>
            <a:off x="844394" y="410417"/>
            <a:ext cx="16599213" cy="864096"/>
          </a:xfrm>
          <a:prstGeom prst="rect">
            <a:avLst/>
          </a:prstGeom>
        </p:spPr>
        <p:txBody>
          <a:bodyPr/>
          <a:lstStyle>
            <a:lvl1pPr algn="ctr">
              <a:defRPr sz="4800" b="0" cap="all" baseline="0">
                <a:solidFill>
                  <a:srgbClr val="002573"/>
                </a:solidFill>
                <a:latin typeface="+mn-lt"/>
              </a:defRPr>
            </a:lvl1pPr>
          </a:lstStyle>
          <a:p>
            <a:r>
              <a:rPr lang="en-US" dirty="0"/>
              <a:t>Click to edit Master title style</a:t>
            </a:r>
            <a:endParaRPr lang="en-GB" dirty="0"/>
          </a:p>
        </p:txBody>
      </p:sp>
      <p:sp>
        <p:nvSpPr>
          <p:cNvPr id="7" name="Text Placeholder 5">
            <a:extLst>
              <a:ext uri="{FF2B5EF4-FFF2-40B4-BE49-F238E27FC236}">
                <a16:creationId xmlns:a16="http://schemas.microsoft.com/office/drawing/2014/main" id="{197683D2-9F6D-674B-B594-3CA17B2E5979}"/>
              </a:ext>
            </a:extLst>
          </p:cNvPr>
          <p:cNvSpPr>
            <a:spLocks noGrp="1"/>
          </p:cNvSpPr>
          <p:nvPr>
            <p:ph type="body" sz="quarter" idx="10"/>
          </p:nvPr>
        </p:nvSpPr>
        <p:spPr>
          <a:xfrm>
            <a:off x="3203974" y="1417067"/>
            <a:ext cx="11880056" cy="1026134"/>
          </a:xfrm>
          <a:prstGeom prst="rect">
            <a:avLst/>
          </a:prstGeom>
        </p:spPr>
        <p:txBody>
          <a:bodyPr/>
          <a:lstStyle>
            <a:lvl1pPr marL="0" indent="0" algn="ctr">
              <a:buNone/>
              <a:defRPr lang="en-GB" sz="4200" b="0" i="0" cap="none" baseline="0" smtClean="0">
                <a:solidFill>
                  <a:schemeClr val="accent2"/>
                </a:solidFill>
                <a:latin typeface="Sabon Next LT" panose="02000500000000000000" pitchFamily="2" charset="0"/>
                <a:ea typeface="+mj-ea"/>
                <a:cs typeface="+mj-cs"/>
              </a:defRPr>
            </a:lvl1pPr>
            <a:lvl2pPr>
              <a:defRPr lang="en-GB" sz="8124" smtClean="0">
                <a:latin typeface="Century Gothic" panose="020B0502020202020204" pitchFamily="34" charset="0"/>
              </a:defRPr>
            </a:lvl2pPr>
            <a:lvl3pPr>
              <a:defRPr lang="en-GB" sz="8124" smtClean="0">
                <a:latin typeface="Century Gothic" panose="020B0502020202020204" pitchFamily="34" charset="0"/>
              </a:defRPr>
            </a:lvl3pPr>
            <a:lvl4pPr>
              <a:defRPr lang="en-GB" sz="8124" smtClean="0">
                <a:latin typeface="Century Gothic" panose="020B0502020202020204" pitchFamily="34" charset="0"/>
              </a:defRPr>
            </a:lvl4pPr>
            <a:lvl5pPr>
              <a:defRPr lang="en-GB" sz="8124">
                <a:latin typeface="Century Gothic" panose="020B0502020202020204" pitchFamily="34" charset="0"/>
              </a:defRPr>
            </a:lvl5pPr>
          </a:lstStyle>
          <a:p>
            <a:pPr lvl="0" algn="ctr">
              <a:spcBef>
                <a:spcPct val="0"/>
              </a:spcBef>
            </a:pPr>
            <a:r>
              <a:rPr lang="en-GB" dirty="0"/>
              <a:t>Click to edit Master text styles</a:t>
            </a:r>
          </a:p>
        </p:txBody>
      </p:sp>
    </p:spTree>
    <p:extLst>
      <p:ext uri="{BB962C8B-B14F-4D97-AF65-F5344CB8AC3E}">
        <p14:creationId xmlns:p14="http://schemas.microsoft.com/office/powerpoint/2010/main" val="1203145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Home | Full Stack Modeller">
            <a:extLst>
              <a:ext uri="{FF2B5EF4-FFF2-40B4-BE49-F238E27FC236}">
                <a16:creationId xmlns:a16="http://schemas.microsoft.com/office/drawing/2014/main" id="{6CCAA77C-4E76-640C-066C-F3E39EE1AC9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descr="Copilot in Excel: Practical Prompting Patterns">
            <a:extLst>
              <a:ext uri="{FF2B5EF4-FFF2-40B4-BE49-F238E27FC236}">
                <a16:creationId xmlns:a16="http://schemas.microsoft.com/office/drawing/2014/main" id="{A1A76576-3E87-0598-EFA1-F12800A16E37}"/>
              </a:ext>
            </a:extLst>
          </p:cNvPr>
          <p:cNvPicPr>
            <a:picLocks noChangeAspect="1"/>
          </p:cNvPicPr>
          <p:nvPr/>
        </p:nvPicPr>
        <p:blipFill>
          <a:blip r:embed="rId2"/>
          <a:stretch>
            <a:fillRect/>
          </a:stretch>
        </p:blipFill>
        <p:spPr>
          <a:xfrm>
            <a:off x="1981200" y="-32335"/>
            <a:ext cx="15479002" cy="10319335"/>
          </a:xfrm>
          <a:prstGeom prst="rect">
            <a:avLst/>
          </a:prstGeom>
        </p:spPr>
      </p:pic>
    </p:spTree>
    <p:extLst>
      <p:ext uri="{BB962C8B-B14F-4D97-AF65-F5344CB8AC3E}">
        <p14:creationId xmlns:p14="http://schemas.microsoft.com/office/powerpoint/2010/main" val="355659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20861" y="170082"/>
            <a:ext cx="13728539" cy="1477328"/>
          </a:xfrm>
          <a:prstGeom prst="rect">
            <a:avLst/>
          </a:prstGeom>
          <a:noFill/>
        </p:spPr>
        <p:txBody>
          <a:bodyPr wrap="square" rtlCol="0">
            <a:spAutoFit/>
          </a:bodyPr>
          <a:lstStyle/>
          <a:p>
            <a:r>
              <a:rPr lang="en-US" sz="9000" dirty="0">
                <a:latin typeface="Aliens &amp; cows" panose="00000500000000000000" pitchFamily="2" charset="0"/>
              </a:rPr>
              <a:t>Objectives for this session</a:t>
            </a:r>
          </a:p>
        </p:txBody>
      </p:sp>
      <p:sp>
        <p:nvSpPr>
          <p:cNvPr id="3" name="TextBox 2"/>
          <p:cNvSpPr txBox="1"/>
          <p:nvPr/>
        </p:nvSpPr>
        <p:spPr>
          <a:xfrm>
            <a:off x="520861" y="3191948"/>
            <a:ext cx="14393120" cy="2677656"/>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4200" dirty="0">
                <a:solidFill>
                  <a:srgbClr val="707070"/>
                </a:solidFill>
                <a:latin typeface="Pragmatica" panose="020B0403040502020204" pitchFamily="34" charset="0"/>
              </a:rPr>
              <a:t>Prompt Copilot using tables, columns, and workbook objects</a:t>
            </a:r>
          </a:p>
          <a:p>
            <a:pPr marL="685800" indent="-685800">
              <a:buClr>
                <a:srgbClr val="CF3338"/>
              </a:buClr>
              <a:buFont typeface="Arial" panose="020B0604020202020204" pitchFamily="34" charset="0"/>
              <a:buChar char="•"/>
            </a:pPr>
            <a:r>
              <a:rPr lang="en-US" sz="4200" dirty="0">
                <a:solidFill>
                  <a:srgbClr val="707070"/>
                </a:solidFill>
                <a:latin typeface="Pragmatica" panose="020B0403040502020204" pitchFamily="34" charset="0"/>
              </a:rPr>
              <a:t>Control outputs using clear constraints and formats</a:t>
            </a:r>
          </a:p>
          <a:p>
            <a:pPr marL="685800" indent="-685800">
              <a:buClr>
                <a:srgbClr val="CF3338"/>
              </a:buClr>
              <a:buFont typeface="Arial" panose="020B0604020202020204" pitchFamily="34" charset="0"/>
              <a:buChar char="•"/>
            </a:pPr>
            <a:r>
              <a:rPr lang="en-US" sz="4200" dirty="0">
                <a:solidFill>
                  <a:srgbClr val="707070"/>
                </a:solidFill>
                <a:latin typeface="Pragmatica" panose="020B0403040502020204" pitchFamily="34" charset="0"/>
              </a:rPr>
              <a:t>Diagnose weak prompts and fix them fast</a:t>
            </a:r>
          </a:p>
          <a:p>
            <a:pPr marL="685800" indent="-685800">
              <a:buClr>
                <a:srgbClr val="CF3338"/>
              </a:buClr>
              <a:buFont typeface="Arial" panose="020B0604020202020204" pitchFamily="34" charset="0"/>
              <a:buChar char="•"/>
            </a:pPr>
            <a:r>
              <a:rPr lang="en-US" sz="4200" dirty="0">
                <a:solidFill>
                  <a:srgbClr val="707070"/>
                </a:solidFill>
                <a:latin typeface="Pragmatica" panose="020B0403040502020204" pitchFamily="34" charset="0"/>
              </a:rPr>
              <a:t>Apply repeatable prompt patterns used by analysts</a:t>
            </a:r>
          </a:p>
        </p:txBody>
      </p:sp>
      <p:pic>
        <p:nvPicPr>
          <p:cNvPr id="15" name="Picture 14" descr="A close up of a sign&#10;&#10;Description automatically generated">
            <a:extLst>
              <a:ext uri="{FF2B5EF4-FFF2-40B4-BE49-F238E27FC236}">
                <a16:creationId xmlns:a16="http://schemas.microsoft.com/office/drawing/2014/main" id="{29761B90-A7DE-4A60-A915-F085BD87CA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787076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33C60-80A2-F065-DD48-A92FF3AFB493}"/>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97EB3963-7B31-1FA9-D509-4E12DFCB794D}"/>
              </a:ext>
            </a:extLst>
          </p:cNvPr>
          <p:cNvSpPr txBox="1"/>
          <p:nvPr/>
        </p:nvSpPr>
        <p:spPr>
          <a:xfrm>
            <a:off x="520861" y="170082"/>
            <a:ext cx="16928939" cy="2308324"/>
          </a:xfrm>
          <a:prstGeom prst="rect">
            <a:avLst/>
          </a:prstGeom>
          <a:noFill/>
        </p:spPr>
        <p:txBody>
          <a:bodyPr wrap="square" rtlCol="0">
            <a:spAutoFit/>
          </a:bodyPr>
          <a:lstStyle/>
          <a:p>
            <a:r>
              <a:rPr lang="en-US" sz="7200" dirty="0">
                <a:latin typeface="Aliens &amp; cows" panose="00000500000000000000" pitchFamily="2" charset="0"/>
              </a:rPr>
              <a:t>What is Copilot in Excel, really? How does it work?</a:t>
            </a:r>
          </a:p>
        </p:txBody>
      </p:sp>
      <p:sp>
        <p:nvSpPr>
          <p:cNvPr id="3" name="TextBox 2">
            <a:extLst>
              <a:ext uri="{FF2B5EF4-FFF2-40B4-BE49-F238E27FC236}">
                <a16:creationId xmlns:a16="http://schemas.microsoft.com/office/drawing/2014/main" id="{FA707533-F726-2DE5-DCCA-DB37B4B5D991}"/>
              </a:ext>
            </a:extLst>
          </p:cNvPr>
          <p:cNvSpPr txBox="1"/>
          <p:nvPr/>
        </p:nvSpPr>
        <p:spPr>
          <a:xfrm>
            <a:off x="520861" y="3191948"/>
            <a:ext cx="14393120" cy="2677656"/>
          </a:xfrm>
          <a:prstGeom prst="rect">
            <a:avLst/>
          </a:prstGeom>
          <a:noFill/>
        </p:spPr>
        <p:txBody>
          <a:bodyPr wrap="square" rtlCol="0">
            <a:spAutoFit/>
          </a:bodyPr>
          <a:lstStyle/>
          <a:p>
            <a:pPr marL="685800" indent="-685800">
              <a:buClr>
                <a:srgbClr val="CF3338"/>
              </a:buClr>
              <a:buFont typeface="Arial" panose="020B0604020202020204" pitchFamily="34" charset="0"/>
              <a:buChar char="•"/>
            </a:pPr>
            <a:r>
              <a:rPr lang="en-US" sz="4200" dirty="0">
                <a:solidFill>
                  <a:srgbClr val="707070"/>
                </a:solidFill>
                <a:latin typeface="Pragmatica" panose="020B0403040502020204" pitchFamily="34" charset="0"/>
              </a:rPr>
              <a:t>Prompt Copilot using tables, columns, and workbook objects</a:t>
            </a:r>
          </a:p>
          <a:p>
            <a:pPr marL="685800" indent="-685800">
              <a:buClr>
                <a:srgbClr val="CF3338"/>
              </a:buClr>
              <a:buFont typeface="Arial" panose="020B0604020202020204" pitchFamily="34" charset="0"/>
              <a:buChar char="•"/>
            </a:pPr>
            <a:r>
              <a:rPr lang="en-US" sz="4200" dirty="0">
                <a:solidFill>
                  <a:srgbClr val="707070"/>
                </a:solidFill>
                <a:latin typeface="Pragmatica" panose="020B0403040502020204" pitchFamily="34" charset="0"/>
              </a:rPr>
              <a:t>Control outputs using clear constraints and formats</a:t>
            </a:r>
          </a:p>
          <a:p>
            <a:pPr marL="685800" indent="-685800">
              <a:buClr>
                <a:srgbClr val="CF3338"/>
              </a:buClr>
              <a:buFont typeface="Arial" panose="020B0604020202020204" pitchFamily="34" charset="0"/>
              <a:buChar char="•"/>
            </a:pPr>
            <a:r>
              <a:rPr lang="en-US" sz="4200" dirty="0">
                <a:solidFill>
                  <a:srgbClr val="707070"/>
                </a:solidFill>
                <a:latin typeface="Pragmatica" panose="020B0403040502020204" pitchFamily="34" charset="0"/>
              </a:rPr>
              <a:t>Diagnose weak prompts and fix them fast</a:t>
            </a:r>
          </a:p>
          <a:p>
            <a:pPr marL="685800" indent="-685800">
              <a:buClr>
                <a:srgbClr val="CF3338"/>
              </a:buClr>
              <a:buFont typeface="Arial" panose="020B0604020202020204" pitchFamily="34" charset="0"/>
              <a:buChar char="•"/>
            </a:pPr>
            <a:r>
              <a:rPr lang="en-US" sz="4200" dirty="0">
                <a:solidFill>
                  <a:srgbClr val="707070"/>
                </a:solidFill>
                <a:latin typeface="Pragmatica" panose="020B0403040502020204" pitchFamily="34" charset="0"/>
              </a:rPr>
              <a:t>Apply repeatable prompt patterns used by analysts</a:t>
            </a:r>
          </a:p>
        </p:txBody>
      </p:sp>
      <p:pic>
        <p:nvPicPr>
          <p:cNvPr id="15" name="Picture 14" descr="A close up of a sign&#10;&#10;Description automatically generated">
            <a:extLst>
              <a:ext uri="{FF2B5EF4-FFF2-40B4-BE49-F238E27FC236}">
                <a16:creationId xmlns:a16="http://schemas.microsoft.com/office/drawing/2014/main" id="{B45592AA-4565-78E6-C958-2F60F3DCE2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pic>
        <p:nvPicPr>
          <p:cNvPr id="2" name="Picture 2" descr="Microsoft 365 Copilot 2025 Pricing, Features, Reviews &amp; Alternatives |  GetApp">
            <a:extLst>
              <a:ext uri="{FF2B5EF4-FFF2-40B4-BE49-F238E27FC236}">
                <a16:creationId xmlns:a16="http://schemas.microsoft.com/office/drawing/2014/main" id="{3A5ADEDE-F420-CC09-AAFF-3E0788B7CB3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024033" y="4076700"/>
            <a:ext cx="3288431" cy="328843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Microsoft Excel - Wikipedia">
            <a:extLst>
              <a:ext uri="{FF2B5EF4-FFF2-40B4-BE49-F238E27FC236}">
                <a16:creationId xmlns:a16="http://schemas.microsoft.com/office/drawing/2014/main" id="{1CD830A2-777E-652C-E424-F0929EDD375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357033" y="6771674"/>
            <a:ext cx="2667000" cy="2744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6574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C4047-6AE7-EA54-E97C-8FD6C67869F0}"/>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668E35D0-020D-7C4C-6111-D28C836DA3D5}"/>
              </a:ext>
            </a:extLst>
          </p:cNvPr>
          <p:cNvSpPr txBox="1"/>
          <p:nvPr/>
        </p:nvSpPr>
        <p:spPr>
          <a:xfrm>
            <a:off x="520861" y="170082"/>
            <a:ext cx="16928939" cy="1200329"/>
          </a:xfrm>
          <a:prstGeom prst="rect">
            <a:avLst/>
          </a:prstGeom>
          <a:noFill/>
        </p:spPr>
        <p:txBody>
          <a:bodyPr wrap="square" rtlCol="0">
            <a:spAutoFit/>
          </a:bodyPr>
          <a:lstStyle/>
          <a:p>
            <a:r>
              <a:rPr lang="en-US" sz="7200" dirty="0">
                <a:latin typeface="Aliens &amp; cows" panose="00000500000000000000" pitchFamily="2" charset="0"/>
              </a:rPr>
              <a:t>How Copilot “sees” Excel</a:t>
            </a:r>
          </a:p>
        </p:txBody>
      </p:sp>
      <p:pic>
        <p:nvPicPr>
          <p:cNvPr id="15" name="Picture 14" descr="A close up of a sign&#10;&#10;Description automatically generated">
            <a:extLst>
              <a:ext uri="{FF2B5EF4-FFF2-40B4-BE49-F238E27FC236}">
                <a16:creationId xmlns:a16="http://schemas.microsoft.com/office/drawing/2014/main" id="{5382341B-B068-C56E-8CEE-FC58F419BC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pic>
        <p:nvPicPr>
          <p:cNvPr id="5" name="Picture 4">
            <a:extLst>
              <a:ext uri="{FF2B5EF4-FFF2-40B4-BE49-F238E27FC236}">
                <a16:creationId xmlns:a16="http://schemas.microsoft.com/office/drawing/2014/main" id="{4613A412-C0BF-36B9-0B84-8CA1FD793894}"/>
              </a:ext>
            </a:extLst>
          </p:cNvPr>
          <p:cNvPicPr>
            <a:picLocks noChangeAspect="1"/>
          </p:cNvPicPr>
          <p:nvPr/>
        </p:nvPicPr>
        <p:blipFill>
          <a:blip r:embed="rId4"/>
          <a:stretch>
            <a:fillRect/>
          </a:stretch>
        </p:blipFill>
        <p:spPr>
          <a:xfrm>
            <a:off x="2057400" y="1943100"/>
            <a:ext cx="12420600" cy="7353232"/>
          </a:xfrm>
          <a:prstGeom prst="rect">
            <a:avLst/>
          </a:prstGeom>
        </p:spPr>
      </p:pic>
    </p:spTree>
    <p:extLst>
      <p:ext uri="{BB962C8B-B14F-4D97-AF65-F5344CB8AC3E}">
        <p14:creationId xmlns:p14="http://schemas.microsoft.com/office/powerpoint/2010/main" val="809145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B5132-9FAC-C1C9-822A-70C656616BD2}"/>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CCC9DDB-8619-8424-D922-E6CF43B58635}"/>
              </a:ext>
            </a:extLst>
          </p:cNvPr>
          <p:cNvSpPr txBox="1"/>
          <p:nvPr/>
        </p:nvSpPr>
        <p:spPr>
          <a:xfrm>
            <a:off x="520861" y="170082"/>
            <a:ext cx="16014539" cy="1477328"/>
          </a:xfrm>
          <a:prstGeom prst="rect">
            <a:avLst/>
          </a:prstGeom>
          <a:noFill/>
        </p:spPr>
        <p:txBody>
          <a:bodyPr wrap="square" rtlCol="0">
            <a:spAutoFit/>
          </a:bodyPr>
          <a:lstStyle/>
          <a:p>
            <a:r>
              <a:rPr lang="en-US" sz="9000" dirty="0">
                <a:latin typeface="Aliens &amp; cows" panose="00000500000000000000" pitchFamily="2" charset="0"/>
              </a:rPr>
              <a:t>Weak vs strong Excel prompt</a:t>
            </a:r>
          </a:p>
        </p:txBody>
      </p:sp>
      <p:sp>
        <p:nvSpPr>
          <p:cNvPr id="3" name="TextBox 2">
            <a:extLst>
              <a:ext uri="{FF2B5EF4-FFF2-40B4-BE49-F238E27FC236}">
                <a16:creationId xmlns:a16="http://schemas.microsoft.com/office/drawing/2014/main" id="{AF4EAA44-47AD-6B16-F0FC-1A4118C515A0}"/>
              </a:ext>
            </a:extLst>
          </p:cNvPr>
          <p:cNvSpPr txBox="1"/>
          <p:nvPr/>
        </p:nvSpPr>
        <p:spPr>
          <a:xfrm>
            <a:off x="262484" y="1866900"/>
            <a:ext cx="17763032" cy="20374808"/>
          </a:xfrm>
          <a:prstGeom prst="rect">
            <a:avLst/>
          </a:prstGeom>
          <a:noFill/>
        </p:spPr>
        <p:txBody>
          <a:bodyPr wrap="square" numCol="2" rtlCol="0">
            <a:spAutoFit/>
          </a:bodyPr>
          <a:lstStyle/>
          <a:p>
            <a:r>
              <a:rPr lang="en-US" sz="4400" b="1" dirty="0"/>
              <a:t>Weak Prompt – Why It Fails</a:t>
            </a:r>
          </a:p>
          <a:p>
            <a:r>
              <a:rPr lang="en-US" sz="4400" dirty="0"/>
              <a:t>“Analyze this.”</a:t>
            </a:r>
          </a:p>
          <a:p>
            <a:endParaRPr lang="en-US" sz="4400" dirty="0"/>
          </a:p>
          <a:p>
            <a:r>
              <a:rPr lang="en-US" sz="4400" dirty="0"/>
              <a:t>Problems:</a:t>
            </a:r>
          </a:p>
          <a:p>
            <a:pPr marL="342900" indent="-342900">
              <a:buFont typeface="Arial" panose="020B0604020202020204" pitchFamily="34" charset="0"/>
              <a:buChar char="•"/>
            </a:pPr>
            <a:r>
              <a:rPr lang="pt-BR" sz="4400" dirty="0"/>
              <a:t>No table</a:t>
            </a:r>
          </a:p>
          <a:p>
            <a:pPr marL="342900" indent="-342900">
              <a:buFont typeface="Arial" panose="020B0604020202020204" pitchFamily="34" charset="0"/>
              <a:buChar char="•"/>
            </a:pPr>
            <a:r>
              <a:rPr lang="pt-BR" sz="4400" dirty="0"/>
              <a:t>No metric</a:t>
            </a:r>
          </a:p>
          <a:p>
            <a:pPr marL="342900" indent="-342900">
              <a:buFont typeface="Arial" panose="020B0604020202020204" pitchFamily="34" charset="0"/>
              <a:buChar char="•"/>
            </a:pPr>
            <a:r>
              <a:rPr lang="pt-BR" sz="4400" dirty="0"/>
              <a:t>No output format</a:t>
            </a:r>
            <a:endParaRPr lang="en-US" sz="4400" dirty="0"/>
          </a:p>
          <a:p>
            <a:endParaRPr lang="en-US" sz="4400" dirty="0"/>
          </a:p>
          <a:p>
            <a:endParaRPr lang="en-US" sz="4400" dirty="0"/>
          </a:p>
          <a:p>
            <a:endParaRPr lang="en-US" sz="4400" dirty="0"/>
          </a:p>
          <a:p>
            <a:endParaRPr lang="en-US" sz="4400" dirty="0"/>
          </a:p>
          <a:p>
            <a:endParaRPr lang="en-US" sz="4400" dirty="0"/>
          </a:p>
          <a:p>
            <a:endParaRPr lang="en-US" sz="4400" dirty="0"/>
          </a:p>
          <a:p>
            <a:endParaRPr lang="en-US" sz="4400" dirty="0"/>
          </a:p>
          <a:p>
            <a:endParaRPr lang="en-US" sz="4400" dirty="0"/>
          </a:p>
          <a:p>
            <a:endParaRPr lang="en-US" sz="4400" dirty="0"/>
          </a:p>
          <a:p>
            <a:endParaRPr lang="en-US" sz="4400" dirty="0"/>
          </a:p>
          <a:p>
            <a:endParaRPr lang="en-US" sz="4400" dirty="0"/>
          </a:p>
          <a:p>
            <a:endParaRPr lang="en-US" sz="4400" b="1" dirty="0"/>
          </a:p>
          <a:p>
            <a:endParaRPr lang="en-US" sz="4400" b="1" dirty="0"/>
          </a:p>
          <a:p>
            <a:endParaRPr lang="en-US" sz="4400" b="1" dirty="0"/>
          </a:p>
          <a:p>
            <a:endParaRPr lang="en-US" sz="4400" b="1" dirty="0"/>
          </a:p>
          <a:p>
            <a:endParaRPr lang="en-US" sz="4400" b="1" dirty="0"/>
          </a:p>
          <a:p>
            <a:endParaRPr lang="en-US" sz="4400" b="1" dirty="0"/>
          </a:p>
          <a:p>
            <a:endParaRPr lang="en-US" sz="4400" b="1" dirty="0"/>
          </a:p>
          <a:p>
            <a:endParaRPr lang="en-US" sz="4400" b="1" dirty="0"/>
          </a:p>
          <a:p>
            <a:endParaRPr lang="en-US" sz="4400" b="1" dirty="0"/>
          </a:p>
          <a:p>
            <a:endParaRPr lang="en-US" sz="4400" b="1" dirty="0"/>
          </a:p>
          <a:p>
            <a:endParaRPr lang="en-US" sz="4400" b="1" dirty="0"/>
          </a:p>
          <a:p>
            <a:endParaRPr lang="en-US" sz="4400" b="1" dirty="0"/>
          </a:p>
          <a:p>
            <a:r>
              <a:rPr lang="en-US" sz="4400" b="1" dirty="0"/>
              <a:t>Strong Prompt – Why It Works</a:t>
            </a:r>
          </a:p>
          <a:p>
            <a:r>
              <a:rPr lang="en-US" sz="4400" dirty="0"/>
              <a:t>“Analyze the </a:t>
            </a:r>
            <a:r>
              <a:rPr lang="en-US" sz="4400" dirty="0" err="1"/>
              <a:t>SalesData</a:t>
            </a:r>
            <a:r>
              <a:rPr lang="en-US" sz="4400" dirty="0"/>
              <a:t> table on the Q2 sheet. Focus on: revenue trends, top 3 outliers, and segment-level comparisons.</a:t>
            </a:r>
            <a:br>
              <a:rPr lang="en-US" sz="4400" dirty="0"/>
            </a:br>
            <a:r>
              <a:rPr lang="en-US" sz="4400" dirty="0"/>
              <a:t>Deliver: 6–8 bullet points suitable for a manager update.</a:t>
            </a:r>
            <a:br>
              <a:rPr lang="en-US" sz="4400" dirty="0"/>
            </a:br>
            <a:r>
              <a:rPr lang="en-US" sz="4400" dirty="0"/>
              <a:t>Use only the numeric columns.”</a:t>
            </a:r>
          </a:p>
          <a:p>
            <a:endParaRPr lang="en-US" sz="4400" dirty="0"/>
          </a:p>
          <a:p>
            <a:pPr marL="342900" indent="-342900">
              <a:buFont typeface="Arial" panose="020B0604020202020204" pitchFamily="34" charset="0"/>
              <a:buChar char="•"/>
            </a:pPr>
            <a:r>
              <a:rPr lang="en-US" sz="4400" dirty="0"/>
              <a:t>Named table</a:t>
            </a:r>
          </a:p>
          <a:p>
            <a:pPr marL="342900" indent="-342900">
              <a:buFont typeface="Arial" panose="020B0604020202020204" pitchFamily="34" charset="0"/>
              <a:buChar char="•"/>
            </a:pPr>
            <a:r>
              <a:rPr lang="en-US" sz="4400" dirty="0"/>
              <a:t>Clear focus</a:t>
            </a:r>
          </a:p>
          <a:p>
            <a:pPr marL="342900" indent="-342900">
              <a:buFont typeface="Arial" panose="020B0604020202020204" pitchFamily="34" charset="0"/>
              <a:buChar char="•"/>
            </a:pPr>
            <a:r>
              <a:rPr lang="en-US" sz="4400" dirty="0"/>
              <a:t>Defined output</a:t>
            </a:r>
          </a:p>
          <a:p>
            <a:endParaRPr lang="en-US" sz="4400" dirty="0"/>
          </a:p>
          <a:p>
            <a:pPr>
              <a:buClr>
                <a:srgbClr val="CF3338"/>
              </a:buClr>
            </a:pPr>
            <a:endParaRPr lang="en-US" sz="4400" dirty="0">
              <a:solidFill>
                <a:srgbClr val="707070"/>
              </a:solidFill>
              <a:latin typeface="Pragmatica" panose="020B0403040502020204" pitchFamily="34" charset="0"/>
            </a:endParaRPr>
          </a:p>
        </p:txBody>
      </p:sp>
      <p:pic>
        <p:nvPicPr>
          <p:cNvPr id="15" name="Picture 14" descr="A close up of a sign&#10;&#10;Description automatically generated">
            <a:extLst>
              <a:ext uri="{FF2B5EF4-FFF2-40B4-BE49-F238E27FC236}">
                <a16:creationId xmlns:a16="http://schemas.microsoft.com/office/drawing/2014/main" id="{35B23D0C-DF7E-FB4E-5A57-6C603B0126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spTree>
    <p:extLst>
      <p:ext uri="{BB962C8B-B14F-4D97-AF65-F5344CB8AC3E}">
        <p14:creationId xmlns:p14="http://schemas.microsoft.com/office/powerpoint/2010/main" val="3810609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ED923-700E-2232-2A8A-38FC4007B6FD}"/>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16F328D8-003D-E872-C041-75D1DDB8E5A9}"/>
              </a:ext>
            </a:extLst>
          </p:cNvPr>
          <p:cNvSpPr txBox="1"/>
          <p:nvPr/>
        </p:nvSpPr>
        <p:spPr>
          <a:xfrm>
            <a:off x="520861" y="170082"/>
            <a:ext cx="16928939" cy="1200329"/>
          </a:xfrm>
          <a:prstGeom prst="rect">
            <a:avLst/>
          </a:prstGeom>
          <a:noFill/>
        </p:spPr>
        <p:txBody>
          <a:bodyPr wrap="square" rtlCol="0">
            <a:spAutoFit/>
          </a:bodyPr>
          <a:lstStyle/>
          <a:p>
            <a:r>
              <a:rPr lang="en-US" sz="7200" dirty="0">
                <a:latin typeface="Aliens &amp; cows" panose="00000500000000000000" pitchFamily="2" charset="0"/>
              </a:rPr>
              <a:t>Prompt diagnostic framework</a:t>
            </a:r>
          </a:p>
        </p:txBody>
      </p:sp>
      <p:pic>
        <p:nvPicPr>
          <p:cNvPr id="15" name="Picture 14" descr="A close up of a sign&#10;&#10;Description automatically generated">
            <a:extLst>
              <a:ext uri="{FF2B5EF4-FFF2-40B4-BE49-F238E27FC236}">
                <a16:creationId xmlns:a16="http://schemas.microsoft.com/office/drawing/2014/main" id="{C02A9B91-59CE-36CF-0188-E745782FA5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graphicFrame>
        <p:nvGraphicFramePr>
          <p:cNvPr id="5" name="Diagram 4">
            <a:extLst>
              <a:ext uri="{FF2B5EF4-FFF2-40B4-BE49-F238E27FC236}">
                <a16:creationId xmlns:a16="http://schemas.microsoft.com/office/drawing/2014/main" id="{092E9CA5-1C06-3CCA-B46E-D4BEE7105B2E}"/>
              </a:ext>
            </a:extLst>
          </p:cNvPr>
          <p:cNvGraphicFramePr/>
          <p:nvPr>
            <p:extLst>
              <p:ext uri="{D42A27DB-BD31-4B8C-83A1-F6EECF244321}">
                <p14:modId xmlns:p14="http://schemas.microsoft.com/office/powerpoint/2010/main" val="188387429"/>
              </p:ext>
            </p:extLst>
          </p:nvPr>
        </p:nvGraphicFramePr>
        <p:xfrm>
          <a:off x="1752600" y="1485900"/>
          <a:ext cx="14020800" cy="8077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080782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2DC1-8F08-41E4-7711-9AA56CB0835A}"/>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92109ADD-A867-BB04-16C7-AD1D01F8DB55}"/>
              </a:ext>
            </a:extLst>
          </p:cNvPr>
          <p:cNvCxnSpPr/>
          <p:nvPr/>
        </p:nvCxnSpPr>
        <p:spPr>
          <a:xfrm>
            <a:off x="6983760" y="4927476"/>
            <a:ext cx="0" cy="4752528"/>
          </a:xfrm>
          <a:prstGeom prst="line">
            <a:avLst/>
          </a:prstGeom>
          <a:ln>
            <a:gradFill flip="none" rotWithShape="1">
              <a:gsLst>
                <a:gs pos="0">
                  <a:schemeClr val="bg1">
                    <a:lumMod val="75000"/>
                  </a:schemeClr>
                </a:gs>
                <a:gs pos="100000">
                  <a:schemeClr val="bg1"/>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AF46BF12-7A68-4F0D-81E6-B88788BD5E04}"/>
              </a:ext>
            </a:extLst>
          </p:cNvPr>
          <p:cNvGraphicFramePr/>
          <p:nvPr>
            <p:extLst>
              <p:ext uri="{D42A27DB-BD31-4B8C-83A1-F6EECF244321}">
                <p14:modId xmlns:p14="http://schemas.microsoft.com/office/powerpoint/2010/main" val="1321305008"/>
              </p:ext>
            </p:extLst>
          </p:nvPr>
        </p:nvGraphicFramePr>
        <p:xfrm>
          <a:off x="683570" y="1903141"/>
          <a:ext cx="17136885" cy="71558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a:extLst>
              <a:ext uri="{FF2B5EF4-FFF2-40B4-BE49-F238E27FC236}">
                <a16:creationId xmlns:a16="http://schemas.microsoft.com/office/drawing/2014/main" id="{C4D58B40-856A-BB9B-C281-C81FBB65C1C5}"/>
              </a:ext>
            </a:extLst>
          </p:cNvPr>
          <p:cNvSpPr txBox="1"/>
          <p:nvPr/>
        </p:nvSpPr>
        <p:spPr>
          <a:xfrm>
            <a:off x="520861" y="170082"/>
            <a:ext cx="16014539" cy="1200329"/>
          </a:xfrm>
          <a:prstGeom prst="rect">
            <a:avLst/>
          </a:prstGeom>
          <a:noFill/>
        </p:spPr>
        <p:txBody>
          <a:bodyPr wrap="square" rtlCol="0">
            <a:spAutoFit/>
          </a:bodyPr>
          <a:lstStyle/>
          <a:p>
            <a:r>
              <a:rPr lang="en-US" sz="7200" dirty="0">
                <a:latin typeface="Aliens &amp; cows" panose="00000500000000000000" pitchFamily="2" charset="0"/>
              </a:rPr>
              <a:t>Prompt patterns for Copilot in Excel</a:t>
            </a:r>
          </a:p>
        </p:txBody>
      </p:sp>
    </p:spTree>
    <p:extLst>
      <p:ext uri="{BB962C8B-B14F-4D97-AF65-F5344CB8AC3E}">
        <p14:creationId xmlns:p14="http://schemas.microsoft.com/office/powerpoint/2010/main" val="3180116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3F3D9-EE5B-8A68-A8A7-1BC7096ADE66}"/>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EF331DB8-FF1F-AAEA-B919-F27F5F22EF44}"/>
              </a:ext>
            </a:extLst>
          </p:cNvPr>
          <p:cNvCxnSpPr/>
          <p:nvPr/>
        </p:nvCxnSpPr>
        <p:spPr>
          <a:xfrm>
            <a:off x="6983760" y="4927476"/>
            <a:ext cx="0" cy="4752528"/>
          </a:xfrm>
          <a:prstGeom prst="line">
            <a:avLst/>
          </a:prstGeom>
          <a:ln>
            <a:gradFill flip="none" rotWithShape="1">
              <a:gsLst>
                <a:gs pos="0">
                  <a:schemeClr val="bg1">
                    <a:lumMod val="75000"/>
                  </a:schemeClr>
                </a:gs>
                <a:gs pos="100000">
                  <a:schemeClr val="bg1"/>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4" name="Text Placeholder 13">
            <a:extLst>
              <a:ext uri="{FF2B5EF4-FFF2-40B4-BE49-F238E27FC236}">
                <a16:creationId xmlns:a16="http://schemas.microsoft.com/office/drawing/2014/main" id="{652C9551-C9A6-ABD8-0C67-A534A85A8D32}"/>
              </a:ext>
            </a:extLst>
          </p:cNvPr>
          <p:cNvSpPr>
            <a:spLocks noGrp="1"/>
          </p:cNvSpPr>
          <p:nvPr>
            <p:ph type="body" sz="quarter" idx="10"/>
          </p:nvPr>
        </p:nvSpPr>
        <p:spPr>
          <a:xfrm>
            <a:off x="1475148" y="2227177"/>
            <a:ext cx="13393488" cy="6210710"/>
          </a:xfrm>
        </p:spPr>
        <p:txBody>
          <a:bodyPr/>
          <a:lstStyle/>
          <a:p>
            <a:pPr marL="514350" indent="-514350" algn="l">
              <a:buFont typeface="Arial" panose="020B0604020202020204" pitchFamily="34" charset="0"/>
              <a:buChar char="•"/>
            </a:pPr>
            <a:r>
              <a:rPr lang="en-US" sz="3750" dirty="0">
                <a:solidFill>
                  <a:schemeClr val="tx1"/>
                </a:solidFill>
                <a:latin typeface="+mj-lt"/>
              </a:rPr>
              <a:t>Fast, minimal-instruction prompting.</a:t>
            </a:r>
            <a:br>
              <a:rPr lang="en-US" sz="3750" dirty="0">
                <a:solidFill>
                  <a:schemeClr val="tx1"/>
                </a:solidFill>
                <a:latin typeface="+mj-lt"/>
              </a:rPr>
            </a:br>
            <a:endParaRPr lang="en-US" sz="3750" dirty="0">
              <a:solidFill>
                <a:schemeClr val="tx1"/>
              </a:solidFill>
              <a:latin typeface="+mj-lt"/>
            </a:endParaRPr>
          </a:p>
          <a:p>
            <a:pPr marL="514350" indent="-514350" algn="l">
              <a:buFont typeface="Arial" panose="020B0604020202020204" pitchFamily="34" charset="0"/>
              <a:buChar char="•"/>
            </a:pPr>
            <a:r>
              <a:rPr lang="en-US" sz="3750" dirty="0">
                <a:solidFill>
                  <a:schemeClr val="tx1"/>
                </a:solidFill>
                <a:latin typeface="+mj-lt"/>
              </a:rPr>
              <a:t>Good for “first draft” thinking or quick pattern-spotting.</a:t>
            </a:r>
            <a:br>
              <a:rPr lang="en-US" sz="3750" dirty="0">
                <a:solidFill>
                  <a:schemeClr val="tx1"/>
                </a:solidFill>
                <a:latin typeface="+mj-lt"/>
              </a:rPr>
            </a:br>
            <a:endParaRPr lang="en-US" sz="3750" dirty="0">
              <a:solidFill>
                <a:schemeClr val="tx1"/>
              </a:solidFill>
              <a:latin typeface="+mj-lt"/>
            </a:endParaRPr>
          </a:p>
          <a:p>
            <a:pPr marL="514350" indent="-514350" algn="l">
              <a:buFont typeface="Arial" panose="020B0604020202020204" pitchFamily="34" charset="0"/>
              <a:buChar char="•"/>
            </a:pPr>
            <a:r>
              <a:rPr lang="en-US" sz="3750" dirty="0">
                <a:solidFill>
                  <a:schemeClr val="tx1"/>
                </a:solidFill>
                <a:latin typeface="+mj-lt"/>
              </a:rPr>
              <a:t>O</a:t>
            </a:r>
            <a:r>
              <a:rPr lang="en-US" sz="3750" dirty="0" err="1">
                <a:solidFill>
                  <a:schemeClr val="tx1"/>
                </a:solidFill>
                <a:latin typeface="+mj-lt"/>
              </a:rPr>
              <a:t>utput</a:t>
            </a:r>
            <a:r>
              <a:rPr lang="en-US" sz="3750" dirty="0">
                <a:solidFill>
                  <a:schemeClr val="tx1"/>
                </a:solidFill>
                <a:latin typeface="+mj-lt"/>
              </a:rPr>
              <a:t> is generic and often misses your intent.</a:t>
            </a:r>
            <a:br>
              <a:rPr lang="en-US" sz="3750" dirty="0">
                <a:solidFill>
                  <a:schemeClr val="tx1"/>
                </a:solidFill>
                <a:latin typeface="+mj-lt"/>
              </a:rPr>
            </a:br>
            <a:endParaRPr lang="en-US" sz="3750" dirty="0">
              <a:solidFill>
                <a:schemeClr val="tx1"/>
              </a:solidFill>
              <a:latin typeface="+mj-lt"/>
            </a:endParaRPr>
          </a:p>
          <a:p>
            <a:pPr marL="514350" indent="-514350" algn="l">
              <a:buFont typeface="Arial" panose="020B0604020202020204" pitchFamily="34" charset="0"/>
              <a:buChar char="•"/>
            </a:pPr>
            <a:r>
              <a:rPr lang="en-US" sz="3750" dirty="0">
                <a:solidFill>
                  <a:schemeClr val="tx1"/>
                </a:solidFill>
                <a:latin typeface="+mj-lt"/>
              </a:rPr>
              <a:t>Example: “Using the </a:t>
            </a:r>
            <a:r>
              <a:rPr lang="en-US" sz="3750" dirty="0" err="1">
                <a:solidFill>
                  <a:schemeClr val="tx1"/>
                </a:solidFill>
                <a:latin typeface="+mj-lt"/>
              </a:rPr>
              <a:t>EquitySnapshot</a:t>
            </a:r>
            <a:r>
              <a:rPr lang="en-US" sz="3750" dirty="0">
                <a:solidFill>
                  <a:schemeClr val="tx1"/>
                </a:solidFill>
                <a:latin typeface="+mj-lt"/>
              </a:rPr>
              <a:t> table, give me a brief sector-level valuation overview focusing on differences in P/E and EPS. Keep it to one short paragraph.”</a:t>
            </a:r>
          </a:p>
        </p:txBody>
      </p:sp>
      <p:sp>
        <p:nvSpPr>
          <p:cNvPr id="4" name="TextBox 3">
            <a:extLst>
              <a:ext uri="{FF2B5EF4-FFF2-40B4-BE49-F238E27FC236}">
                <a16:creationId xmlns:a16="http://schemas.microsoft.com/office/drawing/2014/main" id="{F0362AB6-97A7-DDA9-F7FF-EBB8E6C60E6C}"/>
              </a:ext>
            </a:extLst>
          </p:cNvPr>
          <p:cNvSpPr txBox="1"/>
          <p:nvPr/>
        </p:nvSpPr>
        <p:spPr>
          <a:xfrm>
            <a:off x="520861" y="170082"/>
            <a:ext cx="16014539" cy="1200329"/>
          </a:xfrm>
          <a:prstGeom prst="rect">
            <a:avLst/>
          </a:prstGeom>
          <a:noFill/>
        </p:spPr>
        <p:txBody>
          <a:bodyPr wrap="square" rtlCol="0">
            <a:spAutoFit/>
          </a:bodyPr>
          <a:lstStyle/>
          <a:p>
            <a:r>
              <a:rPr lang="en-US" sz="7200" dirty="0">
                <a:latin typeface="Aliens &amp; cows" panose="00000500000000000000" pitchFamily="2" charset="0"/>
              </a:rPr>
              <a:t>Zero-shot prompting</a:t>
            </a:r>
          </a:p>
        </p:txBody>
      </p:sp>
    </p:spTree>
    <p:extLst>
      <p:ext uri="{BB962C8B-B14F-4D97-AF65-F5344CB8AC3E}">
        <p14:creationId xmlns:p14="http://schemas.microsoft.com/office/powerpoint/2010/main" val="3462121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78FD9-620D-A901-7ADD-0ADF38D0B9E2}"/>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815F7847-C5B6-B71E-B467-58CEF3DAD7E0}"/>
              </a:ext>
            </a:extLst>
          </p:cNvPr>
          <p:cNvCxnSpPr/>
          <p:nvPr/>
        </p:nvCxnSpPr>
        <p:spPr>
          <a:xfrm>
            <a:off x="6983760" y="4927476"/>
            <a:ext cx="0" cy="4752528"/>
          </a:xfrm>
          <a:prstGeom prst="line">
            <a:avLst/>
          </a:prstGeom>
          <a:ln>
            <a:gradFill flip="none" rotWithShape="1">
              <a:gsLst>
                <a:gs pos="0">
                  <a:schemeClr val="bg1">
                    <a:lumMod val="75000"/>
                  </a:schemeClr>
                </a:gs>
                <a:gs pos="100000">
                  <a:schemeClr val="bg1"/>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4" name="Text Placeholder 13">
            <a:extLst>
              <a:ext uri="{FF2B5EF4-FFF2-40B4-BE49-F238E27FC236}">
                <a16:creationId xmlns:a16="http://schemas.microsoft.com/office/drawing/2014/main" id="{88C7D9DD-5913-9EB7-C537-0CD4C7C1F92F}"/>
              </a:ext>
            </a:extLst>
          </p:cNvPr>
          <p:cNvSpPr>
            <a:spLocks noGrp="1"/>
          </p:cNvSpPr>
          <p:nvPr>
            <p:ph type="body" sz="quarter" idx="10"/>
          </p:nvPr>
        </p:nvSpPr>
        <p:spPr>
          <a:xfrm>
            <a:off x="1475148" y="2227177"/>
            <a:ext cx="13393488" cy="6210710"/>
          </a:xfrm>
        </p:spPr>
        <p:txBody>
          <a:bodyPr/>
          <a:lstStyle/>
          <a:p>
            <a:pPr marL="514350" indent="-514350" algn="l">
              <a:buFont typeface="Arial" panose="020B0604020202020204" pitchFamily="34" charset="0"/>
              <a:buChar char="•"/>
            </a:pPr>
            <a:r>
              <a:rPr lang="en-US" sz="3750" dirty="0">
                <a:solidFill>
                  <a:schemeClr val="tx1"/>
                </a:solidFill>
                <a:latin typeface="+mj-lt"/>
              </a:rPr>
              <a:t>You give one example of the tone or structure you want.</a:t>
            </a:r>
            <a:br>
              <a:rPr lang="en-US" sz="3750" dirty="0">
                <a:solidFill>
                  <a:schemeClr val="tx1"/>
                </a:solidFill>
                <a:latin typeface="+mj-lt"/>
              </a:rPr>
            </a:br>
            <a:endParaRPr lang="en-US" sz="3750" dirty="0">
              <a:solidFill>
                <a:schemeClr val="tx1"/>
              </a:solidFill>
              <a:latin typeface="+mj-lt"/>
            </a:endParaRPr>
          </a:p>
          <a:p>
            <a:pPr marL="514350" indent="-514350" algn="l">
              <a:buFont typeface="Arial" panose="020B0604020202020204" pitchFamily="34" charset="0"/>
              <a:buChar char="•"/>
            </a:pPr>
            <a:r>
              <a:rPr lang="en-US" sz="3750" dirty="0">
                <a:solidFill>
                  <a:schemeClr val="tx1"/>
                </a:solidFill>
                <a:latin typeface="+mj-lt"/>
              </a:rPr>
              <a:t>Useful for steering Copilot toward a specific voice.</a:t>
            </a:r>
            <a:br>
              <a:rPr lang="en-US" sz="3750" dirty="0">
                <a:solidFill>
                  <a:schemeClr val="tx1"/>
                </a:solidFill>
                <a:latin typeface="+mj-lt"/>
              </a:rPr>
            </a:br>
            <a:endParaRPr lang="en-US" sz="3750" dirty="0">
              <a:solidFill>
                <a:schemeClr val="tx1"/>
              </a:solidFill>
              <a:latin typeface="+mj-lt"/>
            </a:endParaRPr>
          </a:p>
          <a:p>
            <a:pPr marL="514350" indent="-514350" algn="l">
              <a:buFont typeface="Arial" panose="020B0604020202020204" pitchFamily="34" charset="0"/>
              <a:buChar char="•"/>
            </a:pPr>
            <a:r>
              <a:rPr lang="en-US" sz="3750" dirty="0">
                <a:solidFill>
                  <a:schemeClr val="tx1"/>
                </a:solidFill>
                <a:latin typeface="+mj-lt"/>
              </a:rPr>
              <a:t>Only lightly controls structure and depth.</a:t>
            </a:r>
            <a:br>
              <a:rPr lang="en-US" sz="3750" dirty="0">
                <a:solidFill>
                  <a:schemeClr val="tx1"/>
                </a:solidFill>
                <a:latin typeface="+mj-lt"/>
              </a:rPr>
            </a:br>
            <a:endParaRPr lang="en-US" sz="3750" dirty="0">
              <a:solidFill>
                <a:schemeClr val="tx1"/>
              </a:solidFill>
              <a:latin typeface="+mj-lt"/>
            </a:endParaRPr>
          </a:p>
          <a:p>
            <a:pPr marL="514350" indent="-514350" algn="l">
              <a:buFont typeface="Arial" panose="020B0604020202020204" pitchFamily="34" charset="0"/>
              <a:buChar char="•"/>
            </a:pPr>
            <a:r>
              <a:rPr lang="en-US" sz="3750" dirty="0">
                <a:solidFill>
                  <a:schemeClr val="tx1"/>
                </a:solidFill>
                <a:latin typeface="+mj-lt"/>
              </a:rPr>
              <a:t>Example: “Here’s the style I want: ‘Technology names saw higher multiples supported by strong earnings trends.’ Using the </a:t>
            </a:r>
            <a:r>
              <a:rPr lang="en-US" sz="3750" dirty="0" err="1">
                <a:solidFill>
                  <a:schemeClr val="tx1"/>
                </a:solidFill>
                <a:latin typeface="+mj-lt"/>
              </a:rPr>
              <a:t>EquitySnapshot</a:t>
            </a:r>
            <a:r>
              <a:rPr lang="en-US" sz="3750" dirty="0">
                <a:solidFill>
                  <a:schemeClr val="tx1"/>
                </a:solidFill>
                <a:latin typeface="+mj-lt"/>
              </a:rPr>
              <a:t> table, write a similar short summary of how valuations vary across the major sectors.”</a:t>
            </a:r>
          </a:p>
        </p:txBody>
      </p:sp>
      <p:sp>
        <p:nvSpPr>
          <p:cNvPr id="4" name="TextBox 3">
            <a:extLst>
              <a:ext uri="{FF2B5EF4-FFF2-40B4-BE49-F238E27FC236}">
                <a16:creationId xmlns:a16="http://schemas.microsoft.com/office/drawing/2014/main" id="{F8E41AF9-DDC0-F04B-B73F-1131D8A84B08}"/>
              </a:ext>
            </a:extLst>
          </p:cNvPr>
          <p:cNvSpPr txBox="1"/>
          <p:nvPr/>
        </p:nvSpPr>
        <p:spPr>
          <a:xfrm>
            <a:off x="520861" y="170082"/>
            <a:ext cx="16014539" cy="1200329"/>
          </a:xfrm>
          <a:prstGeom prst="rect">
            <a:avLst/>
          </a:prstGeom>
          <a:noFill/>
        </p:spPr>
        <p:txBody>
          <a:bodyPr wrap="square" rtlCol="0">
            <a:spAutoFit/>
          </a:bodyPr>
          <a:lstStyle/>
          <a:p>
            <a:r>
              <a:rPr lang="en-US" sz="7200" dirty="0">
                <a:latin typeface="Aliens &amp; cows" panose="00000500000000000000" pitchFamily="2" charset="0"/>
              </a:rPr>
              <a:t>One-shot prompting</a:t>
            </a:r>
          </a:p>
        </p:txBody>
      </p:sp>
    </p:spTree>
    <p:extLst>
      <p:ext uri="{BB962C8B-B14F-4D97-AF65-F5344CB8AC3E}">
        <p14:creationId xmlns:p14="http://schemas.microsoft.com/office/powerpoint/2010/main" val="3675123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F8414-BBAE-AE72-DA31-D15CEF1F0DF4}"/>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BE0E979-740D-0CFA-8CB3-146F99538C1D}"/>
              </a:ext>
            </a:extLst>
          </p:cNvPr>
          <p:cNvCxnSpPr/>
          <p:nvPr/>
        </p:nvCxnSpPr>
        <p:spPr>
          <a:xfrm>
            <a:off x="6983760" y="4927476"/>
            <a:ext cx="0" cy="4752528"/>
          </a:xfrm>
          <a:prstGeom prst="line">
            <a:avLst/>
          </a:prstGeom>
          <a:ln>
            <a:gradFill flip="none" rotWithShape="1">
              <a:gsLst>
                <a:gs pos="0">
                  <a:schemeClr val="bg1">
                    <a:lumMod val="75000"/>
                  </a:schemeClr>
                </a:gs>
                <a:gs pos="100000">
                  <a:schemeClr val="bg1"/>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4" name="Text Placeholder 13">
            <a:extLst>
              <a:ext uri="{FF2B5EF4-FFF2-40B4-BE49-F238E27FC236}">
                <a16:creationId xmlns:a16="http://schemas.microsoft.com/office/drawing/2014/main" id="{185B5A73-FCA3-CDF9-867E-3B5CAD01011F}"/>
              </a:ext>
            </a:extLst>
          </p:cNvPr>
          <p:cNvSpPr>
            <a:spLocks noGrp="1"/>
          </p:cNvSpPr>
          <p:nvPr>
            <p:ph type="body" sz="quarter" idx="10"/>
          </p:nvPr>
        </p:nvSpPr>
        <p:spPr>
          <a:xfrm>
            <a:off x="1475148" y="2227177"/>
            <a:ext cx="15661740" cy="6210710"/>
          </a:xfrm>
        </p:spPr>
        <p:txBody>
          <a:bodyPr>
            <a:normAutofit lnSpcReduction="10000"/>
          </a:bodyPr>
          <a:lstStyle/>
          <a:p>
            <a:pPr marL="514350" indent="-514350" algn="l">
              <a:buFont typeface="Arial" panose="020B0604020202020204" pitchFamily="34" charset="0"/>
              <a:buChar char="•"/>
            </a:pPr>
            <a:r>
              <a:rPr lang="en-US" sz="3750" dirty="0">
                <a:solidFill>
                  <a:schemeClr val="tx1"/>
                </a:solidFill>
                <a:latin typeface="+mj-lt"/>
              </a:rPr>
              <a:t>You provide two or more examples to anchor style and framing.</a:t>
            </a:r>
          </a:p>
          <a:p>
            <a:pPr marL="514350" indent="-514350" algn="l">
              <a:buFont typeface="Arial" panose="020B0604020202020204" pitchFamily="34" charset="0"/>
              <a:buChar char="•"/>
            </a:pPr>
            <a:r>
              <a:rPr lang="en-US" sz="3750" dirty="0">
                <a:solidFill>
                  <a:schemeClr val="tx1"/>
                </a:solidFill>
                <a:latin typeface="+mj-lt"/>
              </a:rPr>
              <a:t>Helpful when you want consistent voice and clearer structure.</a:t>
            </a:r>
          </a:p>
          <a:p>
            <a:pPr marL="514350" indent="-514350" algn="l">
              <a:buFont typeface="Arial" panose="020B0604020202020204" pitchFamily="34" charset="0"/>
              <a:buChar char="•"/>
            </a:pPr>
            <a:r>
              <a:rPr lang="en-US" sz="3750" dirty="0">
                <a:solidFill>
                  <a:schemeClr val="tx1"/>
                </a:solidFill>
                <a:latin typeface="+mj-lt"/>
              </a:rPr>
              <a:t>Takes slightly more setup than one-shot.</a:t>
            </a:r>
          </a:p>
          <a:p>
            <a:pPr marL="514350" indent="-514350" algn="l">
              <a:buFont typeface="Arial" panose="020B0604020202020204" pitchFamily="34" charset="0"/>
              <a:buChar char="•"/>
            </a:pPr>
            <a:r>
              <a:rPr lang="en-US" sz="3750" dirty="0">
                <a:solidFill>
                  <a:schemeClr val="tx1"/>
                </a:solidFill>
                <a:latin typeface="+mj-lt"/>
              </a:rPr>
              <a:t>Example: </a:t>
            </a:r>
          </a:p>
          <a:p>
            <a:pPr marL="1885985" lvl="1" indent="-514350">
              <a:buFont typeface="Arial" panose="020B0604020202020204" pitchFamily="34" charset="0"/>
              <a:buChar char="•"/>
            </a:pPr>
            <a:r>
              <a:rPr lang="en-US" sz="3750" dirty="0">
                <a:latin typeface="+mj-lt"/>
              </a:rPr>
              <a:t>“Example A: ‘Healthcare displayed resilient earnings with mid-range valuations.’</a:t>
            </a:r>
          </a:p>
          <a:p>
            <a:pPr marL="1885985" lvl="1" indent="-514350">
              <a:buFont typeface="Arial" panose="020B0604020202020204" pitchFamily="34" charset="0"/>
              <a:buChar char="•"/>
            </a:pPr>
            <a:r>
              <a:rPr lang="en-US" sz="3750" dirty="0">
                <a:latin typeface="+mj-lt"/>
              </a:rPr>
              <a:t>Example B: ‘Consumer names clustered at the lower end of the valuation range.’ </a:t>
            </a:r>
          </a:p>
          <a:p>
            <a:pPr marL="1885985" lvl="1" indent="-514350">
              <a:buFont typeface="Arial" panose="020B0604020202020204" pitchFamily="34" charset="0"/>
              <a:buChar char="•"/>
            </a:pPr>
            <a:r>
              <a:rPr lang="en-US" sz="3750" dirty="0">
                <a:latin typeface="+mj-lt"/>
              </a:rPr>
              <a:t>Using the </a:t>
            </a:r>
            <a:r>
              <a:rPr lang="en-US" sz="3750" dirty="0" err="1">
                <a:latin typeface="+mj-lt"/>
              </a:rPr>
              <a:t>EquitySnapshot</a:t>
            </a:r>
            <a:r>
              <a:rPr lang="en-US" sz="3750" dirty="0">
                <a:latin typeface="+mj-lt"/>
              </a:rPr>
              <a:t> table, write a sector-level valuation summary in a similar voice.”</a:t>
            </a:r>
          </a:p>
        </p:txBody>
      </p:sp>
      <p:sp>
        <p:nvSpPr>
          <p:cNvPr id="4" name="TextBox 3">
            <a:extLst>
              <a:ext uri="{FF2B5EF4-FFF2-40B4-BE49-F238E27FC236}">
                <a16:creationId xmlns:a16="http://schemas.microsoft.com/office/drawing/2014/main" id="{18CED190-42BA-CB16-7F13-EBE15CE87054}"/>
              </a:ext>
            </a:extLst>
          </p:cNvPr>
          <p:cNvSpPr txBox="1"/>
          <p:nvPr/>
        </p:nvSpPr>
        <p:spPr>
          <a:xfrm>
            <a:off x="520861" y="170082"/>
            <a:ext cx="16014539" cy="1200329"/>
          </a:xfrm>
          <a:prstGeom prst="rect">
            <a:avLst/>
          </a:prstGeom>
          <a:noFill/>
        </p:spPr>
        <p:txBody>
          <a:bodyPr wrap="square" rtlCol="0">
            <a:spAutoFit/>
          </a:bodyPr>
          <a:lstStyle/>
          <a:p>
            <a:r>
              <a:rPr lang="en-US" sz="7200" dirty="0">
                <a:latin typeface="Aliens &amp; cows" panose="00000500000000000000" pitchFamily="2" charset="0"/>
              </a:rPr>
              <a:t>Multi-shot prompting</a:t>
            </a:r>
          </a:p>
        </p:txBody>
      </p:sp>
    </p:spTree>
    <p:extLst>
      <p:ext uri="{BB962C8B-B14F-4D97-AF65-F5344CB8AC3E}">
        <p14:creationId xmlns:p14="http://schemas.microsoft.com/office/powerpoint/2010/main" val="1107628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75FE7-14B6-4AF0-0066-9902033FB77A}"/>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4B31EAF-E45E-55B2-7415-A3E0ACE2B9A7}"/>
              </a:ext>
            </a:extLst>
          </p:cNvPr>
          <p:cNvCxnSpPr/>
          <p:nvPr/>
        </p:nvCxnSpPr>
        <p:spPr>
          <a:xfrm>
            <a:off x="6983760" y="4927476"/>
            <a:ext cx="0" cy="4752528"/>
          </a:xfrm>
          <a:prstGeom prst="line">
            <a:avLst/>
          </a:prstGeom>
          <a:ln>
            <a:gradFill flip="none" rotWithShape="1">
              <a:gsLst>
                <a:gs pos="0">
                  <a:schemeClr val="bg1">
                    <a:lumMod val="75000"/>
                  </a:schemeClr>
                </a:gs>
                <a:gs pos="100000">
                  <a:schemeClr val="bg1"/>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4" name="Text Placeholder 13">
            <a:extLst>
              <a:ext uri="{FF2B5EF4-FFF2-40B4-BE49-F238E27FC236}">
                <a16:creationId xmlns:a16="http://schemas.microsoft.com/office/drawing/2014/main" id="{2A5E79EE-B786-9872-48C9-50A190B3A11F}"/>
              </a:ext>
            </a:extLst>
          </p:cNvPr>
          <p:cNvSpPr>
            <a:spLocks noGrp="1"/>
          </p:cNvSpPr>
          <p:nvPr>
            <p:ph type="body" sz="quarter" idx="10"/>
          </p:nvPr>
        </p:nvSpPr>
        <p:spPr>
          <a:xfrm>
            <a:off x="1475148" y="2227177"/>
            <a:ext cx="15661740" cy="6210710"/>
          </a:xfrm>
        </p:spPr>
        <p:txBody>
          <a:bodyPr/>
          <a:lstStyle/>
          <a:p>
            <a:pPr marL="514350" indent="-514350" algn="l">
              <a:buFont typeface="Arial" panose="020B0604020202020204" pitchFamily="34" charset="0"/>
              <a:buChar char="•"/>
            </a:pPr>
            <a:r>
              <a:rPr lang="en-US" sz="3750" dirty="0">
                <a:solidFill>
                  <a:schemeClr val="tx1"/>
                </a:solidFill>
                <a:latin typeface="+mj-lt"/>
              </a:rPr>
              <a:t>Ask Copilot to show its steps before answering.</a:t>
            </a:r>
            <a:br>
              <a:rPr lang="en-US" sz="3750" dirty="0">
                <a:solidFill>
                  <a:schemeClr val="tx1"/>
                </a:solidFill>
                <a:latin typeface="+mj-lt"/>
              </a:rPr>
            </a:br>
            <a:endParaRPr lang="en-US" sz="3750" dirty="0">
              <a:solidFill>
                <a:schemeClr val="tx1"/>
              </a:solidFill>
              <a:latin typeface="+mj-lt"/>
            </a:endParaRPr>
          </a:p>
          <a:p>
            <a:pPr marL="514350" indent="-514350" algn="l">
              <a:buFont typeface="Arial" panose="020B0604020202020204" pitchFamily="34" charset="0"/>
              <a:buChar char="•"/>
            </a:pPr>
            <a:r>
              <a:rPr lang="en-US" sz="3750" dirty="0">
                <a:solidFill>
                  <a:schemeClr val="tx1"/>
                </a:solidFill>
                <a:latin typeface="+mj-lt"/>
              </a:rPr>
              <a:t>Useful for accuracy, transparency, and reducing hallucination.</a:t>
            </a:r>
            <a:br>
              <a:rPr lang="en-US" sz="3750" dirty="0">
                <a:solidFill>
                  <a:schemeClr val="tx1"/>
                </a:solidFill>
                <a:latin typeface="+mj-lt"/>
              </a:rPr>
            </a:br>
            <a:endParaRPr lang="en-US" sz="3750" dirty="0">
              <a:solidFill>
                <a:schemeClr val="tx1"/>
              </a:solidFill>
              <a:latin typeface="+mj-lt"/>
            </a:endParaRPr>
          </a:p>
          <a:p>
            <a:pPr marL="514350" indent="-514350" algn="l">
              <a:buFont typeface="Arial" panose="020B0604020202020204" pitchFamily="34" charset="0"/>
              <a:buChar char="•"/>
            </a:pPr>
            <a:r>
              <a:rPr lang="en-US" sz="3750" dirty="0">
                <a:solidFill>
                  <a:schemeClr val="tx1"/>
                </a:solidFill>
                <a:latin typeface="+mj-lt"/>
              </a:rPr>
              <a:t>Can produce longer, more detailed responses.</a:t>
            </a:r>
            <a:br>
              <a:rPr lang="en-US" sz="3750" dirty="0">
                <a:solidFill>
                  <a:schemeClr val="tx1"/>
                </a:solidFill>
                <a:latin typeface="+mj-lt"/>
              </a:rPr>
            </a:br>
            <a:endParaRPr lang="en-US" sz="3750" dirty="0">
              <a:solidFill>
                <a:schemeClr val="tx1"/>
              </a:solidFill>
              <a:latin typeface="+mj-lt"/>
            </a:endParaRPr>
          </a:p>
          <a:p>
            <a:pPr marL="514350" indent="-514350" algn="l">
              <a:buFont typeface="Arial" panose="020B0604020202020204" pitchFamily="34" charset="0"/>
              <a:buChar char="•"/>
            </a:pPr>
            <a:r>
              <a:rPr lang="en-US" sz="3750" dirty="0">
                <a:solidFill>
                  <a:schemeClr val="tx1"/>
                </a:solidFill>
                <a:latin typeface="+mj-lt"/>
              </a:rPr>
              <a:t>Example: “Using the </a:t>
            </a:r>
            <a:r>
              <a:rPr lang="en-US" sz="3750" dirty="0" err="1">
                <a:solidFill>
                  <a:schemeClr val="tx1"/>
                </a:solidFill>
                <a:latin typeface="+mj-lt"/>
              </a:rPr>
              <a:t>EquitySnapshot</a:t>
            </a:r>
            <a:r>
              <a:rPr lang="en-US" sz="3750" dirty="0">
                <a:solidFill>
                  <a:schemeClr val="tx1"/>
                </a:solidFill>
                <a:latin typeface="+mj-lt"/>
              </a:rPr>
              <a:t> table, walk through how you compare sectors based on P/E and EPS before giving the final summary. Then give me a clean, 3-bullet takeaway.”</a:t>
            </a:r>
          </a:p>
        </p:txBody>
      </p:sp>
      <p:sp>
        <p:nvSpPr>
          <p:cNvPr id="4" name="TextBox 3">
            <a:extLst>
              <a:ext uri="{FF2B5EF4-FFF2-40B4-BE49-F238E27FC236}">
                <a16:creationId xmlns:a16="http://schemas.microsoft.com/office/drawing/2014/main" id="{D02C11F8-6201-2328-A70E-DC3F53ED8D98}"/>
              </a:ext>
            </a:extLst>
          </p:cNvPr>
          <p:cNvSpPr txBox="1"/>
          <p:nvPr/>
        </p:nvSpPr>
        <p:spPr>
          <a:xfrm>
            <a:off x="520861" y="170082"/>
            <a:ext cx="16014539" cy="1200329"/>
          </a:xfrm>
          <a:prstGeom prst="rect">
            <a:avLst/>
          </a:prstGeom>
          <a:noFill/>
        </p:spPr>
        <p:txBody>
          <a:bodyPr wrap="square" rtlCol="0">
            <a:spAutoFit/>
          </a:bodyPr>
          <a:lstStyle/>
          <a:p>
            <a:r>
              <a:rPr lang="en-US" sz="7200" dirty="0">
                <a:latin typeface="Aliens &amp; cows" panose="00000500000000000000" pitchFamily="2" charset="0"/>
              </a:rPr>
              <a:t>Reasoning</a:t>
            </a:r>
          </a:p>
        </p:txBody>
      </p:sp>
    </p:spTree>
    <p:extLst>
      <p:ext uri="{BB962C8B-B14F-4D97-AF65-F5344CB8AC3E}">
        <p14:creationId xmlns:p14="http://schemas.microsoft.com/office/powerpoint/2010/main" val="2132178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16474-8679-1DE9-5C18-3CA1BBFB0C2A}"/>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4BE84F4D-FADB-647E-71CF-DDD19CE7484E}"/>
              </a:ext>
            </a:extLst>
          </p:cNvPr>
          <p:cNvCxnSpPr/>
          <p:nvPr/>
        </p:nvCxnSpPr>
        <p:spPr>
          <a:xfrm>
            <a:off x="6983760" y="4927476"/>
            <a:ext cx="0" cy="4752528"/>
          </a:xfrm>
          <a:prstGeom prst="line">
            <a:avLst/>
          </a:prstGeom>
          <a:ln>
            <a:gradFill flip="none" rotWithShape="1">
              <a:gsLst>
                <a:gs pos="0">
                  <a:schemeClr val="bg1">
                    <a:lumMod val="75000"/>
                  </a:schemeClr>
                </a:gs>
                <a:gs pos="100000">
                  <a:schemeClr val="bg1"/>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4" name="Text Placeholder 13">
            <a:extLst>
              <a:ext uri="{FF2B5EF4-FFF2-40B4-BE49-F238E27FC236}">
                <a16:creationId xmlns:a16="http://schemas.microsoft.com/office/drawing/2014/main" id="{018B83E0-2ADB-1E68-A98F-C4C3538603EA}"/>
              </a:ext>
            </a:extLst>
          </p:cNvPr>
          <p:cNvSpPr>
            <a:spLocks noGrp="1"/>
          </p:cNvSpPr>
          <p:nvPr>
            <p:ph type="body" sz="quarter" idx="10"/>
          </p:nvPr>
        </p:nvSpPr>
        <p:spPr>
          <a:xfrm>
            <a:off x="1475148" y="2227177"/>
            <a:ext cx="15661740" cy="6210710"/>
          </a:xfrm>
        </p:spPr>
        <p:txBody>
          <a:bodyPr/>
          <a:lstStyle/>
          <a:p>
            <a:pPr marL="514350" indent="-514350" algn="l">
              <a:buFont typeface="Arial" panose="020B0604020202020204" pitchFamily="34" charset="0"/>
              <a:buChar char="•"/>
            </a:pPr>
            <a:r>
              <a:rPr lang="en-US" sz="3750" dirty="0">
                <a:solidFill>
                  <a:schemeClr val="tx1"/>
                </a:solidFill>
                <a:latin typeface="+mj-lt"/>
              </a:rPr>
              <a:t>Split a task into clear, sequenced steps.</a:t>
            </a:r>
          </a:p>
          <a:p>
            <a:pPr marL="514350" indent="-514350" algn="l">
              <a:buFont typeface="Arial" panose="020B0604020202020204" pitchFamily="34" charset="0"/>
              <a:buChar char="•"/>
            </a:pPr>
            <a:r>
              <a:rPr lang="en-US" sz="3750" dirty="0">
                <a:solidFill>
                  <a:schemeClr val="tx1"/>
                </a:solidFill>
                <a:latin typeface="+mj-lt"/>
              </a:rPr>
              <a:t>Ideal for complex analysis or multi-stage summaries.</a:t>
            </a:r>
          </a:p>
          <a:p>
            <a:pPr marL="514350" indent="-514350" algn="l">
              <a:buFont typeface="Arial" panose="020B0604020202020204" pitchFamily="34" charset="0"/>
              <a:buChar char="•"/>
            </a:pPr>
            <a:r>
              <a:rPr lang="en-US" sz="3750" dirty="0">
                <a:solidFill>
                  <a:schemeClr val="tx1"/>
                </a:solidFill>
                <a:latin typeface="+mj-lt"/>
              </a:rPr>
              <a:t>More time-consuming but offers more control.</a:t>
            </a:r>
          </a:p>
          <a:p>
            <a:pPr marL="514350" indent="-514350" algn="l">
              <a:buFont typeface="Arial" panose="020B0604020202020204" pitchFamily="34" charset="0"/>
              <a:buChar char="•"/>
            </a:pPr>
            <a:r>
              <a:rPr lang="en-US" sz="3750" dirty="0">
                <a:solidFill>
                  <a:schemeClr val="tx1"/>
                </a:solidFill>
                <a:latin typeface="+mj-lt"/>
              </a:rPr>
              <a:t>Example:</a:t>
            </a:r>
          </a:p>
          <a:p>
            <a:pPr marL="1885985" lvl="1" indent="-514350">
              <a:buFont typeface="Arial" panose="020B0604020202020204" pitchFamily="34" charset="0"/>
              <a:buChar char="•"/>
            </a:pPr>
            <a:r>
              <a:rPr lang="en-US" sz="3750" dirty="0">
                <a:latin typeface="+mj-lt"/>
              </a:rPr>
              <a:t>“Scan the </a:t>
            </a:r>
            <a:r>
              <a:rPr lang="en-US" sz="3750" dirty="0" err="1">
                <a:latin typeface="+mj-lt"/>
              </a:rPr>
              <a:t>EquitySnapshot</a:t>
            </a:r>
            <a:r>
              <a:rPr lang="en-US" sz="3750" dirty="0">
                <a:latin typeface="+mj-lt"/>
              </a:rPr>
              <a:t> table and identify standout valuation patterns.”</a:t>
            </a:r>
          </a:p>
          <a:p>
            <a:pPr marL="1885985" lvl="1" indent="-514350">
              <a:buFont typeface="Arial" panose="020B0604020202020204" pitchFamily="34" charset="0"/>
              <a:buChar char="•"/>
            </a:pPr>
            <a:r>
              <a:rPr lang="en-US" sz="3750" dirty="0">
                <a:latin typeface="+mj-lt"/>
              </a:rPr>
              <a:t>“Now suggest 2–3 angles to highlight.”</a:t>
            </a:r>
          </a:p>
          <a:p>
            <a:pPr marL="1885985" lvl="1" indent="-514350">
              <a:buFont typeface="Arial" panose="020B0604020202020204" pitchFamily="34" charset="0"/>
              <a:buChar char="•"/>
            </a:pPr>
            <a:r>
              <a:rPr lang="en-US" sz="3750" dirty="0">
                <a:latin typeface="+mj-lt"/>
              </a:rPr>
              <a:t>“Now write the summary as three crisp bullets.”</a:t>
            </a:r>
          </a:p>
        </p:txBody>
      </p:sp>
      <p:sp>
        <p:nvSpPr>
          <p:cNvPr id="4" name="TextBox 3">
            <a:extLst>
              <a:ext uri="{FF2B5EF4-FFF2-40B4-BE49-F238E27FC236}">
                <a16:creationId xmlns:a16="http://schemas.microsoft.com/office/drawing/2014/main" id="{A0B6DC80-A32C-C24A-0C42-134EC7647768}"/>
              </a:ext>
            </a:extLst>
          </p:cNvPr>
          <p:cNvSpPr txBox="1"/>
          <p:nvPr/>
        </p:nvSpPr>
        <p:spPr>
          <a:xfrm>
            <a:off x="520861" y="170082"/>
            <a:ext cx="16014539" cy="1200329"/>
          </a:xfrm>
          <a:prstGeom prst="rect">
            <a:avLst/>
          </a:prstGeom>
          <a:noFill/>
        </p:spPr>
        <p:txBody>
          <a:bodyPr wrap="square" rtlCol="0">
            <a:spAutoFit/>
          </a:bodyPr>
          <a:lstStyle/>
          <a:p>
            <a:r>
              <a:rPr lang="en-US" sz="7200" dirty="0">
                <a:latin typeface="Aliens &amp; cows" panose="00000500000000000000" pitchFamily="2" charset="0"/>
              </a:rPr>
              <a:t>Chained prompting</a:t>
            </a:r>
          </a:p>
        </p:txBody>
      </p:sp>
    </p:spTree>
    <p:extLst>
      <p:ext uri="{BB962C8B-B14F-4D97-AF65-F5344CB8AC3E}">
        <p14:creationId xmlns:p14="http://schemas.microsoft.com/office/powerpoint/2010/main" val="7405545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AA86C-BE0D-7783-F0BC-BF64D20175BB}"/>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EA941B10-4409-8227-A1B1-ED31572DA51F}"/>
              </a:ext>
            </a:extLst>
          </p:cNvPr>
          <p:cNvCxnSpPr/>
          <p:nvPr/>
        </p:nvCxnSpPr>
        <p:spPr>
          <a:xfrm>
            <a:off x="6983760" y="4927476"/>
            <a:ext cx="0" cy="4752528"/>
          </a:xfrm>
          <a:prstGeom prst="line">
            <a:avLst/>
          </a:prstGeom>
          <a:ln>
            <a:gradFill flip="none" rotWithShape="1">
              <a:gsLst>
                <a:gs pos="0">
                  <a:schemeClr val="bg1">
                    <a:lumMod val="75000"/>
                  </a:schemeClr>
                </a:gs>
                <a:gs pos="100000">
                  <a:schemeClr val="bg1"/>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sp>
        <p:nvSpPr>
          <p:cNvPr id="14" name="Text Placeholder 13">
            <a:extLst>
              <a:ext uri="{FF2B5EF4-FFF2-40B4-BE49-F238E27FC236}">
                <a16:creationId xmlns:a16="http://schemas.microsoft.com/office/drawing/2014/main" id="{46A28108-DA51-610C-EB06-83CE85DE69EA}"/>
              </a:ext>
            </a:extLst>
          </p:cNvPr>
          <p:cNvSpPr>
            <a:spLocks noGrp="1"/>
          </p:cNvSpPr>
          <p:nvPr>
            <p:ph type="body" sz="quarter" idx="10"/>
          </p:nvPr>
        </p:nvSpPr>
        <p:spPr>
          <a:xfrm>
            <a:off x="1475148" y="2227177"/>
            <a:ext cx="15661740" cy="6210710"/>
          </a:xfrm>
        </p:spPr>
        <p:txBody>
          <a:bodyPr/>
          <a:lstStyle/>
          <a:p>
            <a:pPr marL="514350" indent="-514350" algn="l">
              <a:buFont typeface="Arial" panose="020B0604020202020204" pitchFamily="34" charset="0"/>
              <a:buChar char="•"/>
            </a:pPr>
            <a:r>
              <a:rPr lang="en-US" sz="3750" dirty="0">
                <a:solidFill>
                  <a:schemeClr val="tx1"/>
                </a:solidFill>
                <a:latin typeface="+mj-lt"/>
              </a:rPr>
              <a:t>Tell Copilot what to avoid in the response.</a:t>
            </a:r>
            <a:br>
              <a:rPr lang="en-US" sz="3750" dirty="0">
                <a:solidFill>
                  <a:schemeClr val="tx1"/>
                </a:solidFill>
                <a:latin typeface="+mj-lt"/>
              </a:rPr>
            </a:br>
            <a:endParaRPr lang="en-US" sz="3750" dirty="0">
              <a:solidFill>
                <a:schemeClr val="tx1"/>
              </a:solidFill>
              <a:latin typeface="+mj-lt"/>
            </a:endParaRPr>
          </a:p>
          <a:p>
            <a:pPr marL="514350" indent="-514350" algn="l">
              <a:buFont typeface="Arial" panose="020B0604020202020204" pitchFamily="34" charset="0"/>
              <a:buChar char="•"/>
            </a:pPr>
            <a:r>
              <a:rPr lang="en-US" sz="3750" dirty="0">
                <a:solidFill>
                  <a:schemeClr val="tx1"/>
                </a:solidFill>
                <a:latin typeface="+mj-lt"/>
              </a:rPr>
              <a:t>Great for compliance, neutrality, and removing unwanted advice.</a:t>
            </a:r>
            <a:br>
              <a:rPr lang="en-US" sz="3750" dirty="0">
                <a:solidFill>
                  <a:schemeClr val="tx1"/>
                </a:solidFill>
                <a:latin typeface="+mj-lt"/>
              </a:rPr>
            </a:br>
            <a:endParaRPr lang="en-US" sz="3750" dirty="0">
              <a:solidFill>
                <a:schemeClr val="tx1"/>
              </a:solidFill>
              <a:latin typeface="+mj-lt"/>
            </a:endParaRPr>
          </a:p>
          <a:p>
            <a:pPr marL="514350" indent="-514350" algn="l">
              <a:buFont typeface="Arial" panose="020B0604020202020204" pitchFamily="34" charset="0"/>
              <a:buChar char="•"/>
            </a:pPr>
            <a:r>
              <a:rPr lang="en-US" sz="3750" dirty="0">
                <a:solidFill>
                  <a:schemeClr val="tx1"/>
                </a:solidFill>
                <a:latin typeface="+mj-lt"/>
              </a:rPr>
              <a:t>Requires clear boundaries to work well.</a:t>
            </a:r>
            <a:br>
              <a:rPr lang="en-US" sz="3750" dirty="0">
                <a:solidFill>
                  <a:schemeClr val="tx1"/>
                </a:solidFill>
                <a:latin typeface="+mj-lt"/>
              </a:rPr>
            </a:br>
            <a:endParaRPr lang="en-US" sz="3750" dirty="0">
              <a:solidFill>
                <a:schemeClr val="tx1"/>
              </a:solidFill>
              <a:latin typeface="+mj-lt"/>
            </a:endParaRPr>
          </a:p>
          <a:p>
            <a:pPr marL="514350" indent="-514350" algn="l">
              <a:buFont typeface="Arial" panose="020B0604020202020204" pitchFamily="34" charset="0"/>
              <a:buChar char="•"/>
            </a:pPr>
            <a:r>
              <a:rPr lang="en-US" sz="3750" dirty="0">
                <a:solidFill>
                  <a:schemeClr val="tx1"/>
                </a:solidFill>
                <a:latin typeface="+mj-lt"/>
              </a:rPr>
              <a:t>Example: “Summarize sector-level valuation patterns in the </a:t>
            </a:r>
            <a:r>
              <a:rPr lang="en-US" sz="3750" dirty="0" err="1">
                <a:solidFill>
                  <a:schemeClr val="tx1"/>
                </a:solidFill>
                <a:latin typeface="+mj-lt"/>
              </a:rPr>
              <a:t>EquitySnapshot</a:t>
            </a:r>
            <a:r>
              <a:rPr lang="en-US" sz="3750" dirty="0">
                <a:solidFill>
                  <a:schemeClr val="tx1"/>
                </a:solidFill>
                <a:latin typeface="+mj-lt"/>
              </a:rPr>
              <a:t> table, but keep it strictly descriptive and avoid recommendations or forward-looking statements.”</a:t>
            </a:r>
          </a:p>
        </p:txBody>
      </p:sp>
      <p:sp>
        <p:nvSpPr>
          <p:cNvPr id="4" name="TextBox 3">
            <a:extLst>
              <a:ext uri="{FF2B5EF4-FFF2-40B4-BE49-F238E27FC236}">
                <a16:creationId xmlns:a16="http://schemas.microsoft.com/office/drawing/2014/main" id="{FBA08179-8039-4008-7D90-896F18B03505}"/>
              </a:ext>
            </a:extLst>
          </p:cNvPr>
          <p:cNvSpPr txBox="1"/>
          <p:nvPr/>
        </p:nvSpPr>
        <p:spPr>
          <a:xfrm>
            <a:off x="520861" y="170082"/>
            <a:ext cx="16014539" cy="1200329"/>
          </a:xfrm>
          <a:prstGeom prst="rect">
            <a:avLst/>
          </a:prstGeom>
          <a:noFill/>
        </p:spPr>
        <p:txBody>
          <a:bodyPr wrap="square" rtlCol="0">
            <a:spAutoFit/>
          </a:bodyPr>
          <a:lstStyle/>
          <a:p>
            <a:r>
              <a:rPr lang="en-US" sz="7200" dirty="0">
                <a:latin typeface="Aliens &amp; cows" panose="00000500000000000000" pitchFamily="2" charset="0"/>
              </a:rPr>
              <a:t>Negative prompting</a:t>
            </a:r>
          </a:p>
        </p:txBody>
      </p:sp>
    </p:spTree>
    <p:extLst>
      <p:ext uri="{BB962C8B-B14F-4D97-AF65-F5344CB8AC3E}">
        <p14:creationId xmlns:p14="http://schemas.microsoft.com/office/powerpoint/2010/main" val="832709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004AA-4576-C289-01B6-9B337441FC1E}"/>
            </a:ext>
          </a:extLst>
        </p:cNvPr>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118D87C-F373-9334-112F-876B582FC2D2}"/>
              </a:ext>
            </a:extLst>
          </p:cNvPr>
          <p:cNvCxnSpPr/>
          <p:nvPr/>
        </p:nvCxnSpPr>
        <p:spPr>
          <a:xfrm>
            <a:off x="6983760" y="4927476"/>
            <a:ext cx="0" cy="4752528"/>
          </a:xfrm>
          <a:prstGeom prst="line">
            <a:avLst/>
          </a:prstGeom>
          <a:ln>
            <a:gradFill flip="none" rotWithShape="1">
              <a:gsLst>
                <a:gs pos="0">
                  <a:schemeClr val="bg1">
                    <a:lumMod val="75000"/>
                  </a:schemeClr>
                </a:gs>
                <a:gs pos="100000">
                  <a:schemeClr val="bg1"/>
                </a:gs>
              </a:gsLst>
              <a:path path="circle">
                <a:fillToRect l="50000" t="50000" r="50000" b="50000"/>
              </a:path>
              <a:tileRect/>
            </a:gra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EB36DACE-DABD-5695-983F-284F3C18F13A}"/>
              </a:ext>
            </a:extLst>
          </p:cNvPr>
          <p:cNvGraphicFramePr/>
          <p:nvPr>
            <p:extLst>
              <p:ext uri="{D42A27DB-BD31-4B8C-83A1-F6EECF244321}">
                <p14:modId xmlns:p14="http://schemas.microsoft.com/office/powerpoint/2010/main" val="3098676374"/>
              </p:ext>
            </p:extLst>
          </p:nvPr>
        </p:nvGraphicFramePr>
        <p:xfrm>
          <a:off x="683570" y="1903141"/>
          <a:ext cx="17136885" cy="71558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0F77BA5D-B8FE-1E4C-1B6F-738DB9BF18EB}"/>
              </a:ext>
            </a:extLst>
          </p:cNvPr>
          <p:cNvSpPr txBox="1"/>
          <p:nvPr/>
        </p:nvSpPr>
        <p:spPr>
          <a:xfrm>
            <a:off x="520861" y="170082"/>
            <a:ext cx="16014539" cy="1200329"/>
          </a:xfrm>
          <a:prstGeom prst="rect">
            <a:avLst/>
          </a:prstGeom>
          <a:noFill/>
        </p:spPr>
        <p:txBody>
          <a:bodyPr wrap="square" rtlCol="0">
            <a:spAutoFit/>
          </a:bodyPr>
          <a:lstStyle/>
          <a:p>
            <a:r>
              <a:rPr lang="en-US" sz="7200" dirty="0">
                <a:latin typeface="Aliens &amp; cows" panose="00000500000000000000" pitchFamily="2" charset="0"/>
              </a:rPr>
              <a:t>When to </a:t>
            </a:r>
            <a:r>
              <a:rPr lang="en-US" sz="7200">
                <a:latin typeface="Aliens &amp; cows" panose="00000500000000000000" pitchFamily="2" charset="0"/>
              </a:rPr>
              <a:t>use which?</a:t>
            </a:r>
            <a:endParaRPr lang="en-US" sz="7200" dirty="0">
              <a:latin typeface="Aliens &amp; cows" panose="00000500000000000000" pitchFamily="2" charset="0"/>
            </a:endParaRPr>
          </a:p>
        </p:txBody>
      </p:sp>
    </p:spTree>
    <p:extLst>
      <p:ext uri="{BB962C8B-B14F-4D97-AF65-F5344CB8AC3E}">
        <p14:creationId xmlns:p14="http://schemas.microsoft.com/office/powerpoint/2010/main" val="2415875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9D3A7-44FA-7B5D-57CC-24CD6E97C52B}"/>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5BD1FE43-F84A-91B2-5168-01404951430D}"/>
              </a:ext>
            </a:extLst>
          </p:cNvPr>
          <p:cNvSpPr txBox="1"/>
          <p:nvPr/>
        </p:nvSpPr>
        <p:spPr>
          <a:xfrm>
            <a:off x="520861" y="170082"/>
            <a:ext cx="16928939" cy="1200329"/>
          </a:xfrm>
          <a:prstGeom prst="rect">
            <a:avLst/>
          </a:prstGeom>
          <a:noFill/>
        </p:spPr>
        <p:txBody>
          <a:bodyPr wrap="square" rtlCol="0">
            <a:spAutoFit/>
          </a:bodyPr>
          <a:lstStyle/>
          <a:p>
            <a:r>
              <a:rPr lang="en-US" sz="7200" dirty="0">
                <a:latin typeface="Aliens &amp; cows" panose="00000500000000000000" pitchFamily="2" charset="0"/>
              </a:rPr>
              <a:t>Prompting pitfalls to avoid</a:t>
            </a:r>
          </a:p>
        </p:txBody>
      </p:sp>
      <p:sp>
        <p:nvSpPr>
          <p:cNvPr id="3" name="TextBox 2">
            <a:extLst>
              <a:ext uri="{FF2B5EF4-FFF2-40B4-BE49-F238E27FC236}">
                <a16:creationId xmlns:a16="http://schemas.microsoft.com/office/drawing/2014/main" id="{026D6505-3055-1BDA-D17C-F3E9A26B84D7}"/>
              </a:ext>
            </a:extLst>
          </p:cNvPr>
          <p:cNvSpPr txBox="1"/>
          <p:nvPr/>
        </p:nvSpPr>
        <p:spPr>
          <a:xfrm>
            <a:off x="762000" y="2124153"/>
            <a:ext cx="9385139" cy="5262979"/>
          </a:xfrm>
          <a:prstGeom prst="rect">
            <a:avLst/>
          </a:prstGeom>
          <a:noFill/>
        </p:spPr>
        <p:txBody>
          <a:bodyPr wrap="square" rtlCol="0">
            <a:spAutoFit/>
          </a:bodyPr>
          <a:lstStyle/>
          <a:p>
            <a:pPr>
              <a:buClr>
                <a:srgbClr val="CF3338"/>
              </a:buClr>
            </a:pPr>
            <a:r>
              <a:rPr lang="en-US" sz="4800" dirty="0">
                <a:solidFill>
                  <a:srgbClr val="707070"/>
                </a:solidFill>
                <a:latin typeface="Pragmatica" panose="020B0403040502020204" pitchFamily="34" charset="0"/>
              </a:rPr>
              <a:t>Common failure modes:</a:t>
            </a:r>
          </a:p>
          <a:p>
            <a:pPr marL="685800" indent="-685800">
              <a:buClr>
                <a:srgbClr val="CF3338"/>
              </a:buClr>
              <a:buFont typeface="Arial" panose="020B0604020202020204" pitchFamily="34" charset="0"/>
              <a:buChar char="•"/>
            </a:pPr>
            <a:endParaRPr lang="en-US" sz="4800" dirty="0">
              <a:solidFill>
                <a:srgbClr val="707070"/>
              </a:solidFill>
              <a:latin typeface="Pragmatica" panose="020B0403040502020204" pitchFamily="34" charset="0"/>
            </a:endParaRP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Vague data references (“this”, “here”, “the data”)</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Missing output constraints</a:t>
            </a:r>
          </a:p>
          <a:p>
            <a:pPr marL="685800" indent="-685800">
              <a:buClr>
                <a:srgbClr val="CF3338"/>
              </a:buClr>
              <a:buFont typeface="Arial" panose="020B0604020202020204" pitchFamily="34" charset="0"/>
              <a:buChar char="•"/>
            </a:pPr>
            <a:r>
              <a:rPr lang="en-US" sz="4800" dirty="0">
                <a:solidFill>
                  <a:srgbClr val="707070"/>
                </a:solidFill>
                <a:latin typeface="Pragmatica" panose="020B0403040502020204" pitchFamily="34" charset="0"/>
              </a:rPr>
              <a:t>Asking for judgment when you only want description</a:t>
            </a:r>
          </a:p>
        </p:txBody>
      </p:sp>
      <p:pic>
        <p:nvPicPr>
          <p:cNvPr id="15" name="Picture 14" descr="A close up of a sign&#10;&#10;Description automatically generated">
            <a:extLst>
              <a:ext uri="{FF2B5EF4-FFF2-40B4-BE49-F238E27FC236}">
                <a16:creationId xmlns:a16="http://schemas.microsoft.com/office/drawing/2014/main" id="{C33FCB8A-4BD0-CB02-515B-43B0EC5C56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pic>
        <p:nvPicPr>
          <p:cNvPr id="2" name="Picture 2" descr="Microsoft 365 Copilot 2025 Pricing, Features, Reviews &amp; Alternatives |  GetApp">
            <a:extLst>
              <a:ext uri="{FF2B5EF4-FFF2-40B4-BE49-F238E27FC236}">
                <a16:creationId xmlns:a16="http://schemas.microsoft.com/office/drawing/2014/main" id="{CE4B3CE3-3CD6-FDBB-5B20-1E051A2C3BD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024033" y="4076700"/>
            <a:ext cx="3288431" cy="328843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Microsoft Excel - Wikipedia">
            <a:extLst>
              <a:ext uri="{FF2B5EF4-FFF2-40B4-BE49-F238E27FC236}">
                <a16:creationId xmlns:a16="http://schemas.microsoft.com/office/drawing/2014/main" id="{A9D8FFA7-0F96-2468-7A3B-9D8E1621736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357033" y="6771674"/>
            <a:ext cx="2667000" cy="2744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064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p:cNvSpPr txBox="1"/>
          <p:nvPr/>
        </p:nvSpPr>
        <p:spPr>
          <a:xfrm>
            <a:off x="260431" y="329879"/>
            <a:ext cx="8906720" cy="8648521"/>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Demo: Rescue the Weak Prompt</a:t>
            </a:r>
          </a:p>
          <a:p>
            <a:endParaRPr lang="en-US" sz="4200" dirty="0">
              <a:solidFill>
                <a:srgbClr val="CF3338"/>
              </a:solidFill>
              <a:latin typeface="Pragmatica" panose="020B0403040502020204" pitchFamily="34" charset="0"/>
            </a:endParaRPr>
          </a:p>
          <a:p>
            <a:r>
              <a:rPr lang="en-US" sz="4400" dirty="0">
                <a:solidFill>
                  <a:srgbClr val="CF3338"/>
                </a:solidFill>
              </a:rPr>
              <a:t>Rewrite this prompt so Copilot can execute it cleanly on </a:t>
            </a:r>
            <a:r>
              <a:rPr lang="en-US" sz="4400" dirty="0" err="1">
                <a:solidFill>
                  <a:srgbClr val="CF3338"/>
                </a:solidFill>
              </a:rPr>
              <a:t>ETFSnapshot</a:t>
            </a:r>
            <a:r>
              <a:rPr lang="en-US" sz="4400" dirty="0">
                <a:solidFill>
                  <a:srgbClr val="CF3338"/>
                </a:solidFill>
              </a:rPr>
              <a:t>:</a:t>
            </a:r>
          </a:p>
          <a:p>
            <a:pPr marL="342900" indent="-342900">
              <a:buFont typeface="Arial" panose="020B0604020202020204" pitchFamily="34" charset="0"/>
              <a:buChar char="•"/>
            </a:pPr>
            <a:r>
              <a:rPr lang="en-US" sz="4400" dirty="0">
                <a:solidFill>
                  <a:srgbClr val="CF3338"/>
                </a:solidFill>
              </a:rPr>
              <a:t>“Analyze this.”</a:t>
            </a:r>
          </a:p>
          <a:p>
            <a:pPr marL="342900" indent="-342900">
              <a:buFont typeface="Arial" panose="020B0604020202020204" pitchFamily="34" charset="0"/>
              <a:buChar char="•"/>
            </a:pPr>
            <a:endParaRPr lang="en-US" sz="4400" dirty="0">
              <a:solidFill>
                <a:srgbClr val="CF3338"/>
              </a:solidFill>
            </a:endParaRPr>
          </a:p>
          <a:p>
            <a:r>
              <a:rPr lang="en-US" sz="4400" dirty="0">
                <a:solidFill>
                  <a:srgbClr val="CF3338"/>
                </a:solidFill>
              </a:rPr>
              <a:t>Scoring rubric:</a:t>
            </a:r>
          </a:p>
          <a:p>
            <a:pPr marL="342900" indent="-342900">
              <a:buFont typeface="Arial" panose="020B0604020202020204" pitchFamily="34" charset="0"/>
              <a:buChar char="•"/>
            </a:pPr>
            <a:r>
              <a:rPr lang="en-US" sz="4400" dirty="0">
                <a:solidFill>
                  <a:srgbClr val="CF3338"/>
                </a:solidFill>
              </a:rPr>
              <a:t>Data source named</a:t>
            </a:r>
          </a:p>
          <a:p>
            <a:pPr marL="342900" indent="-342900">
              <a:buFont typeface="Arial" panose="020B0604020202020204" pitchFamily="34" charset="0"/>
              <a:buChar char="•"/>
            </a:pPr>
            <a:r>
              <a:rPr lang="en-US" sz="4400" dirty="0">
                <a:solidFill>
                  <a:srgbClr val="CF3338"/>
                </a:solidFill>
              </a:rPr>
              <a:t>Metric defined</a:t>
            </a:r>
          </a:p>
          <a:p>
            <a:pPr marL="342900" indent="-342900">
              <a:buFont typeface="Arial" panose="020B0604020202020204" pitchFamily="34" charset="0"/>
              <a:buChar char="•"/>
            </a:pPr>
            <a:r>
              <a:rPr lang="en-US" sz="4400" dirty="0">
                <a:solidFill>
                  <a:srgbClr val="CF3338"/>
                </a:solidFill>
              </a:rPr>
              <a:t>Output format specified</a:t>
            </a:r>
            <a:endParaRPr lang="en-GB" sz="4400" dirty="0">
              <a:solidFill>
                <a:srgbClr val="CF3338"/>
              </a:solidFill>
            </a:endParaRPr>
          </a:p>
          <a:p>
            <a:endParaRPr lang="en-US" sz="4200" dirty="0">
              <a:solidFill>
                <a:srgbClr val="CF3338"/>
              </a:solidFill>
              <a:latin typeface="Pragmatica" panose="020B0403040502020204" pitchFamily="34" charset="0"/>
            </a:endParaRPr>
          </a:p>
        </p:txBody>
      </p:sp>
    </p:spTree>
    <p:extLst>
      <p:ext uri="{BB962C8B-B14F-4D97-AF65-F5344CB8AC3E}">
        <p14:creationId xmlns:p14="http://schemas.microsoft.com/office/powerpoint/2010/main" val="3871531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FC38D-2034-EB89-5F45-6D26F17C3A5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D1A6E40-350F-DDF1-4BFD-983B13516A1B}"/>
              </a:ext>
            </a:extLst>
          </p:cNvPr>
          <p:cNvSpPr/>
          <p:nvPr/>
        </p:nvSpPr>
        <p:spPr>
          <a:xfrm>
            <a:off x="9861630" y="0"/>
            <a:ext cx="842637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pic>
        <p:nvPicPr>
          <p:cNvPr id="2" name="Picture 1">
            <a:extLst>
              <a:ext uri="{FF2B5EF4-FFF2-40B4-BE49-F238E27FC236}">
                <a16:creationId xmlns:a16="http://schemas.microsoft.com/office/drawing/2014/main" id="{F57B2294-B7A8-FB6C-86E1-CBC871C43338}"/>
              </a:ext>
            </a:extLst>
          </p:cNvPr>
          <p:cNvPicPr>
            <a:picLocks noChangeAspect="1"/>
          </p:cNvPicPr>
          <p:nvPr/>
        </p:nvPicPr>
        <p:blipFill rotWithShape="1">
          <a:blip r:embed="rId3">
            <a:extLst>
              <a:ext uri="{28A0092B-C50C-407E-A947-70E740481C1C}">
                <a14:useLocalDpi xmlns:a14="http://schemas.microsoft.com/office/drawing/2010/main" val="0"/>
              </a:ext>
            </a:extLst>
          </a:blip>
          <a:srcRect l="69227" t="33418" r="20112" b="50548"/>
          <a:stretch/>
        </p:blipFill>
        <p:spPr>
          <a:xfrm>
            <a:off x="15579524" y="7544693"/>
            <a:ext cx="2708477" cy="2987579"/>
          </a:xfrm>
          <a:prstGeom prst="rect">
            <a:avLst/>
          </a:prstGeom>
        </p:spPr>
      </p:pic>
      <p:sp>
        <p:nvSpPr>
          <p:cNvPr id="3" name="TextBox 2">
            <a:extLst>
              <a:ext uri="{FF2B5EF4-FFF2-40B4-BE49-F238E27FC236}">
                <a16:creationId xmlns:a16="http://schemas.microsoft.com/office/drawing/2014/main" id="{9712491D-60F5-6831-44A7-9D86FC282C0C}"/>
              </a:ext>
            </a:extLst>
          </p:cNvPr>
          <p:cNvSpPr txBox="1"/>
          <p:nvPr/>
        </p:nvSpPr>
        <p:spPr>
          <a:xfrm>
            <a:off x="260431" y="329879"/>
            <a:ext cx="8906720" cy="7971413"/>
          </a:xfrm>
          <a:prstGeom prst="rect">
            <a:avLst/>
          </a:prstGeom>
          <a:noFill/>
        </p:spPr>
        <p:txBody>
          <a:bodyPr wrap="square" rtlCol="0">
            <a:spAutoFit/>
          </a:bodyPr>
          <a:lstStyle/>
          <a:p>
            <a:r>
              <a:rPr lang="en-US" sz="6000" b="1" dirty="0">
                <a:solidFill>
                  <a:srgbClr val="CF3338"/>
                </a:solidFill>
                <a:latin typeface="Pragmatica" panose="020B0403040502020204" pitchFamily="34" charset="0"/>
              </a:rPr>
              <a:t>Demo: Compliance-Safe Commentary</a:t>
            </a:r>
          </a:p>
          <a:p>
            <a:endParaRPr lang="en-US" sz="4200" dirty="0">
              <a:solidFill>
                <a:srgbClr val="CF3338"/>
              </a:solidFill>
              <a:latin typeface="Pragmatica" panose="020B0403040502020204" pitchFamily="34" charset="0"/>
            </a:endParaRPr>
          </a:p>
          <a:p>
            <a:r>
              <a:rPr lang="en-US" sz="4400" dirty="0">
                <a:solidFill>
                  <a:srgbClr val="CF3338"/>
                </a:solidFill>
              </a:rPr>
              <a:t>Write a strictly descriptive summary:</a:t>
            </a:r>
          </a:p>
          <a:p>
            <a:pPr marL="571500" indent="-571500">
              <a:buFont typeface="Arial" panose="020B0604020202020204" pitchFamily="34" charset="0"/>
              <a:buChar char="•"/>
            </a:pPr>
            <a:r>
              <a:rPr lang="en-US" sz="4400" dirty="0">
                <a:solidFill>
                  <a:srgbClr val="CF3338"/>
                </a:solidFill>
              </a:rPr>
              <a:t>No recommendations</a:t>
            </a:r>
            <a:br>
              <a:rPr lang="en-US" sz="4400" dirty="0">
                <a:solidFill>
                  <a:srgbClr val="CF3338"/>
                </a:solidFill>
              </a:rPr>
            </a:br>
            <a:r>
              <a:rPr lang="en-US" sz="4400" dirty="0">
                <a:solidFill>
                  <a:srgbClr val="CF3338"/>
                </a:solidFill>
              </a:rPr>
              <a:t>No forecasting</a:t>
            </a:r>
          </a:p>
          <a:p>
            <a:pPr marL="571500" indent="-571500">
              <a:buFont typeface="Arial" panose="020B0604020202020204" pitchFamily="34" charset="0"/>
              <a:buChar char="•"/>
            </a:pPr>
            <a:r>
              <a:rPr lang="en-US" sz="4400" dirty="0">
                <a:solidFill>
                  <a:srgbClr val="CF3338"/>
                </a:solidFill>
              </a:rPr>
              <a:t>No opinions</a:t>
            </a:r>
          </a:p>
          <a:p>
            <a:endParaRPr lang="en-US" sz="4400" dirty="0">
              <a:solidFill>
                <a:srgbClr val="CF3338"/>
              </a:solidFill>
            </a:endParaRPr>
          </a:p>
          <a:p>
            <a:r>
              <a:rPr lang="en-US" sz="4400" dirty="0">
                <a:solidFill>
                  <a:srgbClr val="CF3338"/>
                </a:solidFill>
              </a:rPr>
              <a:t>Then tighten the output to 3 bullets for a risk committee.</a:t>
            </a:r>
          </a:p>
          <a:p>
            <a:endParaRPr lang="en-US" sz="4200" dirty="0">
              <a:solidFill>
                <a:srgbClr val="CF3338"/>
              </a:solidFill>
              <a:latin typeface="Pragmatica" panose="020B0403040502020204" pitchFamily="34" charset="0"/>
            </a:endParaRPr>
          </a:p>
        </p:txBody>
      </p:sp>
    </p:spTree>
    <p:extLst>
      <p:ext uri="{BB962C8B-B14F-4D97-AF65-F5344CB8AC3E}">
        <p14:creationId xmlns:p14="http://schemas.microsoft.com/office/powerpoint/2010/main" val="2527174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FAB8E-6E53-896F-A9A8-BC5382EEB53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B22CC31-F017-7D94-3505-D0C3CB89C9C2}"/>
              </a:ext>
            </a:extLst>
          </p:cNvPr>
          <p:cNvSpPr txBox="1"/>
          <p:nvPr/>
        </p:nvSpPr>
        <p:spPr>
          <a:xfrm>
            <a:off x="520861" y="170082"/>
            <a:ext cx="16928939" cy="1107996"/>
          </a:xfrm>
          <a:prstGeom prst="rect">
            <a:avLst/>
          </a:prstGeom>
          <a:noFill/>
        </p:spPr>
        <p:txBody>
          <a:bodyPr wrap="square" rtlCol="0">
            <a:spAutoFit/>
          </a:bodyPr>
          <a:lstStyle/>
          <a:p>
            <a:r>
              <a:rPr lang="en-US" sz="6600" dirty="0">
                <a:latin typeface="Aliens &amp; cows" panose="00000500000000000000" pitchFamily="2" charset="0"/>
              </a:rPr>
              <a:t>The five prompt upgrades that matter the most</a:t>
            </a:r>
          </a:p>
        </p:txBody>
      </p:sp>
      <p:sp>
        <p:nvSpPr>
          <p:cNvPr id="3" name="TextBox 2">
            <a:extLst>
              <a:ext uri="{FF2B5EF4-FFF2-40B4-BE49-F238E27FC236}">
                <a16:creationId xmlns:a16="http://schemas.microsoft.com/office/drawing/2014/main" id="{1544D881-799F-2398-E268-C00B992D571F}"/>
              </a:ext>
            </a:extLst>
          </p:cNvPr>
          <p:cNvSpPr txBox="1"/>
          <p:nvPr/>
        </p:nvSpPr>
        <p:spPr>
          <a:xfrm>
            <a:off x="762000" y="2124153"/>
            <a:ext cx="9385139" cy="3785652"/>
          </a:xfrm>
          <a:prstGeom prst="rect">
            <a:avLst/>
          </a:prstGeom>
          <a:noFill/>
        </p:spPr>
        <p:txBody>
          <a:bodyPr wrap="square" rtlCol="0">
            <a:spAutoFit/>
          </a:bodyPr>
          <a:lstStyle/>
          <a:p>
            <a:pPr marL="914400" indent="-914400">
              <a:buClr>
                <a:srgbClr val="CF3338"/>
              </a:buClr>
              <a:buFont typeface="+mj-lt"/>
              <a:buAutoNum type="arabicPeriod"/>
            </a:pPr>
            <a:r>
              <a:rPr lang="en-US" sz="4800" dirty="0">
                <a:solidFill>
                  <a:srgbClr val="707070"/>
                </a:solidFill>
                <a:latin typeface="Pragmatica" panose="020B0403040502020204" pitchFamily="34" charset="0"/>
              </a:rPr>
              <a:t>Name the table/data source</a:t>
            </a:r>
          </a:p>
          <a:p>
            <a:pPr marL="914400" indent="-914400">
              <a:buClr>
                <a:srgbClr val="CF3338"/>
              </a:buClr>
              <a:buFont typeface="+mj-lt"/>
              <a:buAutoNum type="arabicPeriod"/>
            </a:pPr>
            <a:r>
              <a:rPr lang="en-US" sz="4800" dirty="0">
                <a:solidFill>
                  <a:srgbClr val="707070"/>
                </a:solidFill>
                <a:latin typeface="Pragmatica" panose="020B0403040502020204" pitchFamily="34" charset="0"/>
              </a:rPr>
              <a:t>Specify the metric</a:t>
            </a:r>
          </a:p>
          <a:p>
            <a:pPr marL="914400" indent="-914400">
              <a:buClr>
                <a:srgbClr val="CF3338"/>
              </a:buClr>
              <a:buFont typeface="+mj-lt"/>
              <a:buAutoNum type="arabicPeriod"/>
            </a:pPr>
            <a:r>
              <a:rPr lang="en-US" sz="4800" dirty="0">
                <a:solidFill>
                  <a:srgbClr val="707070"/>
                </a:solidFill>
                <a:latin typeface="Pragmatica" panose="020B0403040502020204" pitchFamily="34" charset="0"/>
              </a:rPr>
              <a:t>Choose the format</a:t>
            </a:r>
          </a:p>
          <a:p>
            <a:pPr marL="914400" indent="-914400">
              <a:buClr>
                <a:srgbClr val="CF3338"/>
              </a:buClr>
              <a:buFont typeface="+mj-lt"/>
              <a:buAutoNum type="arabicPeriod"/>
            </a:pPr>
            <a:r>
              <a:rPr lang="en-US" sz="4800" dirty="0">
                <a:solidFill>
                  <a:srgbClr val="707070"/>
                </a:solidFill>
                <a:latin typeface="Pragmatica" panose="020B0403040502020204" pitchFamily="34" charset="0"/>
              </a:rPr>
              <a:t>Tell Copilot the audience</a:t>
            </a:r>
          </a:p>
          <a:p>
            <a:pPr marL="914400" indent="-914400">
              <a:buClr>
                <a:srgbClr val="CF3338"/>
              </a:buClr>
              <a:buFont typeface="+mj-lt"/>
              <a:buAutoNum type="arabicPeriod"/>
            </a:pPr>
            <a:r>
              <a:rPr lang="en-US" sz="4800" dirty="0">
                <a:solidFill>
                  <a:srgbClr val="707070"/>
                </a:solidFill>
                <a:latin typeface="Pragmatica" panose="020B0403040502020204" pitchFamily="34" charset="0"/>
              </a:rPr>
              <a:t>Iterate with intent</a:t>
            </a:r>
          </a:p>
        </p:txBody>
      </p:sp>
      <p:pic>
        <p:nvPicPr>
          <p:cNvPr id="15" name="Picture 14" descr="A close up of a sign&#10;&#10;Description automatically generated">
            <a:extLst>
              <a:ext uri="{FF2B5EF4-FFF2-40B4-BE49-F238E27FC236}">
                <a16:creationId xmlns:a16="http://schemas.microsoft.com/office/drawing/2014/main" id="{4150C700-5108-5C44-ECE1-C8C2AED26B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41036" y="8058429"/>
            <a:ext cx="1942857" cy="2228571"/>
          </a:xfrm>
          <a:prstGeom prst="rect">
            <a:avLst/>
          </a:prstGeom>
        </p:spPr>
      </p:pic>
      <p:pic>
        <p:nvPicPr>
          <p:cNvPr id="2" name="Picture 2" descr="Microsoft 365 Copilot 2025 Pricing, Features, Reviews &amp; Alternatives |  GetApp">
            <a:extLst>
              <a:ext uri="{FF2B5EF4-FFF2-40B4-BE49-F238E27FC236}">
                <a16:creationId xmlns:a16="http://schemas.microsoft.com/office/drawing/2014/main" id="{8E7F835C-2130-D85D-C821-222D2FAC55E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024033" y="4076700"/>
            <a:ext cx="3288431" cy="328843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Microsoft Excel - Wikipedia">
            <a:extLst>
              <a:ext uri="{FF2B5EF4-FFF2-40B4-BE49-F238E27FC236}">
                <a16:creationId xmlns:a16="http://schemas.microsoft.com/office/drawing/2014/main" id="{7D0AB759-EA71-5959-B4E9-F1D8A5DA22A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357033" y="6771674"/>
            <a:ext cx="2667000" cy="2744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40637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rotWithShape="1">
          <a:blip r:embed="rId2">
            <a:extLst>
              <a:ext uri="{28A0092B-C50C-407E-A947-70E740481C1C}">
                <a14:useLocalDpi xmlns:a14="http://schemas.microsoft.com/office/drawing/2010/main" val="0"/>
              </a:ext>
            </a:extLst>
          </a:blip>
          <a:srcRect l="50728" t="56371"/>
          <a:stretch/>
        </p:blipFill>
        <p:spPr>
          <a:xfrm>
            <a:off x="12204691" y="3316148"/>
            <a:ext cx="6083309" cy="6970854"/>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744" y="-3724155"/>
            <a:ext cx="15257208" cy="11189825"/>
          </a:xfrm>
          <a:prstGeom prst="rect">
            <a:avLst/>
          </a:prstGeom>
        </p:spPr>
      </p:pic>
      <p:sp>
        <p:nvSpPr>
          <p:cNvPr id="11" name="TextBox 10"/>
          <p:cNvSpPr txBox="1"/>
          <p:nvPr/>
        </p:nvSpPr>
        <p:spPr>
          <a:xfrm>
            <a:off x="486137" y="2531318"/>
            <a:ext cx="11979797" cy="923330"/>
          </a:xfrm>
          <a:prstGeom prst="rect">
            <a:avLst/>
          </a:prstGeom>
          <a:noFill/>
        </p:spPr>
        <p:txBody>
          <a:bodyPr wrap="square" rtlCol="0">
            <a:spAutoFit/>
          </a:bodyPr>
          <a:lstStyle/>
          <a:p>
            <a:r>
              <a:rPr lang="en-US" sz="5400" b="1" dirty="0">
                <a:solidFill>
                  <a:srgbClr val="CF3338"/>
                </a:solidFill>
                <a:latin typeface="Pragmatica" panose="020B0403040502020204" pitchFamily="34" charset="0"/>
              </a:rPr>
              <a:t>Questions?</a:t>
            </a:r>
          </a:p>
        </p:txBody>
      </p:sp>
      <p:pic>
        <p:nvPicPr>
          <p:cNvPr id="5" name="Picture 4">
            <a:extLst>
              <a:ext uri="{FF2B5EF4-FFF2-40B4-BE49-F238E27FC236}">
                <a16:creationId xmlns:a16="http://schemas.microsoft.com/office/drawing/2014/main" id="{54A06221-5316-4BCF-9FDA-BDB95FF4A7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2204691" y="3317239"/>
            <a:ext cx="6083309" cy="6968672"/>
          </a:xfrm>
          <a:prstGeom prst="rect">
            <a:avLst/>
          </a:prstGeom>
        </p:spPr>
      </p:pic>
    </p:spTree>
    <p:extLst>
      <p:ext uri="{BB962C8B-B14F-4D97-AF65-F5344CB8AC3E}">
        <p14:creationId xmlns:p14="http://schemas.microsoft.com/office/powerpoint/2010/main" val="16898607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5323C9-D5F7-C820-78B9-E169BDF2311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8971779-1F50-1702-DEC1-87CD482189F0}"/>
              </a:ext>
            </a:extLst>
          </p:cNvPr>
          <p:cNvSpPr/>
          <p:nvPr/>
        </p:nvSpPr>
        <p:spPr>
          <a:xfrm>
            <a:off x="0" y="0"/>
            <a:ext cx="18288000" cy="10287000"/>
          </a:xfrm>
          <a:prstGeom prst="rect">
            <a:avLst/>
          </a:prstGeom>
          <a:solidFill>
            <a:srgbClr val="CF33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5" name="TextBox 4">
            <a:extLst>
              <a:ext uri="{FF2B5EF4-FFF2-40B4-BE49-F238E27FC236}">
                <a16:creationId xmlns:a16="http://schemas.microsoft.com/office/drawing/2014/main" id="{5ECC4C7B-C529-5329-03AC-796804551DC1}"/>
              </a:ext>
            </a:extLst>
          </p:cNvPr>
          <p:cNvSpPr txBox="1"/>
          <p:nvPr/>
        </p:nvSpPr>
        <p:spPr>
          <a:xfrm>
            <a:off x="781292" y="590309"/>
            <a:ext cx="15486926" cy="1615827"/>
          </a:xfrm>
          <a:prstGeom prst="rect">
            <a:avLst/>
          </a:prstGeom>
          <a:noFill/>
        </p:spPr>
        <p:txBody>
          <a:bodyPr wrap="square" rtlCol="0">
            <a:spAutoFit/>
          </a:bodyPr>
          <a:lstStyle/>
          <a:p>
            <a:r>
              <a:rPr lang="en-US" sz="9900" b="1" dirty="0">
                <a:solidFill>
                  <a:schemeClr val="bg1"/>
                </a:solidFill>
                <a:latin typeface="Normafixed Tryout" panose="00000409000000000000" pitchFamily="49" charset="0"/>
              </a:rPr>
              <a:t>Thank you</a:t>
            </a:r>
          </a:p>
        </p:txBody>
      </p:sp>
    </p:spTree>
    <p:extLst>
      <p:ext uri="{BB962C8B-B14F-4D97-AF65-F5344CB8AC3E}">
        <p14:creationId xmlns:p14="http://schemas.microsoft.com/office/powerpoint/2010/main" val="6578290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2592</TotalTime>
  <Words>2685</Words>
  <Application>Microsoft Office PowerPoint</Application>
  <PresentationFormat>Custom</PresentationFormat>
  <Paragraphs>299</Paragraphs>
  <Slides>20</Slides>
  <Notes>17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Century Gothic</vt:lpstr>
      <vt:lpstr>Arial</vt:lpstr>
      <vt:lpstr>Avenir Next LT Pro</vt:lpstr>
      <vt:lpstr>Calibri</vt:lpstr>
      <vt:lpstr>Normafixed Tryout</vt:lpstr>
      <vt:lpstr>Sabon Next LT</vt:lpstr>
      <vt:lpstr>Aliens &amp; cows</vt:lpstr>
      <vt:lpstr>Wingdings</vt:lpstr>
      <vt:lpstr>Pragmatica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excel-statistics-for-business-analytics</dc:title>
  <dc:creator>User</dc:creator>
  <cp:lastModifiedBy>George Mount</cp:lastModifiedBy>
  <cp:revision>227</cp:revision>
  <dcterms:created xsi:type="dcterms:W3CDTF">2006-08-16T00:00:00Z</dcterms:created>
  <dcterms:modified xsi:type="dcterms:W3CDTF">2026-02-12T14:23:50Z</dcterms:modified>
  <dc:identifier>DADurESpNu8</dc:identifier>
</cp:coreProperties>
</file>