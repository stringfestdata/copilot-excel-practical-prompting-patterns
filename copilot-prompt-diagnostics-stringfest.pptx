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426" r:id="rId3"/>
    <p:sldId id="435" r:id="rId4"/>
    <p:sldId id="436" r:id="rId5"/>
    <p:sldId id="437" r:id="rId6"/>
    <p:sldId id="438" r:id="rId7"/>
    <p:sldId id="439" r:id="rId8"/>
    <p:sldId id="407" r:id="rId9"/>
    <p:sldId id="440" r:id="rId10"/>
    <p:sldId id="441" r:id="rId11"/>
    <p:sldId id="415" r:id="rId12"/>
    <p:sldId id="427" r:id="rId13"/>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B3175A-E732-443C-B9E3-868C12CA9A19}" v="40" dt="2025-12-23T18:08:28.2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2" autoAdjust="0"/>
    <p:restoredTop sz="78463" autoAdjust="0"/>
  </p:normalViewPr>
  <p:slideViewPr>
    <p:cSldViewPr>
      <p:cViewPr>
        <p:scale>
          <a:sx n="33" d="100"/>
          <a:sy n="33" d="100"/>
        </p:scale>
        <p:origin x="779" y="251"/>
      </p:cViewPr>
      <p:guideLst>
        <p:guide orient="horz" pos="2160"/>
        <p:guide pos="2880"/>
      </p:guideLst>
    </p:cSldViewPr>
  </p:slideViewPr>
  <p:outlineViewPr>
    <p:cViewPr>
      <p:scale>
        <a:sx n="33" d="100"/>
        <a:sy n="33" d="100"/>
      </p:scale>
      <p:origin x="0" y="0"/>
    </p:cViewPr>
  </p:outlineViewPr>
  <p:notesTextViewPr>
    <p:cViewPr>
      <p:scale>
        <a:sx n="140" d="100"/>
        <a:sy n="140" d="100"/>
      </p:scale>
      <p:origin x="0" y="-1707"/>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e Mount" userId="22d0b802-afc6-4b8f-ba57-7a855d96927f" providerId="ADAL" clId="{F0CB5FCE-7CF8-4FA6-9065-772A4CECA37B}"/>
    <pc:docChg chg="custSel addSld delSld modSld">
      <pc:chgData name="George Mount" userId="22d0b802-afc6-4b8f-ba57-7a855d96927f" providerId="ADAL" clId="{F0CB5FCE-7CF8-4FA6-9065-772A4CECA37B}" dt="2025-12-23T18:08:37.892" v="441" actId="404"/>
      <pc:docMkLst>
        <pc:docMk/>
      </pc:docMkLst>
      <pc:sldChg chg="modSp mod">
        <pc:chgData name="George Mount" userId="22d0b802-afc6-4b8f-ba57-7a855d96927f" providerId="ADAL" clId="{F0CB5FCE-7CF8-4FA6-9065-772A4CECA37B}" dt="2025-12-23T17:46:47.815" v="41" actId="20577"/>
        <pc:sldMkLst>
          <pc:docMk/>
          <pc:sldMk cId="355659117" sldId="256"/>
        </pc:sldMkLst>
        <pc:spChg chg="mod">
          <ac:chgData name="George Mount" userId="22d0b802-afc6-4b8f-ba57-7a855d96927f" providerId="ADAL" clId="{F0CB5FCE-7CF8-4FA6-9065-772A4CECA37B}" dt="2025-12-23T17:46:47.815" v="41" actId="20577"/>
          <ac:spMkLst>
            <pc:docMk/>
            <pc:sldMk cId="355659117" sldId="256"/>
            <ac:spMk id="11" creationId="{00000000-0000-0000-0000-000000000000}"/>
          </ac:spMkLst>
        </pc:spChg>
      </pc:sldChg>
      <pc:sldChg chg="modSp mod">
        <pc:chgData name="George Mount" userId="22d0b802-afc6-4b8f-ba57-7a855d96927f" providerId="ADAL" clId="{F0CB5FCE-7CF8-4FA6-9065-772A4CECA37B}" dt="2025-12-23T18:07:16.553" v="357" actId="207"/>
        <pc:sldMkLst>
          <pc:docMk/>
          <pc:sldMk cId="3871531779" sldId="407"/>
        </pc:sldMkLst>
        <pc:spChg chg="mod">
          <ac:chgData name="George Mount" userId="22d0b802-afc6-4b8f-ba57-7a855d96927f" providerId="ADAL" clId="{F0CB5FCE-7CF8-4FA6-9065-772A4CECA37B}" dt="2025-12-23T18:07:16.553" v="357" actId="207"/>
          <ac:spMkLst>
            <pc:docMk/>
            <pc:sldMk cId="3871531779" sldId="407"/>
            <ac:spMk id="3" creationId="{00000000-0000-0000-0000-000000000000}"/>
          </ac:spMkLst>
        </pc:spChg>
      </pc:sldChg>
      <pc:sldChg chg="del">
        <pc:chgData name="George Mount" userId="22d0b802-afc6-4b8f-ba57-7a855d96927f" providerId="ADAL" clId="{F0CB5FCE-7CF8-4FA6-9065-772A4CECA37B}" dt="2025-12-23T17:46:57.461" v="42" actId="47"/>
        <pc:sldMkLst>
          <pc:docMk/>
          <pc:sldMk cId="1872901171" sldId="425"/>
        </pc:sldMkLst>
      </pc:sldChg>
      <pc:sldChg chg="modSp mod">
        <pc:chgData name="George Mount" userId="22d0b802-afc6-4b8f-ba57-7a855d96927f" providerId="ADAL" clId="{F0CB5FCE-7CF8-4FA6-9065-772A4CECA37B}" dt="2025-12-23T17:47:11.753" v="49" actId="20577"/>
        <pc:sldMkLst>
          <pc:docMk/>
          <pc:sldMk cId="787076388" sldId="426"/>
        </pc:sldMkLst>
        <pc:spChg chg="mod">
          <ac:chgData name="George Mount" userId="22d0b802-afc6-4b8f-ba57-7a855d96927f" providerId="ADAL" clId="{F0CB5FCE-7CF8-4FA6-9065-772A4CECA37B}" dt="2025-12-23T17:47:08.694" v="43"/>
          <ac:spMkLst>
            <pc:docMk/>
            <pc:sldMk cId="787076388" sldId="426"/>
            <ac:spMk id="3" creationId="{00000000-0000-0000-0000-000000000000}"/>
          </ac:spMkLst>
        </pc:spChg>
        <pc:spChg chg="mod">
          <ac:chgData name="George Mount" userId="22d0b802-afc6-4b8f-ba57-7a855d96927f" providerId="ADAL" clId="{F0CB5FCE-7CF8-4FA6-9065-772A4CECA37B}" dt="2025-12-23T17:47:11.753" v="49" actId="20577"/>
          <ac:spMkLst>
            <pc:docMk/>
            <pc:sldMk cId="787076388" sldId="426"/>
            <ac:spMk id="11" creationId="{00000000-0000-0000-0000-000000000000}"/>
          </ac:spMkLst>
        </pc:spChg>
      </pc:sldChg>
      <pc:sldChg chg="del">
        <pc:chgData name="George Mount" userId="22d0b802-afc6-4b8f-ba57-7a855d96927f" providerId="ADAL" clId="{F0CB5FCE-7CF8-4FA6-9065-772A4CECA37B}" dt="2025-12-23T18:07:33.728" v="358" actId="47"/>
        <pc:sldMkLst>
          <pc:docMk/>
          <pc:sldMk cId="1679221718" sldId="428"/>
        </pc:sldMkLst>
      </pc:sldChg>
      <pc:sldChg chg="del">
        <pc:chgData name="George Mount" userId="22d0b802-afc6-4b8f-ba57-7a855d96927f" providerId="ADAL" clId="{F0CB5FCE-7CF8-4FA6-9065-772A4CECA37B}" dt="2025-12-23T18:07:34.689" v="359" actId="47"/>
        <pc:sldMkLst>
          <pc:docMk/>
          <pc:sldMk cId="445953425" sldId="434"/>
        </pc:sldMkLst>
      </pc:sldChg>
      <pc:sldChg chg="addSp modSp add mod">
        <pc:chgData name="George Mount" userId="22d0b802-afc6-4b8f-ba57-7a855d96927f" providerId="ADAL" clId="{F0CB5FCE-7CF8-4FA6-9065-772A4CECA37B}" dt="2025-12-23T18:01:30.354" v="118" actId="1076"/>
        <pc:sldMkLst>
          <pc:docMk/>
          <pc:sldMk cId="1666574771" sldId="435"/>
        </pc:sldMkLst>
        <pc:spChg chg="mod">
          <ac:chgData name="George Mount" userId="22d0b802-afc6-4b8f-ba57-7a855d96927f" providerId="ADAL" clId="{F0CB5FCE-7CF8-4FA6-9065-772A4CECA37B}" dt="2025-12-23T17:57:22.219" v="109" actId="404"/>
          <ac:spMkLst>
            <pc:docMk/>
            <pc:sldMk cId="1666574771" sldId="435"/>
            <ac:spMk id="11" creationId="{97EB3963-7B31-1FA9-D509-4E12DFCB794D}"/>
          </ac:spMkLst>
        </pc:spChg>
        <pc:picChg chg="add mod">
          <ac:chgData name="George Mount" userId="22d0b802-afc6-4b8f-ba57-7a855d96927f" providerId="ADAL" clId="{F0CB5FCE-7CF8-4FA6-9065-772A4CECA37B}" dt="2025-12-23T17:57:28.142" v="112" actId="1076"/>
          <ac:picMkLst>
            <pc:docMk/>
            <pc:sldMk cId="1666574771" sldId="435"/>
            <ac:picMk id="2" creationId="{3A5ADEDE-F420-CC09-AAFF-3E0788B7CB36}"/>
          </ac:picMkLst>
        </pc:picChg>
        <pc:picChg chg="add mod">
          <ac:chgData name="George Mount" userId="22d0b802-afc6-4b8f-ba57-7a855d96927f" providerId="ADAL" clId="{F0CB5FCE-7CF8-4FA6-9065-772A4CECA37B}" dt="2025-12-23T18:01:30.354" v="118" actId="1076"/>
          <ac:picMkLst>
            <pc:docMk/>
            <pc:sldMk cId="1666574771" sldId="435"/>
            <ac:picMk id="4" creationId="{1CD830A2-777E-652C-E424-F0929EDD375F}"/>
          </ac:picMkLst>
        </pc:picChg>
      </pc:sldChg>
      <pc:sldChg chg="addSp delSp modSp add mod">
        <pc:chgData name="George Mount" userId="22d0b802-afc6-4b8f-ba57-7a855d96927f" providerId="ADAL" clId="{F0CB5FCE-7CF8-4FA6-9065-772A4CECA37B}" dt="2025-12-23T18:02:22.542" v="156" actId="1076"/>
        <pc:sldMkLst>
          <pc:docMk/>
          <pc:sldMk cId="809145610" sldId="436"/>
        </pc:sldMkLst>
        <pc:spChg chg="del">
          <ac:chgData name="George Mount" userId="22d0b802-afc6-4b8f-ba57-7a855d96927f" providerId="ADAL" clId="{F0CB5FCE-7CF8-4FA6-9065-772A4CECA37B}" dt="2025-12-23T18:02:18.128" v="152" actId="478"/>
          <ac:spMkLst>
            <pc:docMk/>
            <pc:sldMk cId="809145610" sldId="436"/>
            <ac:spMk id="3" creationId="{4A5099CB-C7E9-3B39-C340-F541298B52BD}"/>
          </ac:spMkLst>
        </pc:spChg>
        <pc:spChg chg="mod">
          <ac:chgData name="George Mount" userId="22d0b802-afc6-4b8f-ba57-7a855d96927f" providerId="ADAL" clId="{F0CB5FCE-7CF8-4FA6-9065-772A4CECA37B}" dt="2025-12-23T18:01:42.816" v="149" actId="20577"/>
          <ac:spMkLst>
            <pc:docMk/>
            <pc:sldMk cId="809145610" sldId="436"/>
            <ac:spMk id="11" creationId="{668E35D0-020D-7C4C-6111-D28C836DA3D5}"/>
          </ac:spMkLst>
        </pc:spChg>
        <pc:picChg chg="del">
          <ac:chgData name="George Mount" userId="22d0b802-afc6-4b8f-ba57-7a855d96927f" providerId="ADAL" clId="{F0CB5FCE-7CF8-4FA6-9065-772A4CECA37B}" dt="2025-12-23T18:01:45.689" v="151" actId="478"/>
          <ac:picMkLst>
            <pc:docMk/>
            <pc:sldMk cId="809145610" sldId="436"/>
            <ac:picMk id="2" creationId="{8D8D780A-7D6A-EAA6-8B16-85234B5F3B80}"/>
          </ac:picMkLst>
        </pc:picChg>
        <pc:picChg chg="del">
          <ac:chgData name="George Mount" userId="22d0b802-afc6-4b8f-ba57-7a855d96927f" providerId="ADAL" clId="{F0CB5FCE-7CF8-4FA6-9065-772A4CECA37B}" dt="2025-12-23T18:01:44.837" v="150" actId="478"/>
          <ac:picMkLst>
            <pc:docMk/>
            <pc:sldMk cId="809145610" sldId="436"/>
            <ac:picMk id="4" creationId="{FB3393BA-FC37-73B7-E864-3F76544C20A8}"/>
          </ac:picMkLst>
        </pc:picChg>
        <pc:picChg chg="add mod">
          <ac:chgData name="George Mount" userId="22d0b802-afc6-4b8f-ba57-7a855d96927f" providerId="ADAL" clId="{F0CB5FCE-7CF8-4FA6-9065-772A4CECA37B}" dt="2025-12-23T18:02:22.542" v="156" actId="1076"/>
          <ac:picMkLst>
            <pc:docMk/>
            <pc:sldMk cId="809145610" sldId="436"/>
            <ac:picMk id="5" creationId="{4613A412-C0BF-36B9-0B84-8CA1FD793894}"/>
          </ac:picMkLst>
        </pc:picChg>
      </pc:sldChg>
      <pc:sldChg chg="add del">
        <pc:chgData name="George Mount" userId="22d0b802-afc6-4b8f-ba57-7a855d96927f" providerId="ADAL" clId="{F0CB5FCE-7CF8-4FA6-9065-772A4CECA37B}" dt="2025-12-23T17:56:39.553" v="52" actId="47"/>
        <pc:sldMkLst>
          <pc:docMk/>
          <pc:sldMk cId="2030039483" sldId="436"/>
        </pc:sldMkLst>
      </pc:sldChg>
      <pc:sldChg chg="add del">
        <pc:chgData name="George Mount" userId="22d0b802-afc6-4b8f-ba57-7a855d96927f" providerId="ADAL" clId="{F0CB5FCE-7CF8-4FA6-9065-772A4CECA37B}" dt="2025-12-23T18:02:30.225" v="158" actId="47"/>
        <pc:sldMkLst>
          <pc:docMk/>
          <pc:sldMk cId="3306760755" sldId="437"/>
        </pc:sldMkLst>
      </pc:sldChg>
      <pc:sldChg chg="modSp add mod">
        <pc:chgData name="George Mount" userId="22d0b802-afc6-4b8f-ba57-7a855d96927f" providerId="ADAL" clId="{F0CB5FCE-7CF8-4FA6-9065-772A4CECA37B}" dt="2025-12-23T18:03:29.765" v="230" actId="403"/>
        <pc:sldMkLst>
          <pc:docMk/>
          <pc:sldMk cId="3810609810" sldId="437"/>
        </pc:sldMkLst>
        <pc:spChg chg="mod">
          <ac:chgData name="George Mount" userId="22d0b802-afc6-4b8f-ba57-7a855d96927f" providerId="ADAL" clId="{F0CB5FCE-7CF8-4FA6-9065-772A4CECA37B}" dt="2025-12-23T18:03:29.765" v="230" actId="403"/>
          <ac:spMkLst>
            <pc:docMk/>
            <pc:sldMk cId="3810609810" sldId="437"/>
            <ac:spMk id="3" creationId="{AF4EAA44-47AD-6B16-F0FC-1A4118C515A0}"/>
          </ac:spMkLst>
        </pc:spChg>
        <pc:spChg chg="mod">
          <ac:chgData name="George Mount" userId="22d0b802-afc6-4b8f-ba57-7a855d96927f" providerId="ADAL" clId="{F0CB5FCE-7CF8-4FA6-9065-772A4CECA37B}" dt="2025-12-23T18:02:48.666" v="208" actId="14100"/>
          <ac:spMkLst>
            <pc:docMk/>
            <pc:sldMk cId="3810609810" sldId="437"/>
            <ac:spMk id="11" creationId="{DCCC9DDB-8619-8424-D922-E6CF43B58635}"/>
          </ac:spMkLst>
        </pc:spChg>
      </pc:sldChg>
      <pc:sldChg chg="addSp delSp modSp add mod">
        <pc:chgData name="George Mount" userId="22d0b802-afc6-4b8f-ba57-7a855d96927f" providerId="ADAL" clId="{F0CB5FCE-7CF8-4FA6-9065-772A4CECA37B}" dt="2025-12-23T18:05:03.410" v="288" actId="14100"/>
        <pc:sldMkLst>
          <pc:docMk/>
          <pc:sldMk cId="2080782528" sldId="438"/>
        </pc:sldMkLst>
        <pc:spChg chg="del">
          <ac:chgData name="George Mount" userId="22d0b802-afc6-4b8f-ba57-7a855d96927f" providerId="ADAL" clId="{F0CB5FCE-7CF8-4FA6-9065-772A4CECA37B}" dt="2025-12-23T18:04:25.130" v="277" actId="478"/>
          <ac:spMkLst>
            <pc:docMk/>
            <pc:sldMk cId="2080782528" sldId="438"/>
            <ac:spMk id="3" creationId="{E6A1C45E-0782-CB4D-F73E-553168C8E24A}"/>
          </ac:spMkLst>
        </pc:spChg>
        <pc:spChg chg="mod">
          <ac:chgData name="George Mount" userId="22d0b802-afc6-4b8f-ba57-7a855d96927f" providerId="ADAL" clId="{F0CB5FCE-7CF8-4FA6-9065-772A4CECA37B}" dt="2025-12-23T18:04:15.598" v="274" actId="20577"/>
          <ac:spMkLst>
            <pc:docMk/>
            <pc:sldMk cId="2080782528" sldId="438"/>
            <ac:spMk id="11" creationId="{16F328D8-003D-E872-C041-75D1DDB8E5A9}"/>
          </ac:spMkLst>
        </pc:spChg>
        <pc:graphicFrameChg chg="add mod">
          <ac:chgData name="George Mount" userId="22d0b802-afc6-4b8f-ba57-7a855d96927f" providerId="ADAL" clId="{F0CB5FCE-7CF8-4FA6-9065-772A4CECA37B}" dt="2025-12-23T18:05:03.410" v="288" actId="14100"/>
          <ac:graphicFrameMkLst>
            <pc:docMk/>
            <pc:sldMk cId="2080782528" sldId="438"/>
            <ac:graphicFrameMk id="5" creationId="{092E9CA5-1C06-3CCA-B46E-D4BEE7105B2E}"/>
          </ac:graphicFrameMkLst>
        </pc:graphicFrameChg>
        <pc:picChg chg="del">
          <ac:chgData name="George Mount" userId="22d0b802-afc6-4b8f-ba57-7a855d96927f" providerId="ADAL" clId="{F0CB5FCE-7CF8-4FA6-9065-772A4CECA37B}" dt="2025-12-23T18:04:22.898" v="276" actId="478"/>
          <ac:picMkLst>
            <pc:docMk/>
            <pc:sldMk cId="2080782528" sldId="438"/>
            <ac:picMk id="2" creationId="{93789D90-27E6-BB03-2A5D-CF0C1B3721CE}"/>
          </ac:picMkLst>
        </pc:picChg>
        <pc:picChg chg="del">
          <ac:chgData name="George Mount" userId="22d0b802-afc6-4b8f-ba57-7a855d96927f" providerId="ADAL" clId="{F0CB5FCE-7CF8-4FA6-9065-772A4CECA37B}" dt="2025-12-23T18:04:21.561" v="275" actId="478"/>
          <ac:picMkLst>
            <pc:docMk/>
            <pc:sldMk cId="2080782528" sldId="438"/>
            <ac:picMk id="4" creationId="{F4475AF5-D810-B45A-8852-AA0E2C8663B9}"/>
          </ac:picMkLst>
        </pc:picChg>
      </pc:sldChg>
      <pc:sldChg chg="modSp add mod">
        <pc:chgData name="George Mount" userId="22d0b802-afc6-4b8f-ba57-7a855d96927f" providerId="ADAL" clId="{F0CB5FCE-7CF8-4FA6-9065-772A4CECA37B}" dt="2025-12-23T18:05:42.155" v="322" actId="1076"/>
        <pc:sldMkLst>
          <pc:docMk/>
          <pc:sldMk cId="287064224" sldId="439"/>
        </pc:sldMkLst>
        <pc:spChg chg="mod">
          <ac:chgData name="George Mount" userId="22d0b802-afc6-4b8f-ba57-7a855d96927f" providerId="ADAL" clId="{F0CB5FCE-7CF8-4FA6-9065-772A4CECA37B}" dt="2025-12-23T18:05:42.155" v="322" actId="1076"/>
          <ac:spMkLst>
            <pc:docMk/>
            <pc:sldMk cId="287064224" sldId="439"/>
            <ac:spMk id="3" creationId="{026D6505-3055-1BDA-D17C-F3E9A26B84D7}"/>
          </ac:spMkLst>
        </pc:spChg>
        <pc:spChg chg="mod">
          <ac:chgData name="George Mount" userId="22d0b802-afc6-4b8f-ba57-7a855d96927f" providerId="ADAL" clId="{F0CB5FCE-7CF8-4FA6-9065-772A4CECA37B}" dt="2025-12-23T18:05:19.762" v="316" actId="20577"/>
          <ac:spMkLst>
            <pc:docMk/>
            <pc:sldMk cId="287064224" sldId="439"/>
            <ac:spMk id="11" creationId="{5BD1FE43-F84A-91B2-5168-01404951430D}"/>
          </ac:spMkLst>
        </pc:spChg>
      </pc:sldChg>
      <pc:sldChg chg="modSp add mod">
        <pc:chgData name="George Mount" userId="22d0b802-afc6-4b8f-ba57-7a855d96927f" providerId="ADAL" clId="{F0CB5FCE-7CF8-4FA6-9065-772A4CECA37B}" dt="2025-12-23T18:08:00.904" v="388" actId="12"/>
        <pc:sldMkLst>
          <pc:docMk/>
          <pc:sldMk cId="2527174841" sldId="440"/>
        </pc:sldMkLst>
        <pc:spChg chg="mod">
          <ac:chgData name="George Mount" userId="22d0b802-afc6-4b8f-ba57-7a855d96927f" providerId="ADAL" clId="{F0CB5FCE-7CF8-4FA6-9065-772A4CECA37B}" dt="2025-12-23T18:08:00.904" v="388" actId="12"/>
          <ac:spMkLst>
            <pc:docMk/>
            <pc:sldMk cId="2527174841" sldId="440"/>
            <ac:spMk id="3" creationId="{9712491D-60F5-6831-44A7-9D86FC282C0C}"/>
          </ac:spMkLst>
        </pc:spChg>
      </pc:sldChg>
      <pc:sldChg chg="modSp add mod">
        <pc:chgData name="George Mount" userId="22d0b802-afc6-4b8f-ba57-7a855d96927f" providerId="ADAL" clId="{F0CB5FCE-7CF8-4FA6-9065-772A4CECA37B}" dt="2025-12-23T18:08:37.892" v="441" actId="404"/>
        <pc:sldMkLst>
          <pc:docMk/>
          <pc:sldMk cId="2024063702" sldId="441"/>
        </pc:sldMkLst>
        <pc:spChg chg="mod">
          <ac:chgData name="George Mount" userId="22d0b802-afc6-4b8f-ba57-7a855d96927f" providerId="ADAL" clId="{F0CB5FCE-7CF8-4FA6-9065-772A4CECA37B}" dt="2025-12-23T18:08:22.746" v="391" actId="12"/>
          <ac:spMkLst>
            <pc:docMk/>
            <pc:sldMk cId="2024063702" sldId="441"/>
            <ac:spMk id="3" creationId="{1544D881-799F-2398-E268-C00B992D571F}"/>
          </ac:spMkLst>
        </pc:spChg>
        <pc:spChg chg="mod">
          <ac:chgData name="George Mount" userId="22d0b802-afc6-4b8f-ba57-7a855d96927f" providerId="ADAL" clId="{F0CB5FCE-7CF8-4FA6-9065-772A4CECA37B}" dt="2025-12-23T18:08:37.892" v="441" actId="404"/>
          <ac:spMkLst>
            <pc:docMk/>
            <pc:sldMk cId="2024063702" sldId="441"/>
            <ac:spMk id="11" creationId="{DB22CC31-F017-7D94-3505-D0C3CB89C9C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F5ABB2-8E49-4018-A847-30F24C0E05D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F87F5A4-A480-46D4-B670-AE6ABF101EAF}">
      <dgm:prSet phldrT="[Text]"/>
      <dgm:spPr>
        <a:solidFill>
          <a:schemeClr val="bg1">
            <a:lumMod val="50000"/>
          </a:schemeClr>
        </a:solidFill>
      </dgm:spPr>
      <dgm:t>
        <a:bodyPr/>
        <a:lstStyle/>
        <a:p>
          <a:pPr>
            <a:buNone/>
          </a:pPr>
          <a:r>
            <a:rPr lang="en-US" b="1" dirty="0"/>
            <a:t>Goal</a:t>
          </a:r>
          <a:endParaRPr lang="en-US" dirty="0"/>
        </a:p>
      </dgm:t>
    </dgm:pt>
    <dgm:pt modelId="{F5F217E3-0567-4851-B847-759B189BBD81}" type="parTrans" cxnId="{58017E80-EE26-415D-9D6E-C92687DD12C5}">
      <dgm:prSet/>
      <dgm:spPr/>
      <dgm:t>
        <a:bodyPr/>
        <a:lstStyle/>
        <a:p>
          <a:endParaRPr lang="en-US"/>
        </a:p>
      </dgm:t>
    </dgm:pt>
    <dgm:pt modelId="{BF60E87F-309A-43E4-843A-33950BB5B014}" type="sibTrans" cxnId="{58017E80-EE26-415D-9D6E-C92687DD12C5}">
      <dgm:prSet/>
      <dgm:spPr/>
      <dgm:t>
        <a:bodyPr/>
        <a:lstStyle/>
        <a:p>
          <a:endParaRPr lang="en-US"/>
        </a:p>
      </dgm:t>
    </dgm:pt>
    <dgm:pt modelId="{492E2906-74B4-4BCB-8DB1-62F69A368761}">
      <dgm:prSet phldrT="[Text]"/>
      <dgm:spPr>
        <a:solidFill>
          <a:schemeClr val="bg1">
            <a:lumMod val="50000"/>
          </a:schemeClr>
        </a:solidFill>
      </dgm:spPr>
      <dgm:t>
        <a:bodyPr/>
        <a:lstStyle/>
        <a:p>
          <a:pPr>
            <a:buNone/>
          </a:pPr>
          <a:r>
            <a:rPr lang="en-US" b="1" dirty="0"/>
            <a:t>Context</a:t>
          </a:r>
          <a:endParaRPr lang="en-US" dirty="0"/>
        </a:p>
      </dgm:t>
    </dgm:pt>
    <dgm:pt modelId="{79AB910B-246C-4830-9149-8616E615CD79}" type="parTrans" cxnId="{EAE3DD6B-E80F-48DF-B073-CAF8393B275E}">
      <dgm:prSet/>
      <dgm:spPr/>
      <dgm:t>
        <a:bodyPr/>
        <a:lstStyle/>
        <a:p>
          <a:endParaRPr lang="en-US"/>
        </a:p>
      </dgm:t>
    </dgm:pt>
    <dgm:pt modelId="{EEB1B1FC-8096-4B01-A58A-D2B8C343BA78}" type="sibTrans" cxnId="{EAE3DD6B-E80F-48DF-B073-CAF8393B275E}">
      <dgm:prSet/>
      <dgm:spPr/>
      <dgm:t>
        <a:bodyPr/>
        <a:lstStyle/>
        <a:p>
          <a:endParaRPr lang="en-US"/>
        </a:p>
      </dgm:t>
    </dgm:pt>
    <dgm:pt modelId="{0C09951A-4D71-4694-8D71-4A5773D5F8D3}">
      <dgm:prSet/>
      <dgm:spPr>
        <a:solidFill>
          <a:schemeClr val="bg1">
            <a:lumMod val="50000"/>
          </a:schemeClr>
        </a:solidFill>
      </dgm:spPr>
      <dgm:t>
        <a:bodyPr/>
        <a:lstStyle/>
        <a:p>
          <a:pPr>
            <a:buNone/>
          </a:pPr>
          <a:r>
            <a:rPr lang="en-US" dirty="0"/>
            <a:t>What do you want Copilot to do </a:t>
          </a:r>
          <a:r>
            <a:rPr lang="en-US" i="1" dirty="0"/>
            <a:t>in Excel</a:t>
          </a:r>
          <a:r>
            <a:rPr lang="en-US" dirty="0"/>
            <a:t>?</a:t>
          </a:r>
        </a:p>
      </dgm:t>
    </dgm:pt>
    <dgm:pt modelId="{07FBEBF1-8FD3-45E3-A9CC-C478580A5102}" type="parTrans" cxnId="{202E797B-8B98-454C-90B3-B552488466C3}">
      <dgm:prSet/>
      <dgm:spPr/>
      <dgm:t>
        <a:bodyPr/>
        <a:lstStyle/>
        <a:p>
          <a:endParaRPr lang="en-US"/>
        </a:p>
      </dgm:t>
    </dgm:pt>
    <dgm:pt modelId="{278DD9EE-3BB6-4633-9908-D649EE9F1C6A}" type="sibTrans" cxnId="{202E797B-8B98-454C-90B3-B552488466C3}">
      <dgm:prSet/>
      <dgm:spPr/>
      <dgm:t>
        <a:bodyPr/>
        <a:lstStyle/>
        <a:p>
          <a:endParaRPr lang="en-US"/>
        </a:p>
      </dgm:t>
    </dgm:pt>
    <dgm:pt modelId="{6A446B3A-021A-4CD6-AFFD-B41DBE0AC5D6}">
      <dgm:prSet/>
      <dgm:spPr>
        <a:solidFill>
          <a:schemeClr val="bg1">
            <a:lumMod val="50000"/>
          </a:schemeClr>
        </a:solidFill>
      </dgm:spPr>
      <dgm:t>
        <a:bodyPr/>
        <a:lstStyle/>
        <a:p>
          <a:pPr>
            <a:buNone/>
          </a:pPr>
          <a:r>
            <a:rPr lang="en-US" dirty="0"/>
            <a:t>“Check the formulas in the Profit column and tell me whether the logic is consistent.”</a:t>
          </a:r>
        </a:p>
      </dgm:t>
    </dgm:pt>
    <dgm:pt modelId="{251286B3-0407-4278-83BC-147843222ED0}" type="parTrans" cxnId="{1F13E092-8DCC-437A-80FC-27D5AD8E59A7}">
      <dgm:prSet/>
      <dgm:spPr/>
      <dgm:t>
        <a:bodyPr/>
        <a:lstStyle/>
        <a:p>
          <a:endParaRPr lang="en-US"/>
        </a:p>
      </dgm:t>
    </dgm:pt>
    <dgm:pt modelId="{41D28A70-4245-4192-9DE2-A3B6A6B05D84}" type="sibTrans" cxnId="{1F13E092-8DCC-437A-80FC-27D5AD8E59A7}">
      <dgm:prSet/>
      <dgm:spPr/>
      <dgm:t>
        <a:bodyPr/>
        <a:lstStyle/>
        <a:p>
          <a:endParaRPr lang="en-US"/>
        </a:p>
      </dgm:t>
    </dgm:pt>
    <dgm:pt modelId="{9B0944D4-52AF-4006-AEDB-07BD42E835D7}">
      <dgm:prSet/>
      <dgm:spPr>
        <a:solidFill>
          <a:schemeClr val="bg1">
            <a:lumMod val="50000"/>
          </a:schemeClr>
        </a:solidFill>
      </dgm:spPr>
      <dgm:t>
        <a:bodyPr/>
        <a:lstStyle/>
        <a:p>
          <a:pPr>
            <a:buNone/>
          </a:pPr>
          <a:r>
            <a:rPr lang="en-US" dirty="0"/>
            <a:t>What data, sheet, range, or calculation does this relate to?</a:t>
          </a:r>
        </a:p>
      </dgm:t>
    </dgm:pt>
    <dgm:pt modelId="{FC8B0C6C-8DF6-434E-BBEA-1B1E359A87C4}" type="parTrans" cxnId="{58D45157-403D-4EA8-953C-3D51F0999875}">
      <dgm:prSet/>
      <dgm:spPr/>
      <dgm:t>
        <a:bodyPr/>
        <a:lstStyle/>
        <a:p>
          <a:endParaRPr lang="en-US"/>
        </a:p>
      </dgm:t>
    </dgm:pt>
    <dgm:pt modelId="{1A370047-1862-45AA-A05A-D20D2A065B7A}" type="sibTrans" cxnId="{58D45157-403D-4EA8-953C-3D51F0999875}">
      <dgm:prSet/>
      <dgm:spPr/>
      <dgm:t>
        <a:bodyPr/>
        <a:lstStyle/>
        <a:p>
          <a:endParaRPr lang="en-US"/>
        </a:p>
      </dgm:t>
    </dgm:pt>
    <dgm:pt modelId="{F2EB1D20-381B-44B1-B6C0-0A816202FF99}">
      <dgm:prSet/>
      <dgm:spPr>
        <a:solidFill>
          <a:schemeClr val="bg1">
            <a:lumMod val="50000"/>
          </a:schemeClr>
        </a:solidFill>
      </dgm:spPr>
      <dgm:t>
        <a:bodyPr/>
        <a:lstStyle/>
        <a:p>
          <a:pPr>
            <a:buNone/>
          </a:pPr>
          <a:r>
            <a:rPr lang="en-US" dirty="0"/>
            <a:t>“The data is in Table </a:t>
          </a:r>
          <a:r>
            <a:rPr lang="en-US" dirty="0" err="1"/>
            <a:t>SalesData</a:t>
          </a:r>
          <a:r>
            <a:rPr lang="en-US" dirty="0"/>
            <a:t> on the sheet ‘Q2’. The Profit column uses a formula =Revenue–Cost.”</a:t>
          </a:r>
        </a:p>
      </dgm:t>
    </dgm:pt>
    <dgm:pt modelId="{18E5F0E2-B9CD-497F-B7E1-FB0ECEE4259D}" type="parTrans" cxnId="{29E031A3-3817-4D79-B5D4-832D05DB911B}">
      <dgm:prSet/>
      <dgm:spPr/>
      <dgm:t>
        <a:bodyPr/>
        <a:lstStyle/>
        <a:p>
          <a:endParaRPr lang="en-US"/>
        </a:p>
      </dgm:t>
    </dgm:pt>
    <dgm:pt modelId="{132109CD-56C5-40CF-BB8B-3E5D80A816FF}" type="sibTrans" cxnId="{29E031A3-3817-4D79-B5D4-832D05DB911B}">
      <dgm:prSet/>
      <dgm:spPr/>
      <dgm:t>
        <a:bodyPr/>
        <a:lstStyle/>
        <a:p>
          <a:endParaRPr lang="en-US"/>
        </a:p>
      </dgm:t>
    </dgm:pt>
    <dgm:pt modelId="{952F0C88-0795-4F8A-85F0-473D61B13FD7}">
      <dgm:prSet/>
      <dgm:spPr>
        <a:solidFill>
          <a:schemeClr val="bg1">
            <a:lumMod val="50000"/>
          </a:schemeClr>
        </a:solidFill>
      </dgm:spPr>
      <dgm:t>
        <a:bodyPr/>
        <a:lstStyle/>
        <a:p>
          <a:pPr>
            <a:buNone/>
          </a:pPr>
          <a:r>
            <a:rPr lang="en-US" b="1" dirty="0"/>
            <a:t>Expectations</a:t>
          </a:r>
        </a:p>
      </dgm:t>
    </dgm:pt>
    <dgm:pt modelId="{E1F22574-1647-44DF-9A18-03FC07463BBC}" type="parTrans" cxnId="{342F4B2C-23AB-4125-9486-830986ADF24D}">
      <dgm:prSet/>
      <dgm:spPr/>
      <dgm:t>
        <a:bodyPr/>
        <a:lstStyle/>
        <a:p>
          <a:endParaRPr lang="en-US"/>
        </a:p>
      </dgm:t>
    </dgm:pt>
    <dgm:pt modelId="{61274A37-A934-48B2-9927-C8D544152AFB}" type="sibTrans" cxnId="{342F4B2C-23AB-4125-9486-830986ADF24D}">
      <dgm:prSet/>
      <dgm:spPr/>
      <dgm:t>
        <a:bodyPr/>
        <a:lstStyle/>
        <a:p>
          <a:endParaRPr lang="en-US"/>
        </a:p>
      </dgm:t>
    </dgm:pt>
    <dgm:pt modelId="{851D5FE7-7D84-4E70-AC7B-26E647860055}">
      <dgm:prSet/>
      <dgm:spPr>
        <a:solidFill>
          <a:schemeClr val="bg1">
            <a:lumMod val="50000"/>
          </a:schemeClr>
        </a:solidFill>
      </dgm:spPr>
      <dgm:t>
        <a:bodyPr/>
        <a:lstStyle/>
        <a:p>
          <a:pPr>
            <a:buNone/>
          </a:pPr>
          <a:r>
            <a:rPr lang="en-US" dirty="0"/>
            <a:t>What format or audience should Copilot aim for?</a:t>
          </a:r>
        </a:p>
      </dgm:t>
    </dgm:pt>
    <dgm:pt modelId="{CE0DED91-28D3-4CDC-A7E7-E8804C0515EF}" type="parTrans" cxnId="{B451B403-FD31-4EA8-B9AB-97E5E5726A38}">
      <dgm:prSet/>
      <dgm:spPr/>
      <dgm:t>
        <a:bodyPr/>
        <a:lstStyle/>
        <a:p>
          <a:endParaRPr lang="en-US"/>
        </a:p>
      </dgm:t>
    </dgm:pt>
    <dgm:pt modelId="{6012E8C9-487F-44E1-9BAB-02E4FB018997}" type="sibTrans" cxnId="{B451B403-FD31-4EA8-B9AB-97E5E5726A38}">
      <dgm:prSet/>
      <dgm:spPr/>
      <dgm:t>
        <a:bodyPr/>
        <a:lstStyle/>
        <a:p>
          <a:endParaRPr lang="en-US"/>
        </a:p>
      </dgm:t>
    </dgm:pt>
    <dgm:pt modelId="{379BD61E-A81C-4311-81DC-43B79184EEF5}">
      <dgm:prSet/>
      <dgm:spPr>
        <a:solidFill>
          <a:schemeClr val="bg1">
            <a:lumMod val="50000"/>
          </a:schemeClr>
        </a:solidFill>
      </dgm:spPr>
      <dgm:t>
        <a:bodyPr/>
        <a:lstStyle/>
        <a:p>
          <a:pPr>
            <a:buNone/>
          </a:pPr>
          <a:r>
            <a:rPr lang="en-US" dirty="0"/>
            <a:t>“Give the results as a bullet list with specific row numbers and suggestions.”</a:t>
          </a:r>
        </a:p>
      </dgm:t>
    </dgm:pt>
    <dgm:pt modelId="{B25A07BD-7192-48B8-B3BE-0FFE5933A55F}" type="parTrans" cxnId="{E8C78F70-027A-4D00-9CB8-51ED2C31B2AF}">
      <dgm:prSet/>
      <dgm:spPr/>
      <dgm:t>
        <a:bodyPr/>
        <a:lstStyle/>
        <a:p>
          <a:endParaRPr lang="en-US"/>
        </a:p>
      </dgm:t>
    </dgm:pt>
    <dgm:pt modelId="{1DD8B528-BA0D-4DCF-AB8D-A0AF682FFF83}" type="sibTrans" cxnId="{E8C78F70-027A-4D00-9CB8-51ED2C31B2AF}">
      <dgm:prSet/>
      <dgm:spPr/>
      <dgm:t>
        <a:bodyPr/>
        <a:lstStyle/>
        <a:p>
          <a:endParaRPr lang="en-US"/>
        </a:p>
      </dgm:t>
    </dgm:pt>
    <dgm:pt modelId="{8276F24A-2D10-4201-BCAD-59B00F7EC34B}">
      <dgm:prSet/>
      <dgm:spPr>
        <a:solidFill>
          <a:schemeClr val="bg1">
            <a:lumMod val="50000"/>
          </a:schemeClr>
        </a:solidFill>
      </dgm:spPr>
      <dgm:t>
        <a:bodyPr/>
        <a:lstStyle/>
        <a:p>
          <a:pPr>
            <a:buNone/>
          </a:pPr>
          <a:r>
            <a:rPr lang="en-US" b="1" dirty="0"/>
            <a:t>Source</a:t>
          </a:r>
        </a:p>
      </dgm:t>
    </dgm:pt>
    <dgm:pt modelId="{A562C011-A2C5-425F-8968-2B0007CCF029}" type="parTrans" cxnId="{BC4978F9-7645-4A34-B91B-5B5CCA983302}">
      <dgm:prSet/>
      <dgm:spPr/>
      <dgm:t>
        <a:bodyPr/>
        <a:lstStyle/>
        <a:p>
          <a:endParaRPr lang="en-US"/>
        </a:p>
      </dgm:t>
    </dgm:pt>
    <dgm:pt modelId="{A941C574-C16A-483C-8AB2-FD63ADEA0654}" type="sibTrans" cxnId="{BC4978F9-7645-4A34-B91B-5B5CCA983302}">
      <dgm:prSet/>
      <dgm:spPr/>
      <dgm:t>
        <a:bodyPr/>
        <a:lstStyle/>
        <a:p>
          <a:endParaRPr lang="en-US"/>
        </a:p>
      </dgm:t>
    </dgm:pt>
    <dgm:pt modelId="{9A0B8F2E-3289-4991-9BF1-4493C09165EB}">
      <dgm:prSet/>
      <dgm:spPr>
        <a:solidFill>
          <a:schemeClr val="bg1">
            <a:lumMod val="50000"/>
          </a:schemeClr>
        </a:solidFill>
      </dgm:spPr>
      <dgm:t>
        <a:bodyPr/>
        <a:lstStyle/>
        <a:p>
          <a:pPr>
            <a:buNone/>
          </a:pPr>
          <a:r>
            <a:rPr lang="en-US" dirty="0"/>
            <a:t>Which data should Copilot look at?</a:t>
          </a:r>
        </a:p>
      </dgm:t>
    </dgm:pt>
    <dgm:pt modelId="{EEC51A56-7F62-431A-A621-2B3A1E198294}" type="parTrans" cxnId="{3C7C3FCF-118B-4CE6-91C4-FCA865D9D03F}">
      <dgm:prSet/>
      <dgm:spPr/>
      <dgm:t>
        <a:bodyPr/>
        <a:lstStyle/>
        <a:p>
          <a:endParaRPr lang="en-US"/>
        </a:p>
      </dgm:t>
    </dgm:pt>
    <dgm:pt modelId="{5770870A-69E1-46CE-B606-BD7649A627C9}" type="sibTrans" cxnId="{3C7C3FCF-118B-4CE6-91C4-FCA865D9D03F}">
      <dgm:prSet/>
      <dgm:spPr/>
      <dgm:t>
        <a:bodyPr/>
        <a:lstStyle/>
        <a:p>
          <a:endParaRPr lang="en-US"/>
        </a:p>
      </dgm:t>
    </dgm:pt>
    <dgm:pt modelId="{41BBBC3F-3746-46A2-BFA0-0313F5A504E6}">
      <dgm:prSet/>
      <dgm:spPr>
        <a:solidFill>
          <a:schemeClr val="bg1">
            <a:lumMod val="50000"/>
          </a:schemeClr>
        </a:solidFill>
      </dgm:spPr>
      <dgm:t>
        <a:bodyPr/>
        <a:lstStyle/>
        <a:p>
          <a:pPr>
            <a:buNone/>
          </a:pPr>
          <a:r>
            <a:rPr lang="en-US" dirty="0"/>
            <a:t>“Use only the </a:t>
          </a:r>
          <a:r>
            <a:rPr lang="en-US" dirty="0" err="1"/>
            <a:t>SalesData</a:t>
          </a:r>
          <a:r>
            <a:rPr lang="en-US" dirty="0"/>
            <a:t> table and ignore the Summary sheet.”</a:t>
          </a:r>
        </a:p>
      </dgm:t>
    </dgm:pt>
    <dgm:pt modelId="{020F0A82-451D-469D-A012-42DBDBC50C22}" type="parTrans" cxnId="{50F7C29E-45F8-4C78-B9E9-85C1A335E7CC}">
      <dgm:prSet/>
      <dgm:spPr/>
      <dgm:t>
        <a:bodyPr/>
        <a:lstStyle/>
        <a:p>
          <a:endParaRPr lang="en-US"/>
        </a:p>
      </dgm:t>
    </dgm:pt>
    <dgm:pt modelId="{058122C7-43A9-426A-B923-93F4398D5247}" type="sibTrans" cxnId="{50F7C29E-45F8-4C78-B9E9-85C1A335E7CC}">
      <dgm:prSet/>
      <dgm:spPr/>
      <dgm:t>
        <a:bodyPr/>
        <a:lstStyle/>
        <a:p>
          <a:endParaRPr lang="en-US"/>
        </a:p>
      </dgm:t>
    </dgm:pt>
    <dgm:pt modelId="{8A1F0280-71B7-4893-8E26-3B4BB98EEFAE}" type="pres">
      <dgm:prSet presAssocID="{8CF5ABB2-8E49-4018-A847-30F24C0E05D1}" presName="diagram" presStyleCnt="0">
        <dgm:presLayoutVars>
          <dgm:dir/>
          <dgm:resizeHandles val="exact"/>
        </dgm:presLayoutVars>
      </dgm:prSet>
      <dgm:spPr/>
    </dgm:pt>
    <dgm:pt modelId="{820BA5C1-DC11-4E55-BC65-640496F8AE55}" type="pres">
      <dgm:prSet presAssocID="{9F87F5A4-A480-46D4-B670-AE6ABF101EAF}" presName="node" presStyleLbl="node1" presStyleIdx="0" presStyleCnt="4">
        <dgm:presLayoutVars>
          <dgm:bulletEnabled val="1"/>
        </dgm:presLayoutVars>
      </dgm:prSet>
      <dgm:spPr/>
    </dgm:pt>
    <dgm:pt modelId="{FF0AA103-E1C1-4960-9B79-7A6C3CFABF4C}" type="pres">
      <dgm:prSet presAssocID="{BF60E87F-309A-43E4-843A-33950BB5B014}" presName="sibTrans" presStyleCnt="0"/>
      <dgm:spPr/>
    </dgm:pt>
    <dgm:pt modelId="{E2FDB8A8-6FB9-4E8B-8288-30DA87C71564}" type="pres">
      <dgm:prSet presAssocID="{492E2906-74B4-4BCB-8DB1-62F69A368761}" presName="node" presStyleLbl="node1" presStyleIdx="1" presStyleCnt="4">
        <dgm:presLayoutVars>
          <dgm:bulletEnabled val="1"/>
        </dgm:presLayoutVars>
      </dgm:prSet>
      <dgm:spPr/>
    </dgm:pt>
    <dgm:pt modelId="{445CB63A-4007-49FB-8BD3-08D0DB382A80}" type="pres">
      <dgm:prSet presAssocID="{EEB1B1FC-8096-4B01-A58A-D2B8C343BA78}" presName="sibTrans" presStyleCnt="0"/>
      <dgm:spPr/>
    </dgm:pt>
    <dgm:pt modelId="{78871E67-5D24-4D08-83B2-6B084549D081}" type="pres">
      <dgm:prSet presAssocID="{952F0C88-0795-4F8A-85F0-473D61B13FD7}" presName="node" presStyleLbl="node1" presStyleIdx="2" presStyleCnt="4">
        <dgm:presLayoutVars>
          <dgm:bulletEnabled val="1"/>
        </dgm:presLayoutVars>
      </dgm:prSet>
      <dgm:spPr/>
    </dgm:pt>
    <dgm:pt modelId="{495FF50D-856C-40D3-B30E-2B055A7BC280}" type="pres">
      <dgm:prSet presAssocID="{61274A37-A934-48B2-9927-C8D544152AFB}" presName="sibTrans" presStyleCnt="0"/>
      <dgm:spPr/>
    </dgm:pt>
    <dgm:pt modelId="{DB0C4DC1-3540-44DF-85E3-33CB18221958}" type="pres">
      <dgm:prSet presAssocID="{8276F24A-2D10-4201-BCAD-59B00F7EC34B}" presName="node" presStyleLbl="node1" presStyleIdx="3" presStyleCnt="4">
        <dgm:presLayoutVars>
          <dgm:bulletEnabled val="1"/>
        </dgm:presLayoutVars>
      </dgm:prSet>
      <dgm:spPr/>
    </dgm:pt>
  </dgm:ptLst>
  <dgm:cxnLst>
    <dgm:cxn modelId="{54F13A02-80EF-497D-B610-138BB600669D}" type="presOf" srcId="{6A446B3A-021A-4CD6-AFFD-B41DBE0AC5D6}" destId="{820BA5C1-DC11-4E55-BC65-640496F8AE55}" srcOrd="0" destOrd="2" presId="urn:microsoft.com/office/officeart/2005/8/layout/default"/>
    <dgm:cxn modelId="{C32B6003-4BFD-4EF4-9F5E-70A7D52CFF7F}" type="presOf" srcId="{9F87F5A4-A480-46D4-B670-AE6ABF101EAF}" destId="{820BA5C1-DC11-4E55-BC65-640496F8AE55}" srcOrd="0" destOrd="0" presId="urn:microsoft.com/office/officeart/2005/8/layout/default"/>
    <dgm:cxn modelId="{B451B403-FD31-4EA8-B9AB-97E5E5726A38}" srcId="{952F0C88-0795-4F8A-85F0-473D61B13FD7}" destId="{851D5FE7-7D84-4E70-AC7B-26E647860055}" srcOrd="0" destOrd="0" parTransId="{CE0DED91-28D3-4CDC-A7E7-E8804C0515EF}" sibTransId="{6012E8C9-487F-44E1-9BAB-02E4FB018997}"/>
    <dgm:cxn modelId="{58973909-5790-4C7A-A987-9E8AA4E8E6FF}" type="presOf" srcId="{952F0C88-0795-4F8A-85F0-473D61B13FD7}" destId="{78871E67-5D24-4D08-83B2-6B084549D081}" srcOrd="0" destOrd="0" presId="urn:microsoft.com/office/officeart/2005/8/layout/default"/>
    <dgm:cxn modelId="{46490625-95A3-4A63-B000-4F1896206F03}" type="presOf" srcId="{8CF5ABB2-8E49-4018-A847-30F24C0E05D1}" destId="{8A1F0280-71B7-4893-8E26-3B4BB98EEFAE}" srcOrd="0" destOrd="0" presId="urn:microsoft.com/office/officeart/2005/8/layout/default"/>
    <dgm:cxn modelId="{342F4B2C-23AB-4125-9486-830986ADF24D}" srcId="{8CF5ABB2-8E49-4018-A847-30F24C0E05D1}" destId="{952F0C88-0795-4F8A-85F0-473D61B13FD7}" srcOrd="2" destOrd="0" parTransId="{E1F22574-1647-44DF-9A18-03FC07463BBC}" sibTransId="{61274A37-A934-48B2-9927-C8D544152AFB}"/>
    <dgm:cxn modelId="{EAE3DD6B-E80F-48DF-B073-CAF8393B275E}" srcId="{8CF5ABB2-8E49-4018-A847-30F24C0E05D1}" destId="{492E2906-74B4-4BCB-8DB1-62F69A368761}" srcOrd="1" destOrd="0" parTransId="{79AB910B-246C-4830-9149-8616E615CD79}" sibTransId="{EEB1B1FC-8096-4B01-A58A-D2B8C343BA78}"/>
    <dgm:cxn modelId="{E8C78F70-027A-4D00-9CB8-51ED2C31B2AF}" srcId="{851D5FE7-7D84-4E70-AC7B-26E647860055}" destId="{379BD61E-A81C-4311-81DC-43B79184EEF5}" srcOrd="0" destOrd="0" parTransId="{B25A07BD-7192-48B8-B3BE-0FFE5933A55F}" sibTransId="{1DD8B528-BA0D-4DCF-AB8D-A0AF682FFF83}"/>
    <dgm:cxn modelId="{C2750076-20DB-45D8-8972-5A11227A8823}" type="presOf" srcId="{851D5FE7-7D84-4E70-AC7B-26E647860055}" destId="{78871E67-5D24-4D08-83B2-6B084549D081}" srcOrd="0" destOrd="1" presId="urn:microsoft.com/office/officeart/2005/8/layout/default"/>
    <dgm:cxn modelId="{F5E13456-CBB7-4179-86DF-23FA6C769B8B}" type="presOf" srcId="{9A0B8F2E-3289-4991-9BF1-4493C09165EB}" destId="{DB0C4DC1-3540-44DF-85E3-33CB18221958}" srcOrd="0" destOrd="1" presId="urn:microsoft.com/office/officeart/2005/8/layout/default"/>
    <dgm:cxn modelId="{58D45157-403D-4EA8-953C-3D51F0999875}" srcId="{492E2906-74B4-4BCB-8DB1-62F69A368761}" destId="{9B0944D4-52AF-4006-AEDB-07BD42E835D7}" srcOrd="0" destOrd="0" parTransId="{FC8B0C6C-8DF6-434E-BBEA-1B1E359A87C4}" sibTransId="{1A370047-1862-45AA-A05A-D20D2A065B7A}"/>
    <dgm:cxn modelId="{202E797B-8B98-454C-90B3-B552488466C3}" srcId="{9F87F5A4-A480-46D4-B670-AE6ABF101EAF}" destId="{0C09951A-4D71-4694-8D71-4A5773D5F8D3}" srcOrd="0" destOrd="0" parTransId="{07FBEBF1-8FD3-45E3-A9CC-C478580A5102}" sibTransId="{278DD9EE-3BB6-4633-9908-D649EE9F1C6A}"/>
    <dgm:cxn modelId="{58017E80-EE26-415D-9D6E-C92687DD12C5}" srcId="{8CF5ABB2-8E49-4018-A847-30F24C0E05D1}" destId="{9F87F5A4-A480-46D4-B670-AE6ABF101EAF}" srcOrd="0" destOrd="0" parTransId="{F5F217E3-0567-4851-B847-759B189BBD81}" sibTransId="{BF60E87F-309A-43E4-843A-33950BB5B014}"/>
    <dgm:cxn modelId="{1F13E092-8DCC-437A-80FC-27D5AD8E59A7}" srcId="{0C09951A-4D71-4694-8D71-4A5773D5F8D3}" destId="{6A446B3A-021A-4CD6-AFFD-B41DBE0AC5D6}" srcOrd="0" destOrd="0" parTransId="{251286B3-0407-4278-83BC-147843222ED0}" sibTransId="{41D28A70-4245-4192-9DE2-A3B6A6B05D84}"/>
    <dgm:cxn modelId="{987AB99B-B127-4C08-99AD-ED1BAE563E85}" type="presOf" srcId="{41BBBC3F-3746-46A2-BFA0-0313F5A504E6}" destId="{DB0C4DC1-3540-44DF-85E3-33CB18221958}" srcOrd="0" destOrd="2" presId="urn:microsoft.com/office/officeart/2005/8/layout/default"/>
    <dgm:cxn modelId="{50F7C29E-45F8-4C78-B9E9-85C1A335E7CC}" srcId="{9A0B8F2E-3289-4991-9BF1-4493C09165EB}" destId="{41BBBC3F-3746-46A2-BFA0-0313F5A504E6}" srcOrd="0" destOrd="0" parTransId="{020F0A82-451D-469D-A012-42DBDBC50C22}" sibTransId="{058122C7-43A9-426A-B923-93F4398D5247}"/>
    <dgm:cxn modelId="{29E031A3-3817-4D79-B5D4-832D05DB911B}" srcId="{9B0944D4-52AF-4006-AEDB-07BD42E835D7}" destId="{F2EB1D20-381B-44B1-B6C0-0A816202FF99}" srcOrd="0" destOrd="0" parTransId="{18E5F0E2-B9CD-497F-B7E1-FB0ECEE4259D}" sibTransId="{132109CD-56C5-40CF-BB8B-3E5D80A816FF}"/>
    <dgm:cxn modelId="{A499A9A5-6B2E-425D-B72B-A8F20B5E2EE4}" type="presOf" srcId="{0C09951A-4D71-4694-8D71-4A5773D5F8D3}" destId="{820BA5C1-DC11-4E55-BC65-640496F8AE55}" srcOrd="0" destOrd="1" presId="urn:microsoft.com/office/officeart/2005/8/layout/default"/>
    <dgm:cxn modelId="{8CEE73AD-3C79-4342-BAE1-28B657E155D3}" type="presOf" srcId="{379BD61E-A81C-4311-81DC-43B79184EEF5}" destId="{78871E67-5D24-4D08-83B2-6B084549D081}" srcOrd="0" destOrd="2" presId="urn:microsoft.com/office/officeart/2005/8/layout/default"/>
    <dgm:cxn modelId="{2DD639BF-3488-495A-A548-16005AAC3553}" type="presOf" srcId="{9B0944D4-52AF-4006-AEDB-07BD42E835D7}" destId="{E2FDB8A8-6FB9-4E8B-8288-30DA87C71564}" srcOrd="0" destOrd="1" presId="urn:microsoft.com/office/officeart/2005/8/layout/default"/>
    <dgm:cxn modelId="{C88D9FC9-6947-4A99-9784-42280FF14801}" type="presOf" srcId="{8276F24A-2D10-4201-BCAD-59B00F7EC34B}" destId="{DB0C4DC1-3540-44DF-85E3-33CB18221958}" srcOrd="0" destOrd="0" presId="urn:microsoft.com/office/officeart/2005/8/layout/default"/>
    <dgm:cxn modelId="{7CC87FCB-CEA8-433D-93F9-D510F14AB97A}" type="presOf" srcId="{492E2906-74B4-4BCB-8DB1-62F69A368761}" destId="{E2FDB8A8-6FB9-4E8B-8288-30DA87C71564}" srcOrd="0" destOrd="0" presId="urn:microsoft.com/office/officeart/2005/8/layout/default"/>
    <dgm:cxn modelId="{3C7C3FCF-118B-4CE6-91C4-FCA865D9D03F}" srcId="{8276F24A-2D10-4201-BCAD-59B00F7EC34B}" destId="{9A0B8F2E-3289-4991-9BF1-4493C09165EB}" srcOrd="0" destOrd="0" parTransId="{EEC51A56-7F62-431A-A621-2B3A1E198294}" sibTransId="{5770870A-69E1-46CE-B606-BD7649A627C9}"/>
    <dgm:cxn modelId="{18BE96ED-936B-4571-A667-0038A23159C7}" type="presOf" srcId="{F2EB1D20-381B-44B1-B6C0-0A816202FF99}" destId="{E2FDB8A8-6FB9-4E8B-8288-30DA87C71564}" srcOrd="0" destOrd="2" presId="urn:microsoft.com/office/officeart/2005/8/layout/default"/>
    <dgm:cxn modelId="{BC4978F9-7645-4A34-B91B-5B5CCA983302}" srcId="{8CF5ABB2-8E49-4018-A847-30F24C0E05D1}" destId="{8276F24A-2D10-4201-BCAD-59B00F7EC34B}" srcOrd="3" destOrd="0" parTransId="{A562C011-A2C5-425F-8968-2B0007CCF029}" sibTransId="{A941C574-C16A-483C-8AB2-FD63ADEA0654}"/>
    <dgm:cxn modelId="{2A4CFCC4-AD1A-4639-868C-1463D690F60E}" type="presParOf" srcId="{8A1F0280-71B7-4893-8E26-3B4BB98EEFAE}" destId="{820BA5C1-DC11-4E55-BC65-640496F8AE55}" srcOrd="0" destOrd="0" presId="urn:microsoft.com/office/officeart/2005/8/layout/default"/>
    <dgm:cxn modelId="{C5FD2948-C809-4771-9BA5-2190C460EECE}" type="presParOf" srcId="{8A1F0280-71B7-4893-8E26-3B4BB98EEFAE}" destId="{FF0AA103-E1C1-4960-9B79-7A6C3CFABF4C}" srcOrd="1" destOrd="0" presId="urn:microsoft.com/office/officeart/2005/8/layout/default"/>
    <dgm:cxn modelId="{927E4A75-80D3-4C06-870E-3CFB12E0D0CA}" type="presParOf" srcId="{8A1F0280-71B7-4893-8E26-3B4BB98EEFAE}" destId="{E2FDB8A8-6FB9-4E8B-8288-30DA87C71564}" srcOrd="2" destOrd="0" presId="urn:microsoft.com/office/officeart/2005/8/layout/default"/>
    <dgm:cxn modelId="{97E19BEB-6E96-4FAC-B8EE-76AE5FAE8C3F}" type="presParOf" srcId="{8A1F0280-71B7-4893-8E26-3B4BB98EEFAE}" destId="{445CB63A-4007-49FB-8BD3-08D0DB382A80}" srcOrd="3" destOrd="0" presId="urn:microsoft.com/office/officeart/2005/8/layout/default"/>
    <dgm:cxn modelId="{54040982-63AE-40A9-8D0F-64F43269C913}" type="presParOf" srcId="{8A1F0280-71B7-4893-8E26-3B4BB98EEFAE}" destId="{78871E67-5D24-4D08-83B2-6B084549D081}" srcOrd="4" destOrd="0" presId="urn:microsoft.com/office/officeart/2005/8/layout/default"/>
    <dgm:cxn modelId="{ADC1498B-359B-4693-B516-234570A74345}" type="presParOf" srcId="{8A1F0280-71B7-4893-8E26-3B4BB98EEFAE}" destId="{495FF50D-856C-40D3-B30E-2B055A7BC280}" srcOrd="5" destOrd="0" presId="urn:microsoft.com/office/officeart/2005/8/layout/default"/>
    <dgm:cxn modelId="{F41CE63A-BDC8-437A-A645-D980DC0160B0}" type="presParOf" srcId="{8A1F0280-71B7-4893-8E26-3B4BB98EEFAE}" destId="{DB0C4DC1-3540-44DF-85E3-33CB18221958}" srcOrd="6"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BA5C1-DC11-4E55-BC65-640496F8AE55}">
      <dsp:nvSpPr>
        <dsp:cNvPr id="0" name=""/>
        <dsp:cNvSpPr/>
      </dsp:nvSpPr>
      <dsp:spPr>
        <a:xfrm>
          <a:off x="490522" y="2485"/>
          <a:ext cx="6209407" cy="3725644"/>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b="1" kern="1200" dirty="0"/>
            <a:t>Goal</a:t>
          </a:r>
          <a:endParaRPr lang="en-US" sz="4000" kern="1200" dirty="0"/>
        </a:p>
        <a:p>
          <a:pPr marL="285750" lvl="1" indent="-285750" algn="l" defTabSz="1377950">
            <a:lnSpc>
              <a:spcPct val="90000"/>
            </a:lnSpc>
            <a:spcBef>
              <a:spcPct val="0"/>
            </a:spcBef>
            <a:spcAft>
              <a:spcPct val="15000"/>
            </a:spcAft>
            <a:buNone/>
          </a:pPr>
          <a:r>
            <a:rPr lang="en-US" sz="3100" kern="1200" dirty="0"/>
            <a:t>What do you want Copilot to do </a:t>
          </a:r>
          <a:r>
            <a:rPr lang="en-US" sz="3100" i="1" kern="1200" dirty="0"/>
            <a:t>in Excel</a:t>
          </a:r>
          <a:r>
            <a:rPr lang="en-US" sz="3100" kern="1200" dirty="0"/>
            <a:t>?</a:t>
          </a:r>
        </a:p>
        <a:p>
          <a:pPr marL="571500" lvl="2" indent="-285750" algn="l" defTabSz="1377950">
            <a:lnSpc>
              <a:spcPct val="90000"/>
            </a:lnSpc>
            <a:spcBef>
              <a:spcPct val="0"/>
            </a:spcBef>
            <a:spcAft>
              <a:spcPct val="15000"/>
            </a:spcAft>
            <a:buNone/>
          </a:pPr>
          <a:r>
            <a:rPr lang="en-US" sz="3100" kern="1200" dirty="0"/>
            <a:t>“Check the formulas in the Profit column and tell me whether the logic is consistent.”</a:t>
          </a:r>
        </a:p>
      </dsp:txBody>
      <dsp:txXfrm>
        <a:off x="490522" y="2485"/>
        <a:ext cx="6209407" cy="3725644"/>
      </dsp:txXfrm>
    </dsp:sp>
    <dsp:sp modelId="{E2FDB8A8-6FB9-4E8B-8288-30DA87C71564}">
      <dsp:nvSpPr>
        <dsp:cNvPr id="0" name=""/>
        <dsp:cNvSpPr/>
      </dsp:nvSpPr>
      <dsp:spPr>
        <a:xfrm>
          <a:off x="7320870" y="2485"/>
          <a:ext cx="6209407" cy="3725644"/>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b="1" kern="1200" dirty="0"/>
            <a:t>Context</a:t>
          </a:r>
          <a:endParaRPr lang="en-US" sz="4000" kern="1200" dirty="0"/>
        </a:p>
        <a:p>
          <a:pPr marL="285750" lvl="1" indent="-285750" algn="l" defTabSz="1377950">
            <a:lnSpc>
              <a:spcPct val="90000"/>
            </a:lnSpc>
            <a:spcBef>
              <a:spcPct val="0"/>
            </a:spcBef>
            <a:spcAft>
              <a:spcPct val="15000"/>
            </a:spcAft>
            <a:buNone/>
          </a:pPr>
          <a:r>
            <a:rPr lang="en-US" sz="3100" kern="1200" dirty="0"/>
            <a:t>What data, sheet, range, or calculation does this relate to?</a:t>
          </a:r>
        </a:p>
        <a:p>
          <a:pPr marL="571500" lvl="2" indent="-285750" algn="l" defTabSz="1377950">
            <a:lnSpc>
              <a:spcPct val="90000"/>
            </a:lnSpc>
            <a:spcBef>
              <a:spcPct val="0"/>
            </a:spcBef>
            <a:spcAft>
              <a:spcPct val="15000"/>
            </a:spcAft>
            <a:buNone/>
          </a:pPr>
          <a:r>
            <a:rPr lang="en-US" sz="3100" kern="1200" dirty="0"/>
            <a:t>“The data is in Table </a:t>
          </a:r>
          <a:r>
            <a:rPr lang="en-US" sz="3100" kern="1200" dirty="0" err="1"/>
            <a:t>SalesData</a:t>
          </a:r>
          <a:r>
            <a:rPr lang="en-US" sz="3100" kern="1200" dirty="0"/>
            <a:t> on the sheet ‘Q2’. The Profit column uses a formula =Revenue–Cost.”</a:t>
          </a:r>
        </a:p>
      </dsp:txBody>
      <dsp:txXfrm>
        <a:off x="7320870" y="2485"/>
        <a:ext cx="6209407" cy="3725644"/>
      </dsp:txXfrm>
    </dsp:sp>
    <dsp:sp modelId="{78871E67-5D24-4D08-83B2-6B084549D081}">
      <dsp:nvSpPr>
        <dsp:cNvPr id="0" name=""/>
        <dsp:cNvSpPr/>
      </dsp:nvSpPr>
      <dsp:spPr>
        <a:xfrm>
          <a:off x="490522" y="4349070"/>
          <a:ext cx="6209407" cy="3725644"/>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b="1" kern="1200" dirty="0"/>
            <a:t>Expectations</a:t>
          </a:r>
        </a:p>
        <a:p>
          <a:pPr marL="285750" lvl="1" indent="-285750" algn="l" defTabSz="1377950">
            <a:lnSpc>
              <a:spcPct val="90000"/>
            </a:lnSpc>
            <a:spcBef>
              <a:spcPct val="0"/>
            </a:spcBef>
            <a:spcAft>
              <a:spcPct val="15000"/>
            </a:spcAft>
            <a:buNone/>
          </a:pPr>
          <a:r>
            <a:rPr lang="en-US" sz="3100" kern="1200" dirty="0"/>
            <a:t>What format or audience should Copilot aim for?</a:t>
          </a:r>
        </a:p>
        <a:p>
          <a:pPr marL="571500" lvl="2" indent="-285750" algn="l" defTabSz="1377950">
            <a:lnSpc>
              <a:spcPct val="90000"/>
            </a:lnSpc>
            <a:spcBef>
              <a:spcPct val="0"/>
            </a:spcBef>
            <a:spcAft>
              <a:spcPct val="15000"/>
            </a:spcAft>
            <a:buNone/>
          </a:pPr>
          <a:r>
            <a:rPr lang="en-US" sz="3100" kern="1200" dirty="0"/>
            <a:t>“Give the results as a bullet list with specific row numbers and suggestions.”</a:t>
          </a:r>
        </a:p>
      </dsp:txBody>
      <dsp:txXfrm>
        <a:off x="490522" y="4349070"/>
        <a:ext cx="6209407" cy="3725644"/>
      </dsp:txXfrm>
    </dsp:sp>
    <dsp:sp modelId="{DB0C4DC1-3540-44DF-85E3-33CB18221958}">
      <dsp:nvSpPr>
        <dsp:cNvPr id="0" name=""/>
        <dsp:cNvSpPr/>
      </dsp:nvSpPr>
      <dsp:spPr>
        <a:xfrm>
          <a:off x="7320870" y="4349070"/>
          <a:ext cx="6209407" cy="3725644"/>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b="1" kern="1200" dirty="0"/>
            <a:t>Source</a:t>
          </a:r>
        </a:p>
        <a:p>
          <a:pPr marL="285750" lvl="1" indent="-285750" algn="l" defTabSz="1377950">
            <a:lnSpc>
              <a:spcPct val="90000"/>
            </a:lnSpc>
            <a:spcBef>
              <a:spcPct val="0"/>
            </a:spcBef>
            <a:spcAft>
              <a:spcPct val="15000"/>
            </a:spcAft>
            <a:buNone/>
          </a:pPr>
          <a:r>
            <a:rPr lang="en-US" sz="3100" kern="1200" dirty="0"/>
            <a:t>Which data should Copilot look at?</a:t>
          </a:r>
        </a:p>
        <a:p>
          <a:pPr marL="571500" lvl="2" indent="-285750" algn="l" defTabSz="1377950">
            <a:lnSpc>
              <a:spcPct val="90000"/>
            </a:lnSpc>
            <a:spcBef>
              <a:spcPct val="0"/>
            </a:spcBef>
            <a:spcAft>
              <a:spcPct val="15000"/>
            </a:spcAft>
            <a:buNone/>
          </a:pPr>
          <a:r>
            <a:rPr lang="en-US" sz="3100" kern="1200" dirty="0"/>
            <a:t>“Use only the </a:t>
          </a:r>
          <a:r>
            <a:rPr lang="en-US" sz="3100" kern="1200" dirty="0" err="1"/>
            <a:t>SalesData</a:t>
          </a:r>
          <a:r>
            <a:rPr lang="en-US" sz="3100" kern="1200" dirty="0"/>
            <a:t> table and ignore the Summary sheet.”</a:t>
          </a:r>
        </a:p>
      </dsp:txBody>
      <dsp:txXfrm>
        <a:off x="7320870" y="4349070"/>
        <a:ext cx="6209407" cy="372564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12/23/2025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tell you what I actually want you to be able to do by the end of this.</a:t>
            </a:r>
          </a:p>
          <a:p>
            <a:endParaRPr lang="en-US" dirty="0"/>
          </a:p>
          <a:p>
            <a:r>
              <a:rPr lang="en-US" dirty="0"/>
              <a:t>I don’t want you walking out with a list of clever prompts. Those are fragile and they stop working the moment the workbook changes.</a:t>
            </a:r>
          </a:p>
          <a:p>
            <a:endParaRPr lang="en-US" dirty="0"/>
          </a:p>
          <a:p>
            <a:r>
              <a:rPr lang="en-US" dirty="0"/>
              <a:t>What I </a:t>
            </a:r>
            <a:r>
              <a:rPr lang="en-US" i="1" dirty="0"/>
              <a:t>do</a:t>
            </a:r>
            <a:r>
              <a:rPr lang="en-US" dirty="0"/>
              <a:t> want is for you to be able to give Copilot clear, concrete instructions using things it already understands. Tables, columns, named objects. The same way you already think when you work in Excel.</a:t>
            </a:r>
          </a:p>
          <a:p>
            <a:endParaRPr lang="en-US" dirty="0"/>
          </a:p>
          <a:p>
            <a:r>
              <a:rPr lang="en-US" dirty="0"/>
              <a:t>We’ll talk about how to control the output too. Not just asking questions, but telling Copilot what shape the answer should take. Short, structured, formatted in a way that’s actually usable.</a:t>
            </a:r>
          </a:p>
          <a:p>
            <a:endParaRPr lang="en-US" dirty="0"/>
          </a:p>
          <a:p>
            <a:r>
              <a:rPr lang="en-US" dirty="0"/>
              <a:t>We’ll also spend time on what happens when a prompt doesn’t work, because that’s normal. Instead of guessing or blaming the tool, you’ll learn how to quickly see what went wrong and adjust the prompt without starting over.</a:t>
            </a:r>
          </a:p>
          <a:p>
            <a:endParaRPr lang="en-US" dirty="0"/>
          </a:p>
          <a:p>
            <a:r>
              <a:rPr lang="en-US" dirty="0"/>
              <a:t>And along the way, I’ll show you a handful of prompt patterns I use myself. Things that work across different datasets and problems, not demo-only tricks.</a:t>
            </a:r>
          </a:p>
          <a:p>
            <a:endParaRPr lang="en-US" dirty="0"/>
          </a:p>
          <a:p>
            <a:r>
              <a:rPr lang="en-US" dirty="0"/>
              <a:t>If this goes the way I want it to, Copilot should feel less like something you’re experimenting with and more like something you can reliably use when you need it.”</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2</a:t>
            </a:fld>
            <a:endParaRPr lang="en-US"/>
          </a:p>
        </p:txBody>
      </p:sp>
    </p:spTree>
    <p:extLst>
      <p:ext uri="{BB962C8B-B14F-4D97-AF65-F5344CB8AC3E}">
        <p14:creationId xmlns:p14="http://schemas.microsoft.com/office/powerpoint/2010/main" val="3314691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Quick grounding point before we go further.</a:t>
            </a:r>
          </a:p>
          <a:p>
            <a:endParaRPr lang="en-US" sz="1200" dirty="0"/>
          </a:p>
          <a:p>
            <a:r>
              <a:rPr lang="en-US" sz="1200" dirty="0"/>
              <a:t>Copilot isn’t magic. It’s reading your workbook. Tables, columns, formulas, data types. That’s the context it works with.</a:t>
            </a:r>
          </a:p>
          <a:p>
            <a:endParaRPr lang="en-US" sz="1200" dirty="0"/>
          </a:p>
          <a:p>
            <a:r>
              <a:rPr lang="en-US" sz="1200" dirty="0"/>
              <a:t>It works best when you tell it exactly what to use. When you don’t, it has to guess, and guessing is where things break.</a:t>
            </a:r>
          </a:p>
          <a:p>
            <a:endParaRPr lang="en-US" sz="1200" dirty="0"/>
          </a:p>
          <a:p>
            <a:r>
              <a:rPr lang="en-US" sz="1200" dirty="0"/>
              <a:t>Many prompt issues in my experience aren’t AI issues. They’re context issues. Fix the context and the prompt usually fixes itself. </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3</a:t>
            </a:fld>
            <a:endParaRPr lang="en-US"/>
          </a:p>
        </p:txBody>
      </p:sp>
    </p:spTree>
    <p:extLst>
      <p:ext uri="{BB962C8B-B14F-4D97-AF65-F5344CB8AC3E}">
        <p14:creationId xmlns:p14="http://schemas.microsoft.com/office/powerpoint/2010/main" val="359334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43C24-D65A-BEF7-62FC-34452DD168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2B4AC-157B-AE97-FB01-3E69942FE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57D069-0820-CF74-496C-1EB1191684E4}"/>
              </a:ext>
            </a:extLst>
          </p:cNvPr>
          <p:cNvSpPr>
            <a:spLocks noGrp="1"/>
          </p:cNvSpPr>
          <p:nvPr>
            <p:ph type="body" idx="1"/>
          </p:nvPr>
        </p:nvSpPr>
        <p:spPr/>
        <p:txBody>
          <a:bodyPr/>
          <a:lstStyle/>
          <a:p>
            <a:r>
              <a:rPr lang="en-US" sz="1200" dirty="0"/>
              <a:t>This is basically how Copilot sees Excel. It’s reading </a:t>
            </a:r>
            <a:r>
              <a:rPr lang="en-US" sz="1200" i="1" dirty="0"/>
              <a:t>objects</a:t>
            </a:r>
            <a:r>
              <a:rPr lang="en-US" sz="1200" dirty="0"/>
              <a:t>.</a:t>
            </a:r>
          </a:p>
          <a:p>
            <a:endParaRPr lang="en-US" sz="1200" dirty="0"/>
          </a:p>
          <a:p>
            <a:r>
              <a:rPr lang="en-US" sz="1200" dirty="0"/>
              <a:t>Named tables matter. Column headers matter. The overall workbook context matters. That’s what Copilot is reasoning over.</a:t>
            </a:r>
          </a:p>
          <a:p>
            <a:endParaRPr lang="en-US" sz="1200" dirty="0"/>
          </a:p>
          <a:p>
            <a:r>
              <a:rPr lang="en-US" sz="1200" dirty="0"/>
              <a:t>So when you reference a table by name, or a specific column, you’re not being overly formal. You’re giving Copilot something concrete to latch onto.</a:t>
            </a:r>
          </a:p>
          <a:p>
            <a:endParaRPr lang="en-US" sz="1200" dirty="0"/>
          </a:p>
          <a:p>
            <a:r>
              <a:rPr lang="en-US" sz="1200" dirty="0"/>
              <a:t>This is why vague prompts tend to fail. You’re asking it to reason without objects.</a:t>
            </a:r>
          </a:p>
          <a:p>
            <a:r>
              <a:rPr lang="en-US" sz="1200" dirty="0"/>
              <a:t>I like to say it this way: Copilot reasons over objects, not vibes.</a:t>
            </a:r>
          </a:p>
          <a:p>
            <a:endParaRPr lang="en-US" sz="1200" dirty="0"/>
          </a:p>
          <a:p>
            <a:r>
              <a:rPr lang="en-US" sz="1200" dirty="0"/>
              <a:t>If you give it structure, it behaves. If you give it vibes, you get vibes back.</a:t>
            </a:r>
          </a:p>
        </p:txBody>
      </p:sp>
      <p:sp>
        <p:nvSpPr>
          <p:cNvPr id="4" name="Slide Number Placeholder 3">
            <a:extLst>
              <a:ext uri="{FF2B5EF4-FFF2-40B4-BE49-F238E27FC236}">
                <a16:creationId xmlns:a16="http://schemas.microsoft.com/office/drawing/2014/main" id="{CD8E46F3-9CB7-3BF4-03BC-8935BE742CC3}"/>
              </a:ext>
            </a:extLst>
          </p:cNvPr>
          <p:cNvSpPr>
            <a:spLocks noGrp="1"/>
          </p:cNvSpPr>
          <p:nvPr>
            <p:ph type="sldNum" sz="quarter" idx="5"/>
          </p:nvPr>
        </p:nvSpPr>
        <p:spPr/>
        <p:txBody>
          <a:bodyPr/>
          <a:lstStyle/>
          <a:p>
            <a:fld id="{FFB500C5-13F7-48FC-8160-C29AECF6C602}" type="slidenum">
              <a:rPr lang="en-US" smtClean="0"/>
              <a:t>4</a:t>
            </a:fld>
            <a:endParaRPr lang="en-US"/>
          </a:p>
        </p:txBody>
      </p:sp>
    </p:spTree>
    <p:extLst>
      <p:ext uri="{BB962C8B-B14F-4D97-AF65-F5344CB8AC3E}">
        <p14:creationId xmlns:p14="http://schemas.microsoft.com/office/powerpoint/2010/main" val="787013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F524E-052E-9ABD-0C6D-9D98C77A6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2CF5EA-CF73-84A4-83C0-6184A2989F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9A139-F61A-9AF1-1E3F-D88DAA4C1DD9}"/>
              </a:ext>
            </a:extLst>
          </p:cNvPr>
          <p:cNvSpPr>
            <a:spLocks noGrp="1"/>
          </p:cNvSpPr>
          <p:nvPr>
            <p:ph type="body" idx="1"/>
          </p:nvPr>
        </p:nvSpPr>
        <p:spPr/>
        <p:txBody>
          <a:bodyPr/>
          <a:lstStyle/>
          <a:p>
            <a:r>
              <a:rPr lang="en-US" dirty="0"/>
              <a:t>Let me tell you what I actually want you to be able to do by the end of this.</a:t>
            </a:r>
          </a:p>
          <a:p>
            <a:endParaRPr lang="en-US" dirty="0"/>
          </a:p>
          <a:p>
            <a:r>
              <a:rPr lang="en-US" dirty="0"/>
              <a:t>I don’t want you walking out with a list of clever prompts. Those are fragile and they stop working the moment the workbook changes.</a:t>
            </a:r>
          </a:p>
          <a:p>
            <a:endParaRPr lang="en-US" dirty="0"/>
          </a:p>
          <a:p>
            <a:r>
              <a:rPr lang="en-US" dirty="0"/>
              <a:t>What I </a:t>
            </a:r>
            <a:r>
              <a:rPr lang="en-US" i="1" dirty="0"/>
              <a:t>do</a:t>
            </a:r>
            <a:r>
              <a:rPr lang="en-US" dirty="0"/>
              <a:t> want is for you to be able to give Copilot clear, concrete instructions using things it already understands. Tables, columns, named objects. The same way you already think when you work in Excel.</a:t>
            </a:r>
          </a:p>
          <a:p>
            <a:endParaRPr lang="en-US" dirty="0"/>
          </a:p>
          <a:p>
            <a:r>
              <a:rPr lang="en-US" dirty="0"/>
              <a:t>We’ll talk about how to control the output too. Not just asking questions, but telling Copilot what shape the answer should take. Short, structured, formatted in a way that’s actually usable.</a:t>
            </a:r>
          </a:p>
          <a:p>
            <a:endParaRPr lang="en-US" dirty="0"/>
          </a:p>
          <a:p>
            <a:r>
              <a:rPr lang="en-US" dirty="0"/>
              <a:t>We’ll also spend time on what happens when a prompt doesn’t work, because that’s normal. Instead of guessing or blaming the tool, you’ll learn how to quickly see what went wrong and adjust the prompt without starting over.</a:t>
            </a:r>
          </a:p>
          <a:p>
            <a:endParaRPr lang="en-US" dirty="0"/>
          </a:p>
          <a:p>
            <a:r>
              <a:rPr lang="en-US" dirty="0"/>
              <a:t>And along the way, I’ll show you a handful of prompt patterns I use myself. Things that work across different datasets and problems, not demo-only tricks.</a:t>
            </a:r>
          </a:p>
          <a:p>
            <a:endParaRPr lang="en-US" dirty="0"/>
          </a:p>
          <a:p>
            <a:r>
              <a:rPr lang="en-US" dirty="0"/>
              <a:t>If this goes the way I want it to, Copilot should feel less like something you’re experimenting with and more like something you can reliably use when you need it.”</a:t>
            </a:r>
          </a:p>
          <a:p>
            <a:endParaRPr lang="en-US" dirty="0"/>
          </a:p>
        </p:txBody>
      </p:sp>
      <p:sp>
        <p:nvSpPr>
          <p:cNvPr id="4" name="Slide Number Placeholder 3">
            <a:extLst>
              <a:ext uri="{FF2B5EF4-FFF2-40B4-BE49-F238E27FC236}">
                <a16:creationId xmlns:a16="http://schemas.microsoft.com/office/drawing/2014/main" id="{2111FB7B-D744-3C5C-83E9-2328CB4A69DE}"/>
              </a:ext>
            </a:extLst>
          </p:cNvPr>
          <p:cNvSpPr>
            <a:spLocks noGrp="1"/>
          </p:cNvSpPr>
          <p:nvPr>
            <p:ph type="sldNum" sz="quarter" idx="5"/>
          </p:nvPr>
        </p:nvSpPr>
        <p:spPr/>
        <p:txBody>
          <a:bodyPr/>
          <a:lstStyle/>
          <a:p>
            <a:fld id="{FFB500C5-13F7-48FC-8160-C29AECF6C602}" type="slidenum">
              <a:rPr lang="en-US" smtClean="0"/>
              <a:t>5</a:t>
            </a:fld>
            <a:endParaRPr lang="en-US"/>
          </a:p>
        </p:txBody>
      </p:sp>
    </p:spTree>
    <p:extLst>
      <p:ext uri="{BB962C8B-B14F-4D97-AF65-F5344CB8AC3E}">
        <p14:creationId xmlns:p14="http://schemas.microsoft.com/office/powerpoint/2010/main" val="1890378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F5C19-E3CF-2A51-8F48-65C70A99D0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74315D-BEA9-16B4-A494-28AA99712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1038BD-7B5B-4D95-74E0-BEDC5C572587}"/>
              </a:ext>
            </a:extLst>
          </p:cNvPr>
          <p:cNvSpPr>
            <a:spLocks noGrp="1"/>
          </p:cNvSpPr>
          <p:nvPr>
            <p:ph type="body" idx="1"/>
          </p:nvPr>
        </p:nvSpPr>
        <p:spPr/>
        <p:txBody>
          <a:bodyPr/>
          <a:lstStyle/>
          <a:p>
            <a:r>
              <a:rPr lang="en-US" sz="1200" dirty="0"/>
              <a:t>When a prompt doesn’t work, this is how I debug it.</a:t>
            </a:r>
          </a:p>
          <a:p>
            <a:endParaRPr lang="en-US" sz="1200" dirty="0"/>
          </a:p>
          <a:p>
            <a:r>
              <a:rPr lang="en-US" sz="1200" dirty="0"/>
              <a:t>I don’t argue with Copilot. I just check these four things.</a:t>
            </a:r>
          </a:p>
          <a:p>
            <a:endParaRPr lang="en-US" sz="1200" dirty="0"/>
          </a:p>
          <a:p>
            <a:r>
              <a:rPr lang="en-US" sz="1200" dirty="0"/>
              <a:t>First: what’s the goal? What am I actually asking it to do in Excel?</a:t>
            </a:r>
          </a:p>
          <a:p>
            <a:endParaRPr lang="en-US" sz="1200" dirty="0"/>
          </a:p>
          <a:p>
            <a:r>
              <a:rPr lang="en-US" sz="1200" dirty="0"/>
              <a:t>Second: what’s the context? Which data, which sheet, which calculation are we talking about?</a:t>
            </a:r>
          </a:p>
          <a:p>
            <a:endParaRPr lang="en-US" sz="1200" dirty="0"/>
          </a:p>
          <a:p>
            <a:r>
              <a:rPr lang="en-US" sz="1200" dirty="0"/>
              <a:t>Third: what are the expectations? Who is this for and what should the output look like?</a:t>
            </a:r>
          </a:p>
          <a:p>
            <a:endParaRPr lang="en-US" sz="1200" dirty="0"/>
          </a:p>
          <a:p>
            <a:r>
              <a:rPr lang="en-US" sz="1200" dirty="0"/>
              <a:t>And fourth: what’s the source? What data should it use, and just as important, what should </a:t>
            </a:r>
          </a:p>
          <a:p>
            <a:r>
              <a:rPr lang="en-US" sz="1200" dirty="0"/>
              <a:t>it ignore?</a:t>
            </a:r>
          </a:p>
          <a:p>
            <a:endParaRPr lang="en-US" sz="1200" dirty="0"/>
          </a:p>
          <a:p>
            <a:r>
              <a:rPr lang="en-US" sz="1200" dirty="0"/>
              <a:t>You don’t have to be poetic here. You just need all four present.</a:t>
            </a:r>
          </a:p>
          <a:p>
            <a:endParaRPr lang="en-US" sz="1200" dirty="0"/>
          </a:p>
          <a:p>
            <a:r>
              <a:rPr lang="en-US" sz="1200" dirty="0"/>
              <a:t>If one of these is missing, you should expect rework. That’s not Copilot being bad. That’s the prompt being incomplete.</a:t>
            </a:r>
          </a:p>
          <a:p>
            <a:endParaRPr lang="en-US" sz="1200" dirty="0"/>
          </a:p>
          <a:p>
            <a:r>
              <a:rPr lang="en-US" sz="1200" dirty="0"/>
              <a:t>This framework isn’t for writing perfect prompts. It’s for fixing broken ones quickly.”</a:t>
            </a:r>
          </a:p>
          <a:p>
            <a:endParaRPr lang="en-US" sz="1200" dirty="0"/>
          </a:p>
        </p:txBody>
      </p:sp>
      <p:sp>
        <p:nvSpPr>
          <p:cNvPr id="4" name="Slide Number Placeholder 3">
            <a:extLst>
              <a:ext uri="{FF2B5EF4-FFF2-40B4-BE49-F238E27FC236}">
                <a16:creationId xmlns:a16="http://schemas.microsoft.com/office/drawing/2014/main" id="{862F8DD0-432D-2716-C29E-0CC0A0DAFD45}"/>
              </a:ext>
            </a:extLst>
          </p:cNvPr>
          <p:cNvSpPr>
            <a:spLocks noGrp="1"/>
          </p:cNvSpPr>
          <p:nvPr>
            <p:ph type="sldNum" sz="quarter" idx="5"/>
          </p:nvPr>
        </p:nvSpPr>
        <p:spPr/>
        <p:txBody>
          <a:bodyPr/>
          <a:lstStyle/>
          <a:p>
            <a:fld id="{FFB500C5-13F7-48FC-8160-C29AECF6C602}" type="slidenum">
              <a:rPr lang="en-US" smtClean="0"/>
              <a:t>6</a:t>
            </a:fld>
            <a:endParaRPr lang="en-US"/>
          </a:p>
        </p:txBody>
      </p:sp>
    </p:spTree>
    <p:extLst>
      <p:ext uri="{BB962C8B-B14F-4D97-AF65-F5344CB8AC3E}">
        <p14:creationId xmlns:p14="http://schemas.microsoft.com/office/powerpoint/2010/main" val="3735528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77238-6735-61B8-8DE2-783E7279C5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FFB8B0-B63F-AEE3-05C1-E8CED6B632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67F6F-17B1-5511-1CD9-2343725D7347}"/>
              </a:ext>
            </a:extLst>
          </p:cNvPr>
          <p:cNvSpPr>
            <a:spLocks noGrp="1"/>
          </p:cNvSpPr>
          <p:nvPr>
            <p:ph type="body" idx="1"/>
          </p:nvPr>
        </p:nvSpPr>
        <p:spPr/>
        <p:txBody>
          <a:bodyPr/>
          <a:lstStyle/>
          <a:p>
            <a:r>
              <a:rPr lang="en-US" sz="1200" dirty="0"/>
              <a:t>These are the three most common ways prompts fail.</a:t>
            </a:r>
          </a:p>
          <a:p>
            <a:endParaRPr lang="en-US" sz="1200" dirty="0"/>
          </a:p>
          <a:p>
            <a:r>
              <a:rPr lang="en-US" sz="1200" dirty="0"/>
              <a:t>First, vague data references. Words like ‘this,’ ‘here,’ or ‘the data.’ Copilot doesn’t know what that means unless you’ve named it.</a:t>
            </a:r>
          </a:p>
          <a:p>
            <a:endParaRPr lang="en-US" sz="1200" dirty="0"/>
          </a:p>
          <a:p>
            <a:r>
              <a:rPr lang="en-US" sz="1200" dirty="0"/>
              <a:t>Second, missing output constraints. If you don’t tell it what the answer should look like, you’ll usually get something long, generic, or unusable.</a:t>
            </a:r>
          </a:p>
          <a:p>
            <a:endParaRPr lang="en-US" sz="1200" dirty="0"/>
          </a:p>
          <a:p>
            <a:r>
              <a:rPr lang="en-US" sz="1200" dirty="0"/>
              <a:t>And third, asking for judgment when you really just want description. Words like ‘evaluate’ or ‘recommend’ when all you actually need is ‘summarize’ or ‘describe.’</a:t>
            </a:r>
          </a:p>
          <a:p>
            <a:r>
              <a:rPr lang="en-US" sz="1200" dirty="0"/>
              <a:t>If you fix these three things, a lot of Copilot frustration just disappears</a:t>
            </a:r>
          </a:p>
          <a:p>
            <a:endParaRPr lang="en-US" sz="1200" dirty="0"/>
          </a:p>
        </p:txBody>
      </p:sp>
      <p:sp>
        <p:nvSpPr>
          <p:cNvPr id="4" name="Slide Number Placeholder 3">
            <a:extLst>
              <a:ext uri="{FF2B5EF4-FFF2-40B4-BE49-F238E27FC236}">
                <a16:creationId xmlns:a16="http://schemas.microsoft.com/office/drawing/2014/main" id="{B0E4DC8A-2F47-F2A5-1695-192C3A11AE2F}"/>
              </a:ext>
            </a:extLst>
          </p:cNvPr>
          <p:cNvSpPr>
            <a:spLocks noGrp="1"/>
          </p:cNvSpPr>
          <p:nvPr>
            <p:ph type="sldNum" sz="quarter" idx="5"/>
          </p:nvPr>
        </p:nvSpPr>
        <p:spPr/>
        <p:txBody>
          <a:bodyPr/>
          <a:lstStyle/>
          <a:p>
            <a:fld id="{FFB500C5-13F7-48FC-8160-C29AECF6C602}" type="slidenum">
              <a:rPr lang="en-US" smtClean="0"/>
              <a:t>7</a:t>
            </a:fld>
            <a:endParaRPr lang="en-US"/>
          </a:p>
        </p:txBody>
      </p:sp>
    </p:spTree>
    <p:extLst>
      <p:ext uri="{BB962C8B-B14F-4D97-AF65-F5344CB8AC3E}">
        <p14:creationId xmlns:p14="http://schemas.microsoft.com/office/powerpoint/2010/main" val="41733651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For this exercise, I want you to practice turning a vague, unusable prompt into something </a:t>
            </a:r>
          </a:p>
          <a:p>
            <a:endParaRPr lang="en-US" sz="1200" dirty="0"/>
          </a:p>
          <a:p>
            <a:r>
              <a:rPr lang="en-US" sz="1200" dirty="0"/>
              <a:t>Copilot can actually execute.</a:t>
            </a:r>
          </a:p>
          <a:p>
            <a:endParaRPr lang="en-US" sz="1200" dirty="0"/>
          </a:p>
          <a:p>
            <a:r>
              <a:rPr lang="en-US" sz="1200" dirty="0"/>
              <a:t>The original prompt is just: </a:t>
            </a:r>
            <a:r>
              <a:rPr lang="en-US" sz="1200" i="1" dirty="0"/>
              <a:t>“Analyze this.”</a:t>
            </a:r>
            <a:br>
              <a:rPr lang="en-US" sz="1200" dirty="0"/>
            </a:br>
            <a:endParaRPr lang="en-US" sz="1200" dirty="0"/>
          </a:p>
          <a:p>
            <a:r>
              <a:rPr lang="en-US" sz="1200" dirty="0"/>
              <a:t>That tells Copilot almost nothing. There’s no data context, no definition of success, and no guidance on what the output should look like.</a:t>
            </a:r>
          </a:p>
          <a:p>
            <a:endParaRPr lang="en-US" sz="1200" dirty="0"/>
          </a:p>
          <a:p>
            <a:r>
              <a:rPr lang="en-US" sz="1200" dirty="0"/>
              <a:t>Your job is to rewrite that prompt so it meets three criteria.</a:t>
            </a:r>
          </a:p>
          <a:p>
            <a:br>
              <a:rPr lang="en-US" sz="1200" dirty="0"/>
            </a:br>
            <a:r>
              <a:rPr lang="en-US" sz="1200" dirty="0"/>
              <a:t>First, </a:t>
            </a:r>
            <a:r>
              <a:rPr lang="en-US" sz="1200" b="1" dirty="0"/>
              <a:t>name the data source</a:t>
            </a:r>
            <a:r>
              <a:rPr lang="en-US" sz="1200" dirty="0"/>
              <a:t>.</a:t>
            </a:r>
            <a:br>
              <a:rPr lang="en-US" sz="1200" dirty="0"/>
            </a:br>
            <a:r>
              <a:rPr lang="en-US" sz="1200" dirty="0"/>
              <a:t>Tell Copilot exactly what it should analyze—whether that’s a table, a worksheet, or a specific column range.</a:t>
            </a:r>
          </a:p>
          <a:p>
            <a:endParaRPr lang="en-US" sz="1200" dirty="0"/>
          </a:p>
          <a:p>
            <a:r>
              <a:rPr lang="en-US" sz="1200" dirty="0"/>
              <a:t>Second, </a:t>
            </a:r>
            <a:r>
              <a:rPr lang="en-US" sz="1200" b="1" dirty="0"/>
              <a:t>define the metric</a:t>
            </a:r>
            <a:r>
              <a:rPr lang="en-US" sz="1200" dirty="0"/>
              <a:t>.</a:t>
            </a:r>
            <a:br>
              <a:rPr lang="en-US" sz="1200" dirty="0"/>
            </a:br>
            <a:r>
              <a:rPr lang="en-US" sz="1200" dirty="0"/>
              <a:t>What does “analyze” actually mean here? Are we summarizing totals, calculating averages, identifying trends, or comparing categories? Be explicit.</a:t>
            </a:r>
          </a:p>
          <a:p>
            <a:endParaRPr lang="en-US" sz="1200" dirty="0"/>
          </a:p>
          <a:p>
            <a:r>
              <a:rPr lang="en-US" sz="1200" dirty="0"/>
              <a:t>Third, </a:t>
            </a:r>
            <a:r>
              <a:rPr lang="en-US" sz="1200" b="1" dirty="0"/>
              <a:t>specify the output format</a:t>
            </a:r>
            <a:r>
              <a:rPr lang="en-US" sz="1200" dirty="0"/>
              <a:t>.</a:t>
            </a:r>
            <a:br>
              <a:rPr lang="en-US" sz="1200" dirty="0"/>
            </a:br>
            <a:r>
              <a:rPr lang="en-US" sz="1200" dirty="0"/>
              <a:t>Should the result be a summary table, bullet points, a chart, or a written explanation? Copilot needs to know what “done” looks like.</a:t>
            </a:r>
          </a:p>
          <a:p>
            <a:endParaRPr lang="en-US" sz="1200" dirty="0"/>
          </a:p>
          <a:p>
            <a:r>
              <a:rPr lang="en-US" sz="1200" dirty="0"/>
              <a:t>If you hit all three—data source, metric, and output format—you’ve transformed a useless prompt into a clear set of instructions. That’s the difference between hoping Copilot guesses correctly and actually controlling the result.</a:t>
            </a:r>
          </a:p>
          <a:p>
            <a:endParaRPr lang="en-US" sz="1200" dirty="0"/>
          </a:p>
          <a:p>
            <a:r>
              <a:rPr lang="en-US" sz="1200" dirty="0"/>
              <a:t>This is the core pattern we’ll reuse throughout the session.</a:t>
            </a:r>
          </a:p>
          <a:p>
            <a:endParaRPr lang="en-US" sz="1200" dirty="0"/>
          </a:p>
        </p:txBody>
      </p:sp>
      <p:sp>
        <p:nvSpPr>
          <p:cNvPr id="4" name="Slide Number Placeholder 3"/>
          <p:cNvSpPr>
            <a:spLocks noGrp="1"/>
          </p:cNvSpPr>
          <p:nvPr>
            <p:ph type="sldNum" sz="quarter" idx="5"/>
          </p:nvPr>
        </p:nvSpPr>
        <p:spPr/>
        <p:txBody>
          <a:bodyPr/>
          <a:lstStyle/>
          <a:p>
            <a:fld id="{1300335D-9F13-4B80-ADC5-B0EA3E10FF6B}" type="slidenum">
              <a:rPr lang="en-US" smtClean="0"/>
              <a:t>8</a:t>
            </a:fld>
            <a:endParaRPr lang="en-US"/>
          </a:p>
        </p:txBody>
      </p:sp>
    </p:spTree>
    <p:extLst>
      <p:ext uri="{BB962C8B-B14F-4D97-AF65-F5344CB8AC3E}">
        <p14:creationId xmlns:p14="http://schemas.microsoft.com/office/powerpoint/2010/main" val="624549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374EF-2713-3155-EC1F-5469BBFD34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4AE94-08AF-CB45-1D38-8F8EAC1646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0AB033-6E6E-1802-6A3F-D0CB463092B3}"/>
              </a:ext>
            </a:extLst>
          </p:cNvPr>
          <p:cNvSpPr>
            <a:spLocks noGrp="1"/>
          </p:cNvSpPr>
          <p:nvPr>
            <p:ph type="body" idx="1"/>
          </p:nvPr>
        </p:nvSpPr>
        <p:spPr/>
        <p:txBody>
          <a:bodyPr/>
          <a:lstStyle/>
          <a:p>
            <a:r>
              <a:rPr lang="en-US" sz="1200" dirty="0"/>
              <a:t>For this exercise, I want you to practice turning a vague, unusable prompt into something </a:t>
            </a:r>
          </a:p>
          <a:p>
            <a:endParaRPr lang="en-US" sz="1200" dirty="0"/>
          </a:p>
          <a:p>
            <a:r>
              <a:rPr lang="en-US" sz="1200" dirty="0"/>
              <a:t>Copilot can actually execute.</a:t>
            </a:r>
          </a:p>
          <a:p>
            <a:endParaRPr lang="en-US" sz="1200" dirty="0"/>
          </a:p>
          <a:p>
            <a:r>
              <a:rPr lang="en-US" sz="1200" dirty="0"/>
              <a:t>The original prompt is just: </a:t>
            </a:r>
            <a:r>
              <a:rPr lang="en-US" sz="1200" i="1" dirty="0"/>
              <a:t>“Analyze this.”</a:t>
            </a:r>
            <a:br>
              <a:rPr lang="en-US" sz="1200" dirty="0"/>
            </a:br>
            <a:endParaRPr lang="en-US" sz="1200" dirty="0"/>
          </a:p>
          <a:p>
            <a:r>
              <a:rPr lang="en-US" sz="1200" dirty="0"/>
              <a:t>That tells Copilot almost nothing. There’s no data context, no definition of success, and no guidance on what the output should look like.</a:t>
            </a:r>
          </a:p>
          <a:p>
            <a:endParaRPr lang="en-US" sz="1200" dirty="0"/>
          </a:p>
          <a:p>
            <a:r>
              <a:rPr lang="en-US" sz="1200" dirty="0"/>
              <a:t>Your job is to rewrite that prompt so it meets three criteria.</a:t>
            </a:r>
          </a:p>
          <a:p>
            <a:br>
              <a:rPr lang="en-US" sz="1200" dirty="0"/>
            </a:br>
            <a:r>
              <a:rPr lang="en-US" sz="1200" dirty="0"/>
              <a:t>First, </a:t>
            </a:r>
            <a:r>
              <a:rPr lang="en-US" sz="1200" b="1" dirty="0"/>
              <a:t>name the data source</a:t>
            </a:r>
            <a:r>
              <a:rPr lang="en-US" sz="1200" dirty="0"/>
              <a:t>.</a:t>
            </a:r>
            <a:br>
              <a:rPr lang="en-US" sz="1200" dirty="0"/>
            </a:br>
            <a:r>
              <a:rPr lang="en-US" sz="1200" dirty="0"/>
              <a:t>Tell Copilot exactly what it should analyze—whether that’s a table, a worksheet, or a specific column range.</a:t>
            </a:r>
          </a:p>
          <a:p>
            <a:endParaRPr lang="en-US" sz="1200" dirty="0"/>
          </a:p>
          <a:p>
            <a:r>
              <a:rPr lang="en-US" sz="1200" dirty="0"/>
              <a:t>Second, </a:t>
            </a:r>
            <a:r>
              <a:rPr lang="en-US" sz="1200" b="1" dirty="0"/>
              <a:t>define the metric</a:t>
            </a:r>
            <a:r>
              <a:rPr lang="en-US" sz="1200" dirty="0"/>
              <a:t>.</a:t>
            </a:r>
            <a:br>
              <a:rPr lang="en-US" sz="1200" dirty="0"/>
            </a:br>
            <a:r>
              <a:rPr lang="en-US" sz="1200" dirty="0"/>
              <a:t>What does “analyze” actually mean here? Are we summarizing totals, calculating averages, identifying trends, or comparing categories? Be explicit.</a:t>
            </a:r>
          </a:p>
          <a:p>
            <a:endParaRPr lang="en-US" sz="1200" dirty="0"/>
          </a:p>
          <a:p>
            <a:r>
              <a:rPr lang="en-US" sz="1200" dirty="0"/>
              <a:t>Third, </a:t>
            </a:r>
            <a:r>
              <a:rPr lang="en-US" sz="1200" b="1" dirty="0"/>
              <a:t>specify the output format</a:t>
            </a:r>
            <a:r>
              <a:rPr lang="en-US" sz="1200" dirty="0"/>
              <a:t>.</a:t>
            </a:r>
            <a:br>
              <a:rPr lang="en-US" sz="1200" dirty="0"/>
            </a:br>
            <a:r>
              <a:rPr lang="en-US" sz="1200" dirty="0"/>
              <a:t>Should the result be a summary table, bullet points, a chart, or a written explanation? Copilot needs to know what “done” looks like.</a:t>
            </a:r>
          </a:p>
          <a:p>
            <a:endParaRPr lang="en-US" sz="1200" dirty="0"/>
          </a:p>
          <a:p>
            <a:r>
              <a:rPr lang="en-US" sz="1200" dirty="0"/>
              <a:t>If you hit all three—data source, metric, and output format—you’ve transformed a useless prompt into a clear set of instructions. That’s the difference between hoping Copilot guesses correctly and actually controlling the result.</a:t>
            </a:r>
          </a:p>
          <a:p>
            <a:endParaRPr lang="en-US" sz="1200" dirty="0"/>
          </a:p>
          <a:p>
            <a:r>
              <a:rPr lang="en-US" sz="1200" dirty="0"/>
              <a:t>This is the core pattern we’ll reuse throughout the session.</a:t>
            </a:r>
          </a:p>
          <a:p>
            <a:endParaRPr lang="en-US" sz="1200" dirty="0"/>
          </a:p>
        </p:txBody>
      </p:sp>
      <p:sp>
        <p:nvSpPr>
          <p:cNvPr id="4" name="Slide Number Placeholder 3">
            <a:extLst>
              <a:ext uri="{FF2B5EF4-FFF2-40B4-BE49-F238E27FC236}">
                <a16:creationId xmlns:a16="http://schemas.microsoft.com/office/drawing/2014/main" id="{BD93CC94-24CB-4464-AF3A-08CB44BB36BF}"/>
              </a:ext>
            </a:extLst>
          </p:cNvPr>
          <p:cNvSpPr>
            <a:spLocks noGrp="1"/>
          </p:cNvSpPr>
          <p:nvPr>
            <p:ph type="sldNum" sz="quarter" idx="5"/>
          </p:nvPr>
        </p:nvSpPr>
        <p:spPr/>
        <p:txBody>
          <a:bodyPr/>
          <a:lstStyle/>
          <a:p>
            <a:fld id="{1300335D-9F13-4B80-ADC5-B0EA3E10FF6B}" type="slidenum">
              <a:rPr lang="en-US" smtClean="0"/>
              <a:t>9</a:t>
            </a:fld>
            <a:endParaRPr lang="en-US"/>
          </a:p>
        </p:txBody>
      </p:sp>
    </p:spTree>
    <p:extLst>
      <p:ext uri="{BB962C8B-B14F-4D97-AF65-F5344CB8AC3E}">
        <p14:creationId xmlns:p14="http://schemas.microsoft.com/office/powerpoint/2010/main" val="2990954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2ABDB-44EA-DA6C-356C-E25EAFFFB7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3F0D4E-0281-B2F8-1E97-7EC478D4EF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CC7324-0EA4-3DD9-DEF2-26100E3B9156}"/>
              </a:ext>
            </a:extLst>
          </p:cNvPr>
          <p:cNvSpPr>
            <a:spLocks noGrp="1"/>
          </p:cNvSpPr>
          <p:nvPr>
            <p:ph type="body" idx="1"/>
          </p:nvPr>
        </p:nvSpPr>
        <p:spPr/>
        <p:txBody>
          <a:bodyPr/>
          <a:lstStyle/>
          <a:p>
            <a:r>
              <a:rPr lang="en-US" sz="1200" dirty="0"/>
              <a:t>This is the repeatable pattern I want you to take away.</a:t>
            </a:r>
          </a:p>
          <a:p>
            <a:endParaRPr lang="en-US" sz="1200" dirty="0"/>
          </a:p>
          <a:p>
            <a:r>
              <a:rPr lang="en-US" sz="1200" dirty="0"/>
              <a:t>First, </a:t>
            </a:r>
            <a:r>
              <a:rPr lang="en-US" sz="1200" b="1" dirty="0"/>
              <a:t>name the table or data source</a:t>
            </a:r>
            <a:r>
              <a:rPr lang="en-US" sz="1200" dirty="0"/>
              <a:t> so Copilot knows exactly what it’s working with.</a:t>
            </a:r>
            <a:br>
              <a:rPr lang="en-US" sz="1200" dirty="0"/>
            </a:br>
            <a:endParaRPr lang="en-US" sz="1200" dirty="0"/>
          </a:p>
          <a:p>
            <a:r>
              <a:rPr lang="en-US" sz="1200" dirty="0"/>
              <a:t>Second, </a:t>
            </a:r>
            <a:r>
              <a:rPr lang="en-US" sz="1200" b="1" dirty="0"/>
              <a:t>specify the metric</a:t>
            </a:r>
            <a:r>
              <a:rPr lang="en-US" sz="1200" dirty="0"/>
              <a:t>—don’t say “analyze,” say what to calculate or summarize.</a:t>
            </a:r>
            <a:br>
              <a:rPr lang="en-US" sz="1200" dirty="0"/>
            </a:br>
            <a:endParaRPr lang="en-US" sz="1200" dirty="0"/>
          </a:p>
          <a:p>
            <a:r>
              <a:rPr lang="en-US" sz="1200" dirty="0"/>
              <a:t>Third, </a:t>
            </a:r>
            <a:r>
              <a:rPr lang="en-US" sz="1200" b="1" dirty="0"/>
              <a:t>choose the format</a:t>
            </a:r>
            <a:r>
              <a:rPr lang="en-US" sz="1200" dirty="0"/>
              <a:t>, because output shape matters as much as the math.</a:t>
            </a:r>
            <a:br>
              <a:rPr lang="en-US" sz="1200" dirty="0"/>
            </a:br>
            <a:endParaRPr lang="en-US" sz="1200" dirty="0"/>
          </a:p>
          <a:p>
            <a:r>
              <a:rPr lang="en-US" sz="1200" dirty="0"/>
              <a:t>Fourth, </a:t>
            </a:r>
            <a:r>
              <a:rPr lang="en-US" sz="1200" b="1" dirty="0"/>
              <a:t>tell Copilot the audience</a:t>
            </a:r>
            <a:r>
              <a:rPr lang="en-US" sz="1200" dirty="0"/>
              <a:t>, which controls tone, depth, and vocabulary.</a:t>
            </a:r>
          </a:p>
          <a:p>
            <a:endParaRPr lang="en-US" sz="1200" dirty="0"/>
          </a:p>
          <a:p>
            <a:r>
              <a:rPr lang="en-US" sz="1200" dirty="0"/>
              <a:t>And finally, </a:t>
            </a:r>
            <a:r>
              <a:rPr lang="en-US" sz="1200" b="1" dirty="0"/>
              <a:t>iterate with intent</a:t>
            </a:r>
            <a:r>
              <a:rPr lang="en-US" sz="1200" dirty="0"/>
              <a:t>. Don’t just rerun the prompt—adjust one thing at a time so you stay in control of the result.</a:t>
            </a:r>
          </a:p>
          <a:p>
            <a:endParaRPr lang="en-US" sz="1200" dirty="0"/>
          </a:p>
          <a:p>
            <a:r>
              <a:rPr lang="en-US" sz="1200" dirty="0"/>
              <a:t>If you follow this sequence, Copilot stops feeling unpredictable and starts acting like a junior analyst you can actually direct.</a:t>
            </a:r>
          </a:p>
          <a:p>
            <a:endParaRPr lang="en-US" sz="1200" dirty="0"/>
          </a:p>
        </p:txBody>
      </p:sp>
      <p:sp>
        <p:nvSpPr>
          <p:cNvPr id="4" name="Slide Number Placeholder 3">
            <a:extLst>
              <a:ext uri="{FF2B5EF4-FFF2-40B4-BE49-F238E27FC236}">
                <a16:creationId xmlns:a16="http://schemas.microsoft.com/office/drawing/2014/main" id="{AF0BC683-8951-F1EB-0067-964F391CC1CF}"/>
              </a:ext>
            </a:extLst>
          </p:cNvPr>
          <p:cNvSpPr>
            <a:spLocks noGrp="1"/>
          </p:cNvSpPr>
          <p:nvPr>
            <p:ph type="sldNum" sz="quarter" idx="5"/>
          </p:nvPr>
        </p:nvSpPr>
        <p:spPr/>
        <p:txBody>
          <a:bodyPr/>
          <a:lstStyle/>
          <a:p>
            <a:fld id="{FFB500C5-13F7-48FC-8160-C29AECF6C602}" type="slidenum">
              <a:rPr lang="en-US" smtClean="0"/>
              <a:t>10</a:t>
            </a:fld>
            <a:endParaRPr lang="en-US"/>
          </a:p>
        </p:txBody>
      </p:sp>
    </p:spTree>
    <p:extLst>
      <p:ext uri="{BB962C8B-B14F-4D97-AF65-F5344CB8AC3E}">
        <p14:creationId xmlns:p14="http://schemas.microsoft.com/office/powerpoint/2010/main" val="4149651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Excel Copilot Prompt Diagnostics</a:t>
            </a:r>
          </a:p>
        </p:txBody>
      </p:sp>
      <p:sp>
        <p:nvSpPr>
          <p:cNvPr id="2" name="AutoShape 2" descr="Home | Full Stack Modeller">
            <a:extLst>
              <a:ext uri="{FF2B5EF4-FFF2-40B4-BE49-F238E27FC236}">
                <a16:creationId xmlns:a16="http://schemas.microsoft.com/office/drawing/2014/main" id="{6CCAA77C-4E76-640C-066C-F3E39EE1AC9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6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20861" y="170082"/>
            <a:ext cx="11979797" cy="1477328"/>
          </a:xfrm>
          <a:prstGeom prst="rect">
            <a:avLst/>
          </a:prstGeom>
          <a:noFill/>
        </p:spPr>
        <p:txBody>
          <a:bodyPr wrap="square" rtlCol="0">
            <a:spAutoFit/>
          </a:bodyPr>
          <a:lstStyle/>
          <a:p>
            <a:r>
              <a:rPr lang="en-US" sz="9000" dirty="0">
                <a:latin typeface="Aliens &amp; cows" panose="00000500000000000000" pitchFamily="2" charset="0"/>
              </a:rPr>
              <a:t>Objectives for this lesson</a:t>
            </a:r>
          </a:p>
        </p:txBody>
      </p:sp>
      <p:sp>
        <p:nvSpPr>
          <p:cNvPr id="3" name="TextBox 2"/>
          <p:cNvSpPr txBox="1"/>
          <p:nvPr/>
        </p:nvSpPr>
        <p:spPr>
          <a:xfrm>
            <a:off x="520861" y="3191948"/>
            <a:ext cx="14393120" cy="2677656"/>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Prompt Copilot using tables, columns, and workbook objects</a:t>
            </a:r>
          </a:p>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Control outputs using clear constraints and formats</a:t>
            </a:r>
          </a:p>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Diagnose weak prompts and fix them fast</a:t>
            </a:r>
          </a:p>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Apply repeatable prompt patterns used by analysts</a:t>
            </a:r>
          </a:p>
        </p:txBody>
      </p:sp>
      <p:pic>
        <p:nvPicPr>
          <p:cNvPr id="15" name="Picture 14" descr="A close up of a sign&#10;&#10;Description automatically generated">
            <a:extLst>
              <a:ext uri="{FF2B5EF4-FFF2-40B4-BE49-F238E27FC236}">
                <a16:creationId xmlns:a16="http://schemas.microsoft.com/office/drawing/2014/main" id="{29761B90-A7DE-4A60-A915-F085BD87CA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87076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33C60-80A2-F065-DD48-A92FF3AFB49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7EB3963-7B31-1FA9-D509-4E12DFCB794D}"/>
              </a:ext>
            </a:extLst>
          </p:cNvPr>
          <p:cNvSpPr txBox="1"/>
          <p:nvPr/>
        </p:nvSpPr>
        <p:spPr>
          <a:xfrm>
            <a:off x="520861" y="170082"/>
            <a:ext cx="16928939" cy="2308324"/>
          </a:xfrm>
          <a:prstGeom prst="rect">
            <a:avLst/>
          </a:prstGeom>
          <a:noFill/>
        </p:spPr>
        <p:txBody>
          <a:bodyPr wrap="square" rtlCol="0">
            <a:spAutoFit/>
          </a:bodyPr>
          <a:lstStyle/>
          <a:p>
            <a:r>
              <a:rPr lang="en-US" sz="7200" dirty="0">
                <a:latin typeface="Aliens &amp; cows" panose="00000500000000000000" pitchFamily="2" charset="0"/>
              </a:rPr>
              <a:t>What is Copilot in Excel, really? How does it work?</a:t>
            </a:r>
          </a:p>
        </p:txBody>
      </p:sp>
      <p:sp>
        <p:nvSpPr>
          <p:cNvPr id="3" name="TextBox 2">
            <a:extLst>
              <a:ext uri="{FF2B5EF4-FFF2-40B4-BE49-F238E27FC236}">
                <a16:creationId xmlns:a16="http://schemas.microsoft.com/office/drawing/2014/main" id="{FA707533-F726-2DE5-DCCA-DB37B4B5D991}"/>
              </a:ext>
            </a:extLst>
          </p:cNvPr>
          <p:cNvSpPr txBox="1"/>
          <p:nvPr/>
        </p:nvSpPr>
        <p:spPr>
          <a:xfrm>
            <a:off x="520861" y="3191948"/>
            <a:ext cx="14393120" cy="2677656"/>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Prompt Copilot using tables, columns, and workbook objects</a:t>
            </a:r>
          </a:p>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Control outputs using clear constraints and formats</a:t>
            </a:r>
          </a:p>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Diagnose weak prompts and fix them fast</a:t>
            </a:r>
          </a:p>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Apply repeatable prompt patterns used by analysts</a:t>
            </a:r>
          </a:p>
        </p:txBody>
      </p:sp>
      <p:pic>
        <p:nvPicPr>
          <p:cNvPr id="15" name="Picture 14" descr="A close up of a sign&#10;&#10;Description automatically generated">
            <a:extLst>
              <a:ext uri="{FF2B5EF4-FFF2-40B4-BE49-F238E27FC236}">
                <a16:creationId xmlns:a16="http://schemas.microsoft.com/office/drawing/2014/main" id="{B45592AA-4565-78E6-C958-2F60F3DCE2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pic>
        <p:nvPicPr>
          <p:cNvPr id="2" name="Picture 2" descr="Microsoft 365 Copilot 2025 Pricing, Features, Reviews &amp; Alternatives |  GetApp">
            <a:extLst>
              <a:ext uri="{FF2B5EF4-FFF2-40B4-BE49-F238E27FC236}">
                <a16:creationId xmlns:a16="http://schemas.microsoft.com/office/drawing/2014/main" id="{3A5ADEDE-F420-CC09-AAFF-3E0788B7CB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24033" y="4076700"/>
            <a:ext cx="3288431" cy="328843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Microsoft Excel - Wikipedia">
            <a:extLst>
              <a:ext uri="{FF2B5EF4-FFF2-40B4-BE49-F238E27FC236}">
                <a16:creationId xmlns:a16="http://schemas.microsoft.com/office/drawing/2014/main" id="{1CD830A2-777E-652C-E424-F0929EDD37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57033" y="6771674"/>
            <a:ext cx="2667000" cy="2744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6574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C4047-6AE7-EA54-E97C-8FD6C67869F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68E35D0-020D-7C4C-6111-D28C836DA3D5}"/>
              </a:ext>
            </a:extLst>
          </p:cNvPr>
          <p:cNvSpPr txBox="1"/>
          <p:nvPr/>
        </p:nvSpPr>
        <p:spPr>
          <a:xfrm>
            <a:off x="520861" y="170082"/>
            <a:ext cx="16928939" cy="1200329"/>
          </a:xfrm>
          <a:prstGeom prst="rect">
            <a:avLst/>
          </a:prstGeom>
          <a:noFill/>
        </p:spPr>
        <p:txBody>
          <a:bodyPr wrap="square" rtlCol="0">
            <a:spAutoFit/>
          </a:bodyPr>
          <a:lstStyle/>
          <a:p>
            <a:r>
              <a:rPr lang="en-US" sz="7200" dirty="0">
                <a:latin typeface="Aliens &amp; cows" panose="00000500000000000000" pitchFamily="2" charset="0"/>
              </a:rPr>
              <a:t>How Copilot “sees” Excel</a:t>
            </a:r>
          </a:p>
        </p:txBody>
      </p:sp>
      <p:pic>
        <p:nvPicPr>
          <p:cNvPr id="15" name="Picture 14" descr="A close up of a sign&#10;&#10;Description automatically generated">
            <a:extLst>
              <a:ext uri="{FF2B5EF4-FFF2-40B4-BE49-F238E27FC236}">
                <a16:creationId xmlns:a16="http://schemas.microsoft.com/office/drawing/2014/main" id="{5382341B-B068-C56E-8CEE-FC58F419BC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pic>
        <p:nvPicPr>
          <p:cNvPr id="5" name="Picture 4">
            <a:extLst>
              <a:ext uri="{FF2B5EF4-FFF2-40B4-BE49-F238E27FC236}">
                <a16:creationId xmlns:a16="http://schemas.microsoft.com/office/drawing/2014/main" id="{4613A412-C0BF-36B9-0B84-8CA1FD793894}"/>
              </a:ext>
            </a:extLst>
          </p:cNvPr>
          <p:cNvPicPr>
            <a:picLocks noChangeAspect="1"/>
          </p:cNvPicPr>
          <p:nvPr/>
        </p:nvPicPr>
        <p:blipFill>
          <a:blip r:embed="rId4"/>
          <a:stretch>
            <a:fillRect/>
          </a:stretch>
        </p:blipFill>
        <p:spPr>
          <a:xfrm>
            <a:off x="2057400" y="1943100"/>
            <a:ext cx="12420600" cy="7353232"/>
          </a:xfrm>
          <a:prstGeom prst="rect">
            <a:avLst/>
          </a:prstGeom>
        </p:spPr>
      </p:pic>
    </p:spTree>
    <p:extLst>
      <p:ext uri="{BB962C8B-B14F-4D97-AF65-F5344CB8AC3E}">
        <p14:creationId xmlns:p14="http://schemas.microsoft.com/office/powerpoint/2010/main" val="809145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B5132-9FAC-C1C9-822A-70C656616BD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CCC9DDB-8619-8424-D922-E6CF43B58635}"/>
              </a:ext>
            </a:extLst>
          </p:cNvPr>
          <p:cNvSpPr txBox="1"/>
          <p:nvPr/>
        </p:nvSpPr>
        <p:spPr>
          <a:xfrm>
            <a:off x="520861" y="170082"/>
            <a:ext cx="16014539" cy="1477328"/>
          </a:xfrm>
          <a:prstGeom prst="rect">
            <a:avLst/>
          </a:prstGeom>
          <a:noFill/>
        </p:spPr>
        <p:txBody>
          <a:bodyPr wrap="square" rtlCol="0">
            <a:spAutoFit/>
          </a:bodyPr>
          <a:lstStyle/>
          <a:p>
            <a:r>
              <a:rPr lang="en-US" sz="9000" dirty="0">
                <a:latin typeface="Aliens &amp; cows" panose="00000500000000000000" pitchFamily="2" charset="0"/>
              </a:rPr>
              <a:t>Weak vs strong Excel prompt</a:t>
            </a:r>
          </a:p>
        </p:txBody>
      </p:sp>
      <p:sp>
        <p:nvSpPr>
          <p:cNvPr id="3" name="TextBox 2">
            <a:extLst>
              <a:ext uri="{FF2B5EF4-FFF2-40B4-BE49-F238E27FC236}">
                <a16:creationId xmlns:a16="http://schemas.microsoft.com/office/drawing/2014/main" id="{AF4EAA44-47AD-6B16-F0FC-1A4118C515A0}"/>
              </a:ext>
            </a:extLst>
          </p:cNvPr>
          <p:cNvSpPr txBox="1"/>
          <p:nvPr/>
        </p:nvSpPr>
        <p:spPr>
          <a:xfrm>
            <a:off x="262484" y="1866900"/>
            <a:ext cx="17763032" cy="20374808"/>
          </a:xfrm>
          <a:prstGeom prst="rect">
            <a:avLst/>
          </a:prstGeom>
          <a:noFill/>
        </p:spPr>
        <p:txBody>
          <a:bodyPr wrap="square" numCol="2" rtlCol="0">
            <a:spAutoFit/>
          </a:bodyPr>
          <a:lstStyle/>
          <a:p>
            <a:r>
              <a:rPr lang="en-US" sz="4400" b="1" dirty="0"/>
              <a:t>Weak Prompt – Why It Fails</a:t>
            </a:r>
          </a:p>
          <a:p>
            <a:r>
              <a:rPr lang="en-US" sz="4400" dirty="0"/>
              <a:t>“Analyze this.”</a:t>
            </a:r>
          </a:p>
          <a:p>
            <a:endParaRPr lang="en-US" sz="4400" dirty="0"/>
          </a:p>
          <a:p>
            <a:r>
              <a:rPr lang="en-US" sz="4400" dirty="0"/>
              <a:t>Problems:</a:t>
            </a:r>
          </a:p>
          <a:p>
            <a:pPr marL="342900" indent="-342900">
              <a:buFont typeface="Arial" panose="020B0604020202020204" pitchFamily="34" charset="0"/>
              <a:buChar char="•"/>
            </a:pPr>
            <a:r>
              <a:rPr lang="pt-BR" sz="4400" dirty="0"/>
              <a:t>No table</a:t>
            </a:r>
          </a:p>
          <a:p>
            <a:pPr marL="342900" indent="-342900">
              <a:buFont typeface="Arial" panose="020B0604020202020204" pitchFamily="34" charset="0"/>
              <a:buChar char="•"/>
            </a:pPr>
            <a:r>
              <a:rPr lang="pt-BR" sz="4400" dirty="0"/>
              <a:t>No metric</a:t>
            </a:r>
          </a:p>
          <a:p>
            <a:pPr marL="342900" indent="-342900">
              <a:buFont typeface="Arial" panose="020B0604020202020204" pitchFamily="34" charset="0"/>
              <a:buChar char="•"/>
            </a:pPr>
            <a:r>
              <a:rPr lang="pt-BR" sz="4400" dirty="0"/>
              <a:t>No output format</a:t>
            </a:r>
            <a:endParaRPr lang="en-US" sz="4400" dirty="0"/>
          </a:p>
          <a:p>
            <a:endParaRPr lang="en-US" sz="4400" dirty="0"/>
          </a:p>
          <a:p>
            <a:endParaRPr lang="en-US" sz="4400" dirty="0"/>
          </a:p>
          <a:p>
            <a:endParaRPr lang="en-US" sz="4400" dirty="0"/>
          </a:p>
          <a:p>
            <a:endParaRPr lang="en-US" sz="4400" dirty="0"/>
          </a:p>
          <a:p>
            <a:endParaRPr lang="en-US" sz="4400" dirty="0"/>
          </a:p>
          <a:p>
            <a:endParaRPr lang="en-US" sz="4400" dirty="0"/>
          </a:p>
          <a:p>
            <a:endParaRPr lang="en-US" sz="4400" dirty="0"/>
          </a:p>
          <a:p>
            <a:endParaRPr lang="en-US" sz="4400" dirty="0"/>
          </a:p>
          <a:p>
            <a:endParaRPr lang="en-US" sz="4400" dirty="0"/>
          </a:p>
          <a:p>
            <a:endParaRPr lang="en-US" sz="4400" dirty="0"/>
          </a:p>
          <a:p>
            <a:endParaRPr lang="en-US" sz="4400" dirty="0"/>
          </a:p>
          <a:p>
            <a:endParaRPr lang="en-US" sz="4400" b="1" dirty="0"/>
          </a:p>
          <a:p>
            <a:endParaRPr lang="en-US" sz="4400" b="1" dirty="0"/>
          </a:p>
          <a:p>
            <a:endParaRPr lang="en-US" sz="4400" b="1" dirty="0"/>
          </a:p>
          <a:p>
            <a:endParaRPr lang="en-US" sz="4400" b="1" dirty="0"/>
          </a:p>
          <a:p>
            <a:endParaRPr lang="en-US" sz="4400" b="1" dirty="0"/>
          </a:p>
          <a:p>
            <a:endParaRPr lang="en-US" sz="4400" b="1" dirty="0"/>
          </a:p>
          <a:p>
            <a:endParaRPr lang="en-US" sz="4400" b="1" dirty="0"/>
          </a:p>
          <a:p>
            <a:endParaRPr lang="en-US" sz="4400" b="1" dirty="0"/>
          </a:p>
          <a:p>
            <a:endParaRPr lang="en-US" sz="4400" b="1" dirty="0"/>
          </a:p>
          <a:p>
            <a:endParaRPr lang="en-US" sz="4400" b="1" dirty="0"/>
          </a:p>
          <a:p>
            <a:endParaRPr lang="en-US" sz="4400" b="1" dirty="0"/>
          </a:p>
          <a:p>
            <a:endParaRPr lang="en-US" sz="4400" b="1" dirty="0"/>
          </a:p>
          <a:p>
            <a:r>
              <a:rPr lang="en-US" sz="4400" b="1" dirty="0"/>
              <a:t>Strong Prompt – Why It Works</a:t>
            </a:r>
          </a:p>
          <a:p>
            <a:r>
              <a:rPr lang="en-US" sz="4400" dirty="0"/>
              <a:t>“Analyze the </a:t>
            </a:r>
            <a:r>
              <a:rPr lang="en-US" sz="4400" dirty="0" err="1"/>
              <a:t>SalesData</a:t>
            </a:r>
            <a:r>
              <a:rPr lang="en-US" sz="4400" dirty="0"/>
              <a:t> table on the Q2 sheet. Focus on: revenue trends, top 3 outliers, and segment-level comparisons.</a:t>
            </a:r>
            <a:br>
              <a:rPr lang="en-US" sz="4400" dirty="0"/>
            </a:br>
            <a:r>
              <a:rPr lang="en-US" sz="4400" dirty="0"/>
              <a:t>Deliver: 6–8 bullet points suitable for a manager update.</a:t>
            </a:r>
            <a:br>
              <a:rPr lang="en-US" sz="4400" dirty="0"/>
            </a:br>
            <a:r>
              <a:rPr lang="en-US" sz="4400" dirty="0"/>
              <a:t>Use only the numeric columns.”</a:t>
            </a:r>
          </a:p>
          <a:p>
            <a:endParaRPr lang="en-US" sz="4400" dirty="0"/>
          </a:p>
          <a:p>
            <a:pPr marL="342900" indent="-342900">
              <a:buFont typeface="Arial" panose="020B0604020202020204" pitchFamily="34" charset="0"/>
              <a:buChar char="•"/>
            </a:pPr>
            <a:r>
              <a:rPr lang="en-US" sz="4400" dirty="0"/>
              <a:t>Named table</a:t>
            </a:r>
          </a:p>
          <a:p>
            <a:pPr marL="342900" indent="-342900">
              <a:buFont typeface="Arial" panose="020B0604020202020204" pitchFamily="34" charset="0"/>
              <a:buChar char="•"/>
            </a:pPr>
            <a:r>
              <a:rPr lang="en-US" sz="4400" dirty="0"/>
              <a:t>Clear focus</a:t>
            </a:r>
          </a:p>
          <a:p>
            <a:pPr marL="342900" indent="-342900">
              <a:buFont typeface="Arial" panose="020B0604020202020204" pitchFamily="34" charset="0"/>
              <a:buChar char="•"/>
            </a:pPr>
            <a:r>
              <a:rPr lang="en-US" sz="4400" dirty="0"/>
              <a:t>Defined output</a:t>
            </a:r>
          </a:p>
          <a:p>
            <a:endParaRPr lang="en-US" sz="4400" dirty="0"/>
          </a:p>
          <a:p>
            <a:pPr>
              <a:buClr>
                <a:srgbClr val="CF3338"/>
              </a:buClr>
            </a:pPr>
            <a:endParaRPr lang="en-US" sz="4400" dirty="0">
              <a:solidFill>
                <a:srgbClr val="707070"/>
              </a:solidFill>
              <a:latin typeface="Pragmatica" panose="020B0403040502020204" pitchFamily="34" charset="0"/>
            </a:endParaRPr>
          </a:p>
        </p:txBody>
      </p:sp>
      <p:pic>
        <p:nvPicPr>
          <p:cNvPr id="15" name="Picture 14" descr="A close up of a sign&#10;&#10;Description automatically generated">
            <a:extLst>
              <a:ext uri="{FF2B5EF4-FFF2-40B4-BE49-F238E27FC236}">
                <a16:creationId xmlns:a16="http://schemas.microsoft.com/office/drawing/2014/main" id="{35B23D0C-DF7E-FB4E-5A57-6C603B0126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810609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ED923-700E-2232-2A8A-38FC4007B6F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6F328D8-003D-E872-C041-75D1DDB8E5A9}"/>
              </a:ext>
            </a:extLst>
          </p:cNvPr>
          <p:cNvSpPr txBox="1"/>
          <p:nvPr/>
        </p:nvSpPr>
        <p:spPr>
          <a:xfrm>
            <a:off x="520861" y="170082"/>
            <a:ext cx="16928939" cy="1200329"/>
          </a:xfrm>
          <a:prstGeom prst="rect">
            <a:avLst/>
          </a:prstGeom>
          <a:noFill/>
        </p:spPr>
        <p:txBody>
          <a:bodyPr wrap="square" rtlCol="0">
            <a:spAutoFit/>
          </a:bodyPr>
          <a:lstStyle/>
          <a:p>
            <a:r>
              <a:rPr lang="en-US" sz="7200" dirty="0">
                <a:latin typeface="Aliens &amp; cows" panose="00000500000000000000" pitchFamily="2" charset="0"/>
              </a:rPr>
              <a:t>Prompt diagnostic framework</a:t>
            </a:r>
          </a:p>
        </p:txBody>
      </p:sp>
      <p:pic>
        <p:nvPicPr>
          <p:cNvPr id="15" name="Picture 14" descr="A close up of a sign&#10;&#10;Description automatically generated">
            <a:extLst>
              <a:ext uri="{FF2B5EF4-FFF2-40B4-BE49-F238E27FC236}">
                <a16:creationId xmlns:a16="http://schemas.microsoft.com/office/drawing/2014/main" id="{C02A9B91-59CE-36CF-0188-E745782FA5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graphicFrame>
        <p:nvGraphicFramePr>
          <p:cNvPr id="5" name="Diagram 4">
            <a:extLst>
              <a:ext uri="{FF2B5EF4-FFF2-40B4-BE49-F238E27FC236}">
                <a16:creationId xmlns:a16="http://schemas.microsoft.com/office/drawing/2014/main" id="{092E9CA5-1C06-3CCA-B46E-D4BEE7105B2E}"/>
              </a:ext>
            </a:extLst>
          </p:cNvPr>
          <p:cNvGraphicFramePr/>
          <p:nvPr>
            <p:extLst>
              <p:ext uri="{D42A27DB-BD31-4B8C-83A1-F6EECF244321}">
                <p14:modId xmlns:p14="http://schemas.microsoft.com/office/powerpoint/2010/main" val="188387429"/>
              </p:ext>
            </p:extLst>
          </p:nvPr>
        </p:nvGraphicFramePr>
        <p:xfrm>
          <a:off x="1752600" y="1485900"/>
          <a:ext cx="14020800" cy="8077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80782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9D3A7-44FA-7B5D-57CC-24CD6E97C52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BD1FE43-F84A-91B2-5168-01404951430D}"/>
              </a:ext>
            </a:extLst>
          </p:cNvPr>
          <p:cNvSpPr txBox="1"/>
          <p:nvPr/>
        </p:nvSpPr>
        <p:spPr>
          <a:xfrm>
            <a:off x="520861" y="170082"/>
            <a:ext cx="16928939" cy="1200329"/>
          </a:xfrm>
          <a:prstGeom prst="rect">
            <a:avLst/>
          </a:prstGeom>
          <a:noFill/>
        </p:spPr>
        <p:txBody>
          <a:bodyPr wrap="square" rtlCol="0">
            <a:spAutoFit/>
          </a:bodyPr>
          <a:lstStyle/>
          <a:p>
            <a:r>
              <a:rPr lang="en-US" sz="7200" dirty="0">
                <a:latin typeface="Aliens &amp; cows" panose="00000500000000000000" pitchFamily="2" charset="0"/>
              </a:rPr>
              <a:t>Prompting pitfalls to avoid</a:t>
            </a:r>
          </a:p>
        </p:txBody>
      </p:sp>
      <p:sp>
        <p:nvSpPr>
          <p:cNvPr id="3" name="TextBox 2">
            <a:extLst>
              <a:ext uri="{FF2B5EF4-FFF2-40B4-BE49-F238E27FC236}">
                <a16:creationId xmlns:a16="http://schemas.microsoft.com/office/drawing/2014/main" id="{026D6505-3055-1BDA-D17C-F3E9A26B84D7}"/>
              </a:ext>
            </a:extLst>
          </p:cNvPr>
          <p:cNvSpPr txBox="1"/>
          <p:nvPr/>
        </p:nvSpPr>
        <p:spPr>
          <a:xfrm>
            <a:off x="762000" y="2124153"/>
            <a:ext cx="9385139" cy="5262979"/>
          </a:xfrm>
          <a:prstGeom prst="rect">
            <a:avLst/>
          </a:prstGeom>
          <a:noFill/>
        </p:spPr>
        <p:txBody>
          <a:bodyPr wrap="square" rtlCol="0">
            <a:spAutoFit/>
          </a:bodyPr>
          <a:lstStyle/>
          <a:p>
            <a:pPr>
              <a:buClr>
                <a:srgbClr val="CF3338"/>
              </a:buClr>
            </a:pPr>
            <a:r>
              <a:rPr lang="en-US" sz="4800" dirty="0">
                <a:solidFill>
                  <a:srgbClr val="707070"/>
                </a:solidFill>
                <a:latin typeface="Pragmatica" panose="020B0403040502020204" pitchFamily="34" charset="0"/>
              </a:rPr>
              <a:t>Common failure modes:</a:t>
            </a:r>
          </a:p>
          <a:p>
            <a:pPr marL="685800" indent="-685800">
              <a:buClr>
                <a:srgbClr val="CF3338"/>
              </a:buClr>
              <a:buFont typeface="Arial" panose="020B0604020202020204" pitchFamily="34" charset="0"/>
              <a:buChar char="•"/>
            </a:pPr>
            <a:endParaRPr lang="en-US" sz="4800" dirty="0">
              <a:solidFill>
                <a:srgbClr val="707070"/>
              </a:solidFill>
              <a:latin typeface="Pragmatica" panose="020B0403040502020204" pitchFamily="34" charset="0"/>
            </a:endParaRP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Vague data references (“this”, “here”, “the data”)</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Missing output constraints</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Asking for judgment when you only want description</a:t>
            </a:r>
          </a:p>
        </p:txBody>
      </p:sp>
      <p:pic>
        <p:nvPicPr>
          <p:cNvPr id="15" name="Picture 14" descr="A close up of a sign&#10;&#10;Description automatically generated">
            <a:extLst>
              <a:ext uri="{FF2B5EF4-FFF2-40B4-BE49-F238E27FC236}">
                <a16:creationId xmlns:a16="http://schemas.microsoft.com/office/drawing/2014/main" id="{C33FCB8A-4BD0-CB02-515B-43B0EC5C56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pic>
        <p:nvPicPr>
          <p:cNvPr id="2" name="Picture 2" descr="Microsoft 365 Copilot 2025 Pricing, Features, Reviews &amp; Alternatives |  GetApp">
            <a:extLst>
              <a:ext uri="{FF2B5EF4-FFF2-40B4-BE49-F238E27FC236}">
                <a16:creationId xmlns:a16="http://schemas.microsoft.com/office/drawing/2014/main" id="{CE4B3CE3-3CD6-FDBB-5B20-1E051A2C3B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24033" y="4076700"/>
            <a:ext cx="3288431" cy="328843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Microsoft Excel - Wikipedia">
            <a:extLst>
              <a:ext uri="{FF2B5EF4-FFF2-40B4-BE49-F238E27FC236}">
                <a16:creationId xmlns:a16="http://schemas.microsoft.com/office/drawing/2014/main" id="{A9D8FFA7-0F96-2468-7A3B-9D8E162173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57033" y="6771674"/>
            <a:ext cx="2667000" cy="2744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64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8648521"/>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Rescue the Weak Prompt</a:t>
            </a:r>
          </a:p>
          <a:p>
            <a:endParaRPr lang="en-US" sz="4200" dirty="0">
              <a:solidFill>
                <a:srgbClr val="CF3338"/>
              </a:solidFill>
              <a:latin typeface="Pragmatica" panose="020B0403040502020204" pitchFamily="34" charset="0"/>
            </a:endParaRPr>
          </a:p>
          <a:p>
            <a:r>
              <a:rPr lang="en-US" sz="4400" dirty="0">
                <a:solidFill>
                  <a:srgbClr val="CF3338"/>
                </a:solidFill>
              </a:rPr>
              <a:t>Rewrite this prompt so Copilot can execute it cleanly on </a:t>
            </a:r>
            <a:r>
              <a:rPr lang="en-US" sz="4400" dirty="0" err="1">
                <a:solidFill>
                  <a:srgbClr val="CF3338"/>
                </a:solidFill>
              </a:rPr>
              <a:t>ETFSnapshot</a:t>
            </a:r>
            <a:r>
              <a:rPr lang="en-US" sz="4400" dirty="0">
                <a:solidFill>
                  <a:srgbClr val="CF3338"/>
                </a:solidFill>
              </a:rPr>
              <a:t>:</a:t>
            </a:r>
          </a:p>
          <a:p>
            <a:pPr marL="342900" indent="-342900">
              <a:buFont typeface="Arial" panose="020B0604020202020204" pitchFamily="34" charset="0"/>
              <a:buChar char="•"/>
            </a:pPr>
            <a:r>
              <a:rPr lang="en-US" sz="4400" dirty="0">
                <a:solidFill>
                  <a:srgbClr val="CF3338"/>
                </a:solidFill>
              </a:rPr>
              <a:t>“Analyze this.”</a:t>
            </a:r>
          </a:p>
          <a:p>
            <a:pPr marL="342900" indent="-342900">
              <a:buFont typeface="Arial" panose="020B0604020202020204" pitchFamily="34" charset="0"/>
              <a:buChar char="•"/>
            </a:pPr>
            <a:endParaRPr lang="en-US" sz="4400" dirty="0">
              <a:solidFill>
                <a:srgbClr val="CF3338"/>
              </a:solidFill>
            </a:endParaRPr>
          </a:p>
          <a:p>
            <a:r>
              <a:rPr lang="en-US" sz="4400" dirty="0">
                <a:solidFill>
                  <a:srgbClr val="CF3338"/>
                </a:solidFill>
              </a:rPr>
              <a:t>Scoring rubric:</a:t>
            </a:r>
          </a:p>
          <a:p>
            <a:pPr marL="342900" indent="-342900">
              <a:buFont typeface="Arial" panose="020B0604020202020204" pitchFamily="34" charset="0"/>
              <a:buChar char="•"/>
            </a:pPr>
            <a:r>
              <a:rPr lang="en-US" sz="4400" dirty="0">
                <a:solidFill>
                  <a:srgbClr val="CF3338"/>
                </a:solidFill>
              </a:rPr>
              <a:t>Data source named</a:t>
            </a:r>
          </a:p>
          <a:p>
            <a:pPr marL="342900" indent="-342900">
              <a:buFont typeface="Arial" panose="020B0604020202020204" pitchFamily="34" charset="0"/>
              <a:buChar char="•"/>
            </a:pPr>
            <a:r>
              <a:rPr lang="en-US" sz="4400" dirty="0">
                <a:solidFill>
                  <a:srgbClr val="CF3338"/>
                </a:solidFill>
              </a:rPr>
              <a:t>Metric defined</a:t>
            </a:r>
          </a:p>
          <a:p>
            <a:pPr marL="342900" indent="-342900">
              <a:buFont typeface="Arial" panose="020B0604020202020204" pitchFamily="34" charset="0"/>
              <a:buChar char="•"/>
            </a:pPr>
            <a:r>
              <a:rPr lang="en-US" sz="4400" dirty="0">
                <a:solidFill>
                  <a:srgbClr val="CF3338"/>
                </a:solidFill>
              </a:rPr>
              <a:t>Output format specified</a:t>
            </a:r>
            <a:endParaRPr lang="en-GB" sz="4400" dirty="0">
              <a:solidFill>
                <a:srgbClr val="CF3338"/>
              </a:solidFill>
            </a:endParaRPr>
          </a:p>
          <a:p>
            <a:endParaRPr lang="en-US" sz="4200" dirty="0">
              <a:solidFill>
                <a:srgbClr val="CF3338"/>
              </a:solidFill>
              <a:latin typeface="Pragmatica" panose="020B0403040502020204" pitchFamily="34" charset="0"/>
            </a:endParaRPr>
          </a:p>
        </p:txBody>
      </p:sp>
    </p:spTree>
    <p:extLst>
      <p:ext uri="{BB962C8B-B14F-4D97-AF65-F5344CB8AC3E}">
        <p14:creationId xmlns:p14="http://schemas.microsoft.com/office/powerpoint/2010/main" val="3871531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FC38D-2034-EB89-5F45-6D26F17C3A5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D1A6E40-350F-DDF1-4BFD-983B13516A1B}"/>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F57B2294-B7A8-FB6C-86E1-CBC871C43338}"/>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9712491D-60F5-6831-44A7-9D86FC282C0C}"/>
              </a:ext>
            </a:extLst>
          </p:cNvPr>
          <p:cNvSpPr txBox="1"/>
          <p:nvPr/>
        </p:nvSpPr>
        <p:spPr>
          <a:xfrm>
            <a:off x="260431" y="329879"/>
            <a:ext cx="8906720" cy="7971413"/>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Compliance-Safe Commentary</a:t>
            </a:r>
          </a:p>
          <a:p>
            <a:endParaRPr lang="en-US" sz="4200" dirty="0">
              <a:solidFill>
                <a:srgbClr val="CF3338"/>
              </a:solidFill>
              <a:latin typeface="Pragmatica" panose="020B0403040502020204" pitchFamily="34" charset="0"/>
            </a:endParaRPr>
          </a:p>
          <a:p>
            <a:r>
              <a:rPr lang="en-US" sz="4400" dirty="0">
                <a:solidFill>
                  <a:srgbClr val="CF3338"/>
                </a:solidFill>
              </a:rPr>
              <a:t>Write a strictly descriptive summary:</a:t>
            </a:r>
          </a:p>
          <a:p>
            <a:pPr marL="571500" indent="-571500">
              <a:buFont typeface="Arial" panose="020B0604020202020204" pitchFamily="34" charset="0"/>
              <a:buChar char="•"/>
            </a:pPr>
            <a:r>
              <a:rPr lang="en-US" sz="4400" dirty="0">
                <a:solidFill>
                  <a:srgbClr val="CF3338"/>
                </a:solidFill>
              </a:rPr>
              <a:t>No recommendations</a:t>
            </a:r>
            <a:br>
              <a:rPr lang="en-US" sz="4400" dirty="0">
                <a:solidFill>
                  <a:srgbClr val="CF3338"/>
                </a:solidFill>
              </a:rPr>
            </a:br>
            <a:r>
              <a:rPr lang="en-US" sz="4400" dirty="0">
                <a:solidFill>
                  <a:srgbClr val="CF3338"/>
                </a:solidFill>
              </a:rPr>
              <a:t>No forecasting</a:t>
            </a:r>
          </a:p>
          <a:p>
            <a:pPr marL="571500" indent="-571500">
              <a:buFont typeface="Arial" panose="020B0604020202020204" pitchFamily="34" charset="0"/>
              <a:buChar char="•"/>
            </a:pPr>
            <a:r>
              <a:rPr lang="en-US" sz="4400" dirty="0">
                <a:solidFill>
                  <a:srgbClr val="CF3338"/>
                </a:solidFill>
              </a:rPr>
              <a:t>No opinions</a:t>
            </a:r>
          </a:p>
          <a:p>
            <a:endParaRPr lang="en-US" sz="4400" dirty="0">
              <a:solidFill>
                <a:srgbClr val="CF3338"/>
              </a:solidFill>
            </a:endParaRPr>
          </a:p>
          <a:p>
            <a:r>
              <a:rPr lang="en-US" sz="4400" dirty="0">
                <a:solidFill>
                  <a:srgbClr val="CF3338"/>
                </a:solidFill>
              </a:rPr>
              <a:t>Then tighten the output to 3 bullets for a risk committee.</a:t>
            </a:r>
          </a:p>
          <a:p>
            <a:endParaRPr lang="en-US" sz="4200" dirty="0">
              <a:solidFill>
                <a:srgbClr val="CF3338"/>
              </a:solidFill>
              <a:latin typeface="Pragmatica" panose="020B0403040502020204" pitchFamily="34" charset="0"/>
            </a:endParaRPr>
          </a:p>
        </p:txBody>
      </p:sp>
    </p:spTree>
    <p:extLst>
      <p:ext uri="{BB962C8B-B14F-4D97-AF65-F5344CB8AC3E}">
        <p14:creationId xmlns:p14="http://schemas.microsoft.com/office/powerpoint/2010/main" val="2527174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FAB8E-6E53-896F-A9A8-BC5382EEB53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B22CC31-F017-7D94-3505-D0C3CB89C9C2}"/>
              </a:ext>
            </a:extLst>
          </p:cNvPr>
          <p:cNvSpPr txBox="1"/>
          <p:nvPr/>
        </p:nvSpPr>
        <p:spPr>
          <a:xfrm>
            <a:off x="520861" y="170082"/>
            <a:ext cx="16928939" cy="1107996"/>
          </a:xfrm>
          <a:prstGeom prst="rect">
            <a:avLst/>
          </a:prstGeom>
          <a:noFill/>
        </p:spPr>
        <p:txBody>
          <a:bodyPr wrap="square" rtlCol="0">
            <a:spAutoFit/>
          </a:bodyPr>
          <a:lstStyle/>
          <a:p>
            <a:r>
              <a:rPr lang="en-US" sz="6600" dirty="0">
                <a:latin typeface="Aliens &amp; cows" panose="00000500000000000000" pitchFamily="2" charset="0"/>
              </a:rPr>
              <a:t>The five prompt upgrades that matter the most</a:t>
            </a:r>
          </a:p>
        </p:txBody>
      </p:sp>
      <p:sp>
        <p:nvSpPr>
          <p:cNvPr id="3" name="TextBox 2">
            <a:extLst>
              <a:ext uri="{FF2B5EF4-FFF2-40B4-BE49-F238E27FC236}">
                <a16:creationId xmlns:a16="http://schemas.microsoft.com/office/drawing/2014/main" id="{1544D881-799F-2398-E268-C00B992D571F}"/>
              </a:ext>
            </a:extLst>
          </p:cNvPr>
          <p:cNvSpPr txBox="1"/>
          <p:nvPr/>
        </p:nvSpPr>
        <p:spPr>
          <a:xfrm>
            <a:off x="762000" y="2124153"/>
            <a:ext cx="9385139" cy="3785652"/>
          </a:xfrm>
          <a:prstGeom prst="rect">
            <a:avLst/>
          </a:prstGeom>
          <a:noFill/>
        </p:spPr>
        <p:txBody>
          <a:bodyPr wrap="square" rtlCol="0">
            <a:spAutoFit/>
          </a:bodyPr>
          <a:lstStyle/>
          <a:p>
            <a:pPr marL="914400" indent="-914400">
              <a:buClr>
                <a:srgbClr val="CF3338"/>
              </a:buClr>
              <a:buFont typeface="+mj-lt"/>
              <a:buAutoNum type="arabicPeriod"/>
            </a:pPr>
            <a:r>
              <a:rPr lang="en-US" sz="4800" dirty="0">
                <a:solidFill>
                  <a:srgbClr val="707070"/>
                </a:solidFill>
                <a:latin typeface="Pragmatica" panose="020B0403040502020204" pitchFamily="34" charset="0"/>
              </a:rPr>
              <a:t>Name the table/data source</a:t>
            </a:r>
          </a:p>
          <a:p>
            <a:pPr marL="914400" indent="-914400">
              <a:buClr>
                <a:srgbClr val="CF3338"/>
              </a:buClr>
              <a:buFont typeface="+mj-lt"/>
              <a:buAutoNum type="arabicPeriod"/>
            </a:pPr>
            <a:r>
              <a:rPr lang="en-US" sz="4800" dirty="0">
                <a:solidFill>
                  <a:srgbClr val="707070"/>
                </a:solidFill>
                <a:latin typeface="Pragmatica" panose="020B0403040502020204" pitchFamily="34" charset="0"/>
              </a:rPr>
              <a:t>Specify the metric</a:t>
            </a:r>
          </a:p>
          <a:p>
            <a:pPr marL="914400" indent="-914400">
              <a:buClr>
                <a:srgbClr val="CF3338"/>
              </a:buClr>
              <a:buFont typeface="+mj-lt"/>
              <a:buAutoNum type="arabicPeriod"/>
            </a:pPr>
            <a:r>
              <a:rPr lang="en-US" sz="4800" dirty="0">
                <a:solidFill>
                  <a:srgbClr val="707070"/>
                </a:solidFill>
                <a:latin typeface="Pragmatica" panose="020B0403040502020204" pitchFamily="34" charset="0"/>
              </a:rPr>
              <a:t>Choose the format</a:t>
            </a:r>
          </a:p>
          <a:p>
            <a:pPr marL="914400" indent="-914400">
              <a:buClr>
                <a:srgbClr val="CF3338"/>
              </a:buClr>
              <a:buFont typeface="+mj-lt"/>
              <a:buAutoNum type="arabicPeriod"/>
            </a:pPr>
            <a:r>
              <a:rPr lang="en-US" sz="4800" dirty="0">
                <a:solidFill>
                  <a:srgbClr val="707070"/>
                </a:solidFill>
                <a:latin typeface="Pragmatica" panose="020B0403040502020204" pitchFamily="34" charset="0"/>
              </a:rPr>
              <a:t>Tell Copilot the audience</a:t>
            </a:r>
          </a:p>
          <a:p>
            <a:pPr marL="914400" indent="-914400">
              <a:buClr>
                <a:srgbClr val="CF3338"/>
              </a:buClr>
              <a:buFont typeface="+mj-lt"/>
              <a:buAutoNum type="arabicPeriod"/>
            </a:pPr>
            <a:r>
              <a:rPr lang="en-US" sz="4800" dirty="0">
                <a:solidFill>
                  <a:srgbClr val="707070"/>
                </a:solidFill>
                <a:latin typeface="Pragmatica" panose="020B0403040502020204" pitchFamily="34" charset="0"/>
              </a:rPr>
              <a:t>Iterate with intent</a:t>
            </a:r>
          </a:p>
        </p:txBody>
      </p:sp>
      <p:pic>
        <p:nvPicPr>
          <p:cNvPr id="15" name="Picture 14" descr="A close up of a sign&#10;&#10;Description automatically generated">
            <a:extLst>
              <a:ext uri="{FF2B5EF4-FFF2-40B4-BE49-F238E27FC236}">
                <a16:creationId xmlns:a16="http://schemas.microsoft.com/office/drawing/2014/main" id="{4150C700-5108-5C44-ECE1-C8C2AED26B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pic>
        <p:nvPicPr>
          <p:cNvPr id="2" name="Picture 2" descr="Microsoft 365 Copilot 2025 Pricing, Features, Reviews &amp; Alternatives |  GetApp">
            <a:extLst>
              <a:ext uri="{FF2B5EF4-FFF2-40B4-BE49-F238E27FC236}">
                <a16:creationId xmlns:a16="http://schemas.microsoft.com/office/drawing/2014/main" id="{8E7F835C-2130-D85D-C821-222D2FAC55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24033" y="4076700"/>
            <a:ext cx="3288431" cy="328843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Microsoft Excel - Wikipedia">
            <a:extLst>
              <a:ext uri="{FF2B5EF4-FFF2-40B4-BE49-F238E27FC236}">
                <a16:creationId xmlns:a16="http://schemas.microsoft.com/office/drawing/2014/main" id="{7D0AB759-EA71-5959-B4E9-F1D8A5DA22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57033" y="6771674"/>
            <a:ext cx="2667000" cy="2744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4063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689860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323C9-D5F7-C820-78B9-E169BDF2311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8971779-1F50-1702-DEC1-87CD482189F0}"/>
              </a:ext>
            </a:extLst>
          </p:cNvPr>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a:extLst>
              <a:ext uri="{FF2B5EF4-FFF2-40B4-BE49-F238E27FC236}">
                <a16:creationId xmlns:a16="http://schemas.microsoft.com/office/drawing/2014/main" id="{5ECC4C7B-C529-5329-03AC-796804551DC1}"/>
              </a:ext>
            </a:extLst>
          </p:cNvPr>
          <p:cNvSpPr txBox="1"/>
          <p:nvPr/>
        </p:nvSpPr>
        <p:spPr>
          <a:xfrm>
            <a:off x="781292" y="590309"/>
            <a:ext cx="15486926" cy="1615827"/>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Thank you</a:t>
            </a:r>
          </a:p>
        </p:txBody>
      </p:sp>
    </p:spTree>
    <p:extLst>
      <p:ext uri="{BB962C8B-B14F-4D97-AF65-F5344CB8AC3E}">
        <p14:creationId xmlns:p14="http://schemas.microsoft.com/office/powerpoint/2010/main" val="6578290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2588</TotalTime>
  <Words>1939</Words>
  <Application>Microsoft Office PowerPoint</Application>
  <PresentationFormat>Custom</PresentationFormat>
  <Paragraphs>214</Paragraphs>
  <Slides>12</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Pragmatica</vt:lpstr>
      <vt:lpstr>Arial</vt:lpstr>
      <vt:lpstr>Aliens &amp; cows</vt:lpstr>
      <vt:lpstr>Calibri</vt:lpstr>
      <vt:lpstr>Normafixed Tryout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225</cp:revision>
  <dcterms:created xsi:type="dcterms:W3CDTF">2006-08-16T00:00:00Z</dcterms:created>
  <dcterms:modified xsi:type="dcterms:W3CDTF">2025-12-23T18:08:39Z</dcterms:modified>
  <dc:identifier>DADurESpNu8</dc:identifier>
</cp:coreProperties>
</file>